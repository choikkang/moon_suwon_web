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84d48474124169" /><Relationship Type="http://schemas.openxmlformats.org/officeDocument/2006/relationships/extended-properties" Target="/docProps/app.xml" Id="R7f3e149c9d3b4c3e" /><Relationship Type="http://schemas.openxmlformats.org/officeDocument/2006/relationships/officeDocument" Target="/ppt/presentation.xml" Id="R5930be8585c14324" /></Relationships>
</file>

<file path=ppt/presentation.xml><?xml version="1.0" encoding="utf-8"?>
<p:presentation xmlns:p="http://schemas.openxmlformats.org/presentationml/2006/main">
  <p:sldMasterIdLst>
    <p:sldMasterId xmlns:r="http://schemas.openxmlformats.org/officeDocument/2006/relationships" id="2147483648" r:id="Rc704b13c343c4780"/>
  </p:sldMasterIdLst>
  <p:notesMasterIdLst>
    <p:notesMasterId xmlns:r="http://schemas.openxmlformats.org/officeDocument/2006/relationships" r:id="R873cbadfdffb406a"/>
  </p:notesMasterIdLst>
  <p:sldIdLst>
    <p:sldId xmlns:r="http://schemas.openxmlformats.org/officeDocument/2006/relationships" id="256" r:id="R4c3ea87cd9dc4617"/>
    <p:sldId xmlns:r="http://schemas.openxmlformats.org/officeDocument/2006/relationships" id="257" r:id="Raf53aa7f6f2d4e3c"/>
    <p:sldId xmlns:r="http://schemas.openxmlformats.org/officeDocument/2006/relationships" id="258" r:id="R3a141ebc0c3845d0"/>
    <p:sldId xmlns:r="http://schemas.openxmlformats.org/officeDocument/2006/relationships" id="259" r:id="R7776c0eb28684cf3"/>
    <p:sldId xmlns:r="http://schemas.openxmlformats.org/officeDocument/2006/relationships" id="260" r:id="R34416948768843f1"/>
    <p:sldId xmlns:r="http://schemas.openxmlformats.org/officeDocument/2006/relationships" id="261" r:id="R99a1e8b413ce412b"/>
    <p:sldId xmlns:r="http://schemas.openxmlformats.org/officeDocument/2006/relationships" id="262" r:id="R41921a77bdb04959"/>
    <p:sldId xmlns:r="http://schemas.openxmlformats.org/officeDocument/2006/relationships" id="263" r:id="Re636170970c1485d"/>
    <p:sldId xmlns:r="http://schemas.openxmlformats.org/officeDocument/2006/relationships" id="264" r:id="R2e32b9977b974a3f"/>
    <p:sldId xmlns:r="http://schemas.openxmlformats.org/officeDocument/2006/relationships" id="265" r:id="Rd923ab7815a141d2"/>
    <p:sldId xmlns:r="http://schemas.openxmlformats.org/officeDocument/2006/relationships" id="266" r:id="R518a46878d004159"/>
    <p:sldId xmlns:r="http://schemas.openxmlformats.org/officeDocument/2006/relationships" id="267" r:id="Re07916eb7d2345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741f0181b134187" /><Relationship Type="http://schemas.openxmlformats.org/officeDocument/2006/relationships/slideMaster" Target="/ppt/slideMasters/slideMaster1.xml" Id="Rc704b13c343c4780" /><Relationship Type="http://schemas.openxmlformats.org/officeDocument/2006/relationships/notesMaster" Target="/ppt/notesMasters/notesMaster1.xml" Id="R873cbadfdffb406a" /><Relationship Type="http://schemas.openxmlformats.org/officeDocument/2006/relationships/presProps" Target="/ppt/presProps.xml" Id="R3ab7a4c2f2f043da" /><Relationship Type="http://schemas.openxmlformats.org/officeDocument/2006/relationships/viewProps" Target="/ppt/viewProps.xml" Id="Rd2a980778424490f" /><Relationship Type="http://schemas.openxmlformats.org/officeDocument/2006/relationships/tableStyles" Target="/ppt/tableStyles.xml" Id="Re3fa8176df704407" /><Relationship Type="http://schemas.openxmlformats.org/officeDocument/2006/relationships/slide" Target="/ppt/slides/slide1.xml" Id="R4c3ea87cd9dc4617" /><Relationship Type="http://schemas.openxmlformats.org/officeDocument/2006/relationships/slide" Target="/ppt/slides/slide2.xml" Id="Raf53aa7f6f2d4e3c" /><Relationship Type="http://schemas.openxmlformats.org/officeDocument/2006/relationships/slide" Target="/ppt/slides/slide3.xml" Id="R3a141ebc0c3845d0" /><Relationship Type="http://schemas.openxmlformats.org/officeDocument/2006/relationships/slide" Target="/ppt/slides/slide4.xml" Id="R7776c0eb28684cf3" /><Relationship Type="http://schemas.openxmlformats.org/officeDocument/2006/relationships/slide" Target="/ppt/slides/slide5.xml" Id="R34416948768843f1" /><Relationship Type="http://schemas.openxmlformats.org/officeDocument/2006/relationships/slide" Target="/ppt/slides/slide6.xml" Id="R99a1e8b413ce412b" /><Relationship Type="http://schemas.openxmlformats.org/officeDocument/2006/relationships/slide" Target="/ppt/slides/slide7.xml" Id="R41921a77bdb04959" /><Relationship Type="http://schemas.openxmlformats.org/officeDocument/2006/relationships/slide" Target="/ppt/slides/slide8.xml" Id="Re636170970c1485d" /><Relationship Type="http://schemas.openxmlformats.org/officeDocument/2006/relationships/slide" Target="/ppt/slides/slide9.xml" Id="R2e32b9977b974a3f" /><Relationship Type="http://schemas.openxmlformats.org/officeDocument/2006/relationships/slide" Target="/ppt/slides/slide10.xml" Id="Rd923ab7815a141d2" /><Relationship Type="http://schemas.openxmlformats.org/officeDocument/2006/relationships/slide" Target="/ppt/slides/slide11.xml" Id="R518a46878d004159" /><Relationship Type="http://schemas.openxmlformats.org/officeDocument/2006/relationships/slide" Target="/ppt/slides/slide12.xml" Id="Re07916eb7d2345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583dccc93a42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8b58bc6c0f4328" /><Relationship Type="http://schemas.openxmlformats.org/officeDocument/2006/relationships/notesMaster" Target="/ppt/notesMasters/notesMaster1.xml" Id="R6bba2b68bc5949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ce7d31c0e3480a" /><Relationship Type="http://schemas.openxmlformats.org/officeDocument/2006/relationships/notesMaster" Target="/ppt/notesMasters/notesMaster1.xml" Id="R559b16279fc740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5430e52af5477a" /><Relationship Type="http://schemas.openxmlformats.org/officeDocument/2006/relationships/notesMaster" Target="/ppt/notesMasters/notesMaster1.xml" Id="Rcbff4058741846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724be2412a4f10" /><Relationship Type="http://schemas.openxmlformats.org/officeDocument/2006/relationships/notesMaster" Target="/ppt/notesMasters/notesMaster1.xml" Id="R7bee336b07834f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0c14f458bc4b89" /><Relationship Type="http://schemas.openxmlformats.org/officeDocument/2006/relationships/notesMaster" Target="/ppt/notesMasters/notesMaster1.xml" Id="Ra5939fda17154c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7f86d464294053" /><Relationship Type="http://schemas.openxmlformats.org/officeDocument/2006/relationships/notesMaster" Target="/ppt/notesMasters/notesMaster1.xml" Id="R8042f58680fe43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1e0c72de4347e9" /><Relationship Type="http://schemas.openxmlformats.org/officeDocument/2006/relationships/notesMaster" Target="/ppt/notesMasters/notesMaster1.xml" Id="R56a286ec5e5c49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3c3eeab9ef44c7" /><Relationship Type="http://schemas.openxmlformats.org/officeDocument/2006/relationships/notesMaster" Target="/ppt/notesMasters/notesMaster1.xml" Id="R326d69cecffc4e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ef5ba7ee5d4e74" /><Relationship Type="http://schemas.openxmlformats.org/officeDocument/2006/relationships/notesMaster" Target="/ppt/notesMasters/notesMaster1.xml" Id="R0794f00a2d8844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5ce736bccb4b9a" /><Relationship Type="http://schemas.openxmlformats.org/officeDocument/2006/relationships/notesMaster" Target="/ppt/notesMasters/notesMaster1.xml" Id="R7c6bedb11c994d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2b319516e147ef" /><Relationship Type="http://schemas.openxmlformats.org/officeDocument/2006/relationships/notesMaster" Target="/ppt/notesMasters/notesMaster1.xml" Id="R78445c5dc44847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5abdbbf59b4fca" /><Relationship Type="http://schemas.openxmlformats.org/officeDocument/2006/relationships/notesMaster" Target="/ppt/notesMasters/notesMaster1.xml" Id="R356a46dc7b6e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운영 웹 캡처. 앱은 친구가 계속 개발 중이며, 이 흐름은 현재 배포된 웹에서 확인되는 범위입니다.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51ed14ccbb41bb" /><Relationship Type="http://schemas.openxmlformats.org/officeDocument/2006/relationships/image" Target="/ppt/media/image.png" Id="R3491415ffbdf43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512974d4e04716" /><Relationship Type="http://schemas.openxmlformats.org/officeDocument/2006/relationships/image" Target="/ppt/media/image2.png" Id="R32147cceea6c47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b24d4bef2d4021" /><Relationship Type="http://schemas.openxmlformats.org/officeDocument/2006/relationships/image" Target="/ppt/media/image3.png" Id="Rea1727a4ae6e43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0676bb7d304e64" /><Relationship Type="http://schemas.openxmlformats.org/officeDocument/2006/relationships/image" Target="/ppt/media/image4.png" Id="Ree25010a9d544b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3c152ded924030" /><Relationship Type="http://schemas.openxmlformats.org/officeDocument/2006/relationships/image" Target="/ppt/media/image5.png" Id="Rb590daee202c4e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bcc2fd7f964897" /><Relationship Type="http://schemas.openxmlformats.org/officeDocument/2006/relationships/image" Target="/ppt/media/image6.png" Id="R9522c61f8a874d3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7ce1481590040aa" /><Relationship Type="http://schemas.openxmlformats.org/officeDocument/2006/relationships/image" Target="/ppt/media/image7.png" Id="R6a711ba49084437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e3cf48c75384720"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2" name="그림 1"/>
          <p:cNvPicPr>
            <a:picLocks xmlns:a="http://schemas.openxmlformats.org/drawingml/2006/main" noChangeAspect="1"/>
          </p:cNvPicPr>
          <p:nvPr/>
        </p:nvPicPr>
        <p:blipFill>
          <a:blip xmlns:r="http://schemas.openxmlformats.org/officeDocument/2006/relationships" xmlns:a="http://schemas.openxmlformats.org/drawingml/2006/main" r:embed="R3491415ffbdf438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서비스 소개">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32147cceea6c4733"/>
          <a:stretch xmlns:a="http://schemas.openxmlformats.org/drawingml/2006/main">
            <a:fillRect l="0" t="0" r="0" b="0"/>
          </a:stretch>
        </p:blipFill>
        <p:spPr>
          <a:xfrm xmlns:a="http://schemas.openxmlformats.org/drawingml/2006/main">
            <a:off x="0" y="0"/>
            <a:ext cx="12192000" cy="6857999"/>
          </a:xfrm>
          <a:prstGeom xmlns:a="http://schemas.openxmlformats.org/drawingml/2006/main" prst="rect">
            <a:avLst/>
          </a:prstGeom>
        </p:spPr>
      </p:pic>
    </p:spTree>
  </p:cSld>
</p:sldLayout>
</file>

<file path=ppt/slideLayouts/slideLayout3.xml><?xml version="1.0" encoding="utf-8"?>
<p:sldLayout xmlns:p="http://schemas.openxmlformats.org/presentationml/2006/main" type="blank" preserve="1">
  <p:cSld name="지역 특화 서비스 구현 세부내용">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ea1727a4ae6e43ba"/>
          <a:stretch xmlns:a="http://schemas.openxmlformats.org/drawingml/2006/main">
            <a:fillRect l="0" t="0" r="0" b="0"/>
          </a:stretch>
        </p:blipFill>
        <p:spPr>
          <a:xfrm xmlns:a="http://schemas.openxmlformats.org/drawingml/2006/main">
            <a:off x="0" y="0"/>
            <a:ext cx="12192000" cy="6840835"/>
          </a:xfrm>
          <a:prstGeom xmlns:a="http://schemas.openxmlformats.org/drawingml/2006/main" prst="rect">
            <a:avLst/>
          </a:prstGeom>
        </p:spPr>
      </p:pic>
    </p:spTree>
  </p:cSld>
</p:sldLayout>
</file>

<file path=ppt/slideLayouts/slideLayout4.xml><?xml version="1.0" encoding="utf-8"?>
<p:sldLayout xmlns:p="http://schemas.openxmlformats.org/presentationml/2006/main" type="blank" preserve="1">
  <p:cSld name="서비스 핵심 기능별 흐름도">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ee25010a9d544bdb"/>
          <a:stretch xmlns:a="http://schemas.openxmlformats.org/drawingml/2006/main">
            <a:fillRect l="0" t="0" r="0" b="0"/>
          </a:stretch>
        </p:blipFill>
        <p:spPr>
          <a:xfrm xmlns:a="http://schemas.openxmlformats.org/drawingml/2006/main">
            <a:off x="13438" y="18574"/>
            <a:ext cx="12165123" cy="6839426"/>
          </a:xfrm>
          <a:prstGeom xmlns:a="http://schemas.openxmlformats.org/drawingml/2006/main" prst="rect">
            <a:avLst/>
          </a:prstGeom>
        </p:spPr>
      </p:pic>
    </p:spTree>
  </p:cSld>
</p:sldLayout>
</file>

<file path=ppt/slideLayouts/slideLayout5.xml><?xml version="1.0" encoding="utf-8"?>
<p:sldLayout xmlns:p="http://schemas.openxmlformats.org/presentationml/2006/main" type="blank" preserve="1">
  <p:cSld name="데이터 활용(한국관광공사 OpenAPI)">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b590daee202c4ed5"/>
          <a:stretch xmlns:a="http://schemas.openxmlformats.org/drawingml/2006/main">
            <a:fillRect l="0" t="0" r="0" b="0"/>
          </a:stretch>
        </p:blipFill>
        <p:spPr>
          <a:xfrm xmlns:a="http://schemas.openxmlformats.org/drawingml/2006/main">
            <a:off x="3912" y="13811"/>
            <a:ext cx="12184175" cy="6830378"/>
          </a:xfrm>
          <a:prstGeom xmlns:a="http://schemas.openxmlformats.org/drawingml/2006/main" prst="rect">
            <a:avLst/>
          </a:prstGeom>
        </p:spPr>
      </p:pic>
    </p:spTree>
  </p:cSld>
</p:sldLayout>
</file>

<file path=ppt/slideLayouts/slideLayout6.xml><?xml version="1.0" encoding="utf-8"?>
<p:sldLayout xmlns:p="http://schemas.openxmlformats.org/presentationml/2006/main" type="blank" preserve="1">
  <p:cSld name="데이터 활용(기타)">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9522c61f8a874d3b"/>
          <a:stretch xmlns:a="http://schemas.openxmlformats.org/drawingml/2006/main">
            <a:fillRect l="0" t="0" r="0" b="0"/>
          </a:stretch>
        </p:blipFill>
        <p:spPr>
          <a:xfrm xmlns:a="http://schemas.openxmlformats.org/drawingml/2006/main">
            <a:off x="8675" y="9047"/>
            <a:ext cx="12174649" cy="6839905"/>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서비스 차별성&amp;발전계획">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6a711ba490844376"/>
          <a:stretch xmlns:a="http://schemas.openxmlformats.org/drawingml/2006/main">
            <a:fillRect l="0" t="0" r="0" b="0"/>
          </a:stretch>
        </p:blipFill>
        <p:spPr>
          <a:xfrm xmlns:a="http://schemas.openxmlformats.org/drawingml/2006/main">
            <a:off x="3912" y="4284"/>
            <a:ext cx="12184175" cy="6849431"/>
          </a:xfrm>
          <a:prstGeom xmlns:a="http://schemas.openxmlformats.org/drawingml/2006/main" prst="rect">
            <a:avLst/>
          </a:prstGeom>
        </p:spPr>
      </p:pic>
    </p:spTree>
  </p:cSld>
</p:sldLayout>
</file>

<file path=ppt/slideLayouts/slideLayout8.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EDB077CD-C43A-4CC4-A300-B4B72F06AE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38FB6A-844E-4645-B6B8-D2945F9927BB}" type="datetimeFigureOut">
              <a:t>2026-07-29</a:t>
            </a:fld>
            <a:endParaRPr/>
          </a:p>
        </p:txBody>
      </p:sp>
      <p:sp>
        <p:nvSpPr>
          <p:cNvPr id="3" name="바닥글 개체 틀 2">
            <a:extLst xmlns:a="http://schemas.openxmlformats.org/drawingml/2006/main">
              <a:ext uri="{FF2B5EF4-FFF2-40B4-BE49-F238E27FC236}">
                <a16:creationId xmlns:a16="http://schemas.microsoft.com/office/drawing/2014/main" id="{FC2BD1DD-D2D9-4B9E-B1DE-05D405CCFF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EB11AFBC-D9E2-4966-A8DC-4C6F7A9351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32701-68F9-4777-ABB9-C14E97591467}" type="slidenum">
              <a:t>‹#›</a:t>
            </a:fld>
            <a:endParaRPr/>
          </a:p>
        </p:txBody>
      </p:sp>
      <p:sp>
        <p:nvSpPr>
          <p:cNvPr id="12" name="TextBox 11">
            <a:extLst xmlns:a="http://schemas.openxmlformats.org/drawingml/2006/main">
              <a:ext uri="{FF2B5EF4-FFF2-40B4-BE49-F238E27FC236}">
                <a16:creationId xmlns:a16="http://schemas.microsoft.com/office/drawing/2014/main" id="{303851C5-FA41-40E5-A0BA-D6E6BF752792}"/>
              </a:ext>
            </a:extLst>
          </p:cNvPr>
          <p:cNvSpPr>
            <a:spLocks xmlns:a="http://schemas.openxmlformats.org/drawingml/2006/main" noGrp="1"/>
          </p:cNvSpPr>
          <p:nvPr/>
        </p:nvSpPr>
        <p:spPr>
          <a:xfrm xmlns:a="http://schemas.openxmlformats.org/drawingml/2006/main" rot="0" flipH="0" flipV="0">
            <a:off x="8161715" y="256797"/>
            <a:ext cx="2419001" cy="340519"/>
          </a:xfrm>
          <a:prstGeom xmlns:a="http://schemas.openxmlformats.org/drawingml/2006/main" prst="round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a:solidFill>
                  <a:schemeClr val="bg1"/>
                </a:solidFill>
                <a:latin typeface="Noto Sans KR Medium"/>
                <a:ea typeface="Noto Sans KR Medium"/>
                <a:cs typeface="Noto Sans KR Medium"/>
              </a:rPr>
              <a:t>2026 </a:t>
            </a:r>
            <a:r>
              <a:rPr sz="1400">
                <a:solidFill>
                  <a:schemeClr val="bg1"/>
                </a:solidFill>
                <a:latin typeface="Noto Sans KR Medium"/>
                <a:ea typeface="Noto Sans KR Medium"/>
                <a:cs typeface="Noto Sans KR Medium"/>
              </a:rPr>
              <a:t>관광데이터 활용 공모전</a:t>
            </a:r>
            <a:endParaRPr sz="1400">
              <a:solidFill>
                <a:schemeClr val="bg1"/>
              </a:solidFill>
              <a:latin typeface="Noto Sans KR Medium"/>
              <a:ea typeface="Noto Sans KR Medium"/>
              <a:cs typeface="Noto Sans KR Medium"/>
            </a:endParaRPr>
          </a:p>
        </p:txBody>
      </p:sp>
      <p:sp>
        <p:nvSpPr>
          <p:cNvPr id="13" name="TextBox 12">
            <a:extLst xmlns:a="http://schemas.openxmlformats.org/drawingml/2006/main">
              <a:ext uri="{FF2B5EF4-FFF2-40B4-BE49-F238E27FC236}">
                <a16:creationId xmlns:a16="http://schemas.microsoft.com/office/drawing/2014/main" id="{5DFC363C-D76E-4CFE-B2FB-500B3550B3D6}"/>
              </a:ext>
            </a:extLst>
          </p:cNvPr>
          <p:cNvSpPr>
            <a:spLocks xmlns:a="http://schemas.openxmlformats.org/drawingml/2006/main" noGrp="1"/>
          </p:cNvSpPr>
          <p:nvPr/>
        </p:nvSpPr>
        <p:spPr>
          <a:xfrm xmlns:a="http://schemas.openxmlformats.org/drawingml/2006/main" rot="0" flipH="0" flipV="0">
            <a:off x="10674929" y="256797"/>
            <a:ext cx="1327264" cy="340519"/>
          </a:xfrm>
          <a:prstGeom xmlns:a="http://schemas.openxmlformats.org/drawingml/2006/main" prst="roundRect">
            <a:avLst/>
          </a:prstGeom>
          <a:solidFill xmlns:a="http://schemas.openxmlformats.org/drawingml/2006/main">
            <a:srgbClr val="FFFDE7"/>
          </a:solidFill>
        </p:spPr>
        <p:txBody>
          <a:bodyPr xmlns:a="http://schemas.openxmlformats.org/drawingml/2006/main" wrap="square">
            <a:spAutoFit/>
          </a:bodyPr>
          <a:lstStyle xmlns:a="http://schemas.openxmlformats.org/drawingml/2006/main"/>
          <a:p xmlns:a="http://schemas.openxmlformats.org/drawingml/2006/main">
            <a:pPr algn="ctr">
              <a:buNone/>
            </a:pPr>
            <a:r>
              <a:rPr sz="1400">
                <a:latin typeface="Noto Sans KR Medium"/>
                <a:ea typeface="Noto Sans KR Medium"/>
                <a:cs typeface="Noto Sans KR Medium"/>
              </a:rPr>
              <a:t>웹〮앱 개발 부문</a:t>
            </a:r>
            <a:endParaRPr sz="1400">
              <a:latin typeface="Noto Sans KR Medium"/>
              <a:ea typeface="Noto Sans KR Medium"/>
              <a:cs typeface="Noto Sans KR Medium"/>
            </a:endParaRPr>
          </a:p>
        </p:txBody>
      </p:sp>
      <p:sp>
        <p:nvSpPr>
          <p:cNvPr id="11" name="직사각형 10">
            <a:extLst xmlns:a="http://schemas.openxmlformats.org/drawingml/2006/main">
              <a:ext uri="{FF2B5EF4-FFF2-40B4-BE49-F238E27FC236}">
                <a16:creationId xmlns:a16="http://schemas.microsoft.com/office/drawing/2014/main" id="{11C07F1A-5A53-4B2E-8472-7BA1EF54DD37}"/>
              </a:ext>
            </a:extLst>
          </p:cNvPr>
          <p:cNvSpPr>
            <a:spLocks xmlns:a="http://schemas.openxmlformats.org/drawingml/2006/main" noGrp="1"/>
          </p:cNvSpPr>
          <p:nvPr/>
        </p:nvSpPr>
        <p:spPr>
          <a:xfrm xmlns:a="http://schemas.openxmlformats.org/drawingml/2006/main" rot="0" flipH="0" flipV="0">
            <a:off x="189807" y="791993"/>
            <a:ext cx="11812386" cy="45719"/>
          </a:xfrm>
          <a:prstGeom xmlns:a="http://schemas.openxmlformats.org/drawingml/2006/main" prst="rect">
            <a:avLst/>
          </a:prstGeom>
          <a:solidFill xmlns:a="http://schemas.openxmlformats.org/drawingml/2006/main">
            <a:srgbClr val="FF6F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60a875b9104dd9" /><Relationship Type="http://schemas.openxmlformats.org/officeDocument/2006/relationships/slideLayout" Target="/ppt/slideLayouts/slideLayout1.xml" Id="R9a6aa98913524715" /><Relationship Type="http://schemas.openxmlformats.org/officeDocument/2006/relationships/slideLayout" Target="/ppt/slideLayouts/slideLayout2.xml" Id="R514d48329444442d" /><Relationship Type="http://schemas.openxmlformats.org/officeDocument/2006/relationships/slideLayout" Target="/ppt/slideLayouts/slideLayout3.xml" Id="Re84d5dae92ff40e0" /><Relationship Type="http://schemas.openxmlformats.org/officeDocument/2006/relationships/slideLayout" Target="/ppt/slideLayouts/slideLayout4.xml" Id="Rcaad6b6e22304c75" /><Relationship Type="http://schemas.openxmlformats.org/officeDocument/2006/relationships/slideLayout" Target="/ppt/slideLayouts/slideLayout5.xml" Id="R9c9d95d6697940fb" /><Relationship Type="http://schemas.openxmlformats.org/officeDocument/2006/relationships/slideLayout" Target="/ppt/slideLayouts/slideLayout6.xml" Id="Rf68d2b6b4b0642fe" /><Relationship Type="http://schemas.openxmlformats.org/officeDocument/2006/relationships/slideLayout" Target="/ppt/slideLayouts/slideLayout7.xml" Id="Ra7d3cefddb3d4202" /><Relationship Type="http://schemas.openxmlformats.org/officeDocument/2006/relationships/slideLayout" Target="/ppt/slideLayouts/slideLayout8.xml" Id="R55f147920875483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76C16325-671A-469E-966C-8488A7FAA53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텍스트 개체 틀 2">
            <a:extLst xmlns:a="http://schemas.openxmlformats.org/drawingml/2006/main">
              <a:ext uri="{FF2B5EF4-FFF2-40B4-BE49-F238E27FC236}">
                <a16:creationId xmlns:a16="http://schemas.microsoft.com/office/drawing/2014/main" id="{AFCE8205-5B45-43A7-9DAD-1D48BDCD349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날짜 개체 틀 3">
            <a:extLst xmlns:a="http://schemas.openxmlformats.org/drawingml/2006/main">
              <a:ext uri="{FF2B5EF4-FFF2-40B4-BE49-F238E27FC236}">
                <a16:creationId xmlns:a16="http://schemas.microsoft.com/office/drawing/2014/main" id="{6F7BBD68-0EBD-4C14-8770-E18C8D39CD1C}"/>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A38FB6A-844E-4645-B6B8-D2945F9927BB}" type="datetimeFigureOut">
              <a:t>2026-07-29</a:t>
            </a:fld>
            <a:endParaRPr/>
          </a:p>
        </p:txBody>
      </p:sp>
      <p:sp>
        <p:nvSpPr>
          <p:cNvPr id="5" name="바닥글 개체 틀 4">
            <a:extLst xmlns:a="http://schemas.openxmlformats.org/drawingml/2006/main">
              <a:ext uri="{FF2B5EF4-FFF2-40B4-BE49-F238E27FC236}">
                <a16:creationId xmlns:a16="http://schemas.microsoft.com/office/drawing/2014/main" id="{47BC9264-FCA2-47E5-B49A-9905A986DAD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C6A7FB47-C774-4BC5-8344-F490C23C25A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8832701-68F9-4777-ABB9-C14E9759146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6aa98913524715"/>
    <p:sldLayoutId xmlns:r="http://schemas.openxmlformats.org/officeDocument/2006/relationships" id="2147483650" r:id="R514d48329444442d"/>
    <p:sldLayoutId xmlns:r="http://schemas.openxmlformats.org/officeDocument/2006/relationships" id="2147483651" r:id="Re84d5dae92ff40e0"/>
    <p:sldLayoutId xmlns:r="http://schemas.openxmlformats.org/officeDocument/2006/relationships" id="2147483652" r:id="Rcaad6b6e22304c75"/>
    <p:sldLayoutId xmlns:r="http://schemas.openxmlformats.org/officeDocument/2006/relationships" id="2147483653" r:id="R9c9d95d6697940fb"/>
    <p:sldLayoutId xmlns:r="http://schemas.openxmlformats.org/officeDocument/2006/relationships" id="2147483654" r:id="Rf68d2b6b4b0642fe"/>
    <p:sldLayoutId xmlns:r="http://schemas.openxmlformats.org/officeDocument/2006/relationships" id="2147483655" r:id="Ra7d3cefddb3d4202"/>
    <p:sldLayoutId xmlns:r="http://schemas.openxmlformats.org/officeDocument/2006/relationships" id="2147483656" r:id="R55f1479208754833"/>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9285708d604085" /><Relationship Type="http://schemas.openxmlformats.org/officeDocument/2006/relationships/notesSlide" Target="/ppt/notesSlides/notesSlide1.xml" Id="Rff58373872794c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819eded191c415f" /><Relationship Type="http://schemas.openxmlformats.org/officeDocument/2006/relationships/notesSlide" Target="/ppt/notesSlides/notesSlide2.xml" Id="R77ba972604b54a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636e085d9e34a23" /><Relationship Type="http://schemas.openxmlformats.org/officeDocument/2006/relationships/notesSlide" Target="/ppt/notesSlides/notesSlide3.xml" Id="R75e80962d13542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a33395a9a4b4bd1" /><Relationship Type="http://schemas.openxmlformats.org/officeDocument/2006/relationships/image" Target="/ppt/media/image8.png" Id="R63b74d39455b416a" /><Relationship Type="http://schemas.openxmlformats.org/officeDocument/2006/relationships/image" Target="/ppt/media/image9.png" Id="Rf3ba1a2b963f4c4d" /><Relationship Type="http://schemas.openxmlformats.org/officeDocument/2006/relationships/image" Target="/ppt/media/image10.png" Id="Rb5f8fd56737c4b70" /><Relationship Type="http://schemas.openxmlformats.org/officeDocument/2006/relationships/image" Target="/ppt/media/image11.png" Id="Red24dcd41933443d" /><Relationship Type="http://schemas.openxmlformats.org/officeDocument/2006/relationships/image" Target="/ppt/media/image12.png" Id="Rf3118cfdce7b4201" /><Relationship Type="http://schemas.openxmlformats.org/officeDocument/2006/relationships/image" Target="/ppt/media/image13.png" Id="R6be4af3c68b64fc8" /><Relationship Type="http://schemas.openxmlformats.org/officeDocument/2006/relationships/notesSlide" Target="/ppt/notesSlides/notesSlide4.xml" Id="R6346286078284e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9321b18e83014625" /><Relationship Type="http://schemas.openxmlformats.org/officeDocument/2006/relationships/notesSlide" Target="/ppt/notesSlides/notesSlide5.xml" Id="Rae92cd14ea5542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94b2c51411094b3e" /><Relationship Type="http://schemas.openxmlformats.org/officeDocument/2006/relationships/image" Target="/ppt/media/image9.png" Id="R1c510dc7425b4474" /><Relationship Type="http://schemas.openxmlformats.org/officeDocument/2006/relationships/image" Target="/ppt/media/image10.png" Id="R0d0fe9cf49dd423b" /><Relationship Type="http://schemas.openxmlformats.org/officeDocument/2006/relationships/notesSlide" Target="/ppt/notesSlides/notesSlide6.xml" Id="R5c39e97714494a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4632ba4d4fba4126" /><Relationship Type="http://schemas.openxmlformats.org/officeDocument/2006/relationships/image" Target="/ppt/media/image11.png" Id="Rad3ca956b0fa44a8" /><Relationship Type="http://schemas.openxmlformats.org/officeDocument/2006/relationships/notesSlide" Target="/ppt/notesSlides/notesSlide7.xml" Id="Rfd5bc587b8544a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93aa992934a64f8c" /><Relationship Type="http://schemas.openxmlformats.org/officeDocument/2006/relationships/image" Target="/ppt/media/image12.png" Id="Rfb07db23050a4d1d" /><Relationship Type="http://schemas.openxmlformats.org/officeDocument/2006/relationships/notesSlide" Target="/ppt/notesSlides/notesSlide8.xml" Id="R237befcd4e3e44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d26daaddf2f14d0b" /><Relationship Type="http://schemas.openxmlformats.org/officeDocument/2006/relationships/image" Target="/ppt/media/image13.png" Id="R8f4db64abdde4a7f" /><Relationship Type="http://schemas.openxmlformats.org/officeDocument/2006/relationships/notesSlide" Target="/ppt/notesSlides/notesSlide9.xml" Id="R8163a15d506b40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bb65a223ed464ac8" /><Relationship Type="http://schemas.openxmlformats.org/officeDocument/2006/relationships/image" Target="/ppt/media/image14.png" Id="R57e3e2776d9d43a5" /><Relationship Type="http://schemas.openxmlformats.org/officeDocument/2006/relationships/notesSlide" Target="/ppt/notesSlides/notesSlide10.xml" Id="R374893e247b741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9a9829a0259547ab" /><Relationship Type="http://schemas.openxmlformats.org/officeDocument/2006/relationships/notesSlide" Target="/ppt/notesSlides/notesSlide11.xml" Id="R681191a1dbba4e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69f07f56e74c4291" /><Relationship Type="http://schemas.openxmlformats.org/officeDocument/2006/relationships/notesSlide" Target="/ppt/notesSlides/notesSlide12.xml" Id="R050e719a599d428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5"/>
          <p:cNvGraphicFramePr/>
          <p:nvPr/>
        </p:nvGraphicFramePr>
        <p:xfrm>
          <a:off xmlns:a="http://schemas.openxmlformats.org/drawingml/2006/main" x="527397" y="4563687"/>
          <a:ext xmlns:a="http://schemas.openxmlformats.org/drawingml/2006/main" cx="6712988" cy="1112210"/>
        </p:xfrm>
        <a:graphic xmlns:a="http://schemas.openxmlformats.org/drawingml/2006/main">
          <a:graphicData uri="http://schemas.openxmlformats.org/drawingml/2006/table">
            <a:tbl>
              <a:tblPr firstRow="1" bandRow="1">
                <a:tableStyleId>{5C22544A-7EE6-4342-B048-85BDC9FD1C3A}</a:tableStyleId>
              </a:tblPr>
              <a:tblGrid>
                <a:gridCol w="1891569"/>
                <a:gridCol w="4821419"/>
              </a:tblGrid>
              <a:tr h="547792">
                <a:tc>
                  <a:txBody>
                    <a:bodyPr/>
                    <a:lstStyle/>
                    <a:p>
                      <a:pPr algn="ctr">
                        <a:buNone/>
                      </a:pPr>
                      <a:r>
                        <a:rPr sz="2400" b="1">
                          <a:solidFill>
                            <a:schemeClr val="bg1"/>
                          </a:solidFill>
                        </a:rPr>
                        <a:t>팀 명</a:t>
                      </a:r>
                      <a:endParaRPr sz="2400" b="1">
                        <a:solidFill>
                          <a:schemeClr val="bg1"/>
                        </a:solidFill>
                      </a:endParaRPr>
                    </a:p>
                  </a:txBody>
                  <a:tcPr marL="91440" marR="91440" marT="45720" marB="45720" anchor="ctr">
                    <a:lnR w="12700" cmpd="sng">
                      <a:solidFill>
                        <a:schemeClr val="bg1">
                          <a:lumMod val="85000"/>
                        </a:schemeClr>
                      </a:solidFill>
                      <a:prstDash val="solid"/>
                    </a:lnR>
                    <a:lnB w="12700" cmpd="sng">
                      <a:solidFill>
                        <a:schemeClr val="bg1">
                          <a:lumMod val="85000"/>
                        </a:schemeClr>
                      </a:solidFill>
                      <a:prstDash val="solid"/>
                    </a:lnB>
                    <a:solidFill>
                      <a:srgbClr val="FFA401"/>
                    </a:solidFill>
                  </a:tcPr>
                </a:tc>
                <a:tc>
                  <a:txBody>
                    <a:bodyPr/>
                    <a:lstStyle/>
                    <a:p>
                      <a:pPr algn="ctr">
                        <a:buNone/>
                      </a:pPr>
                      <a:r>
                        <a:rPr sz="2400"/>
                        <a:t>최강</a:t>
                      </a:r>
                      <a:endParaRPr sz="2400" b="0">
                        <a:solidFill>
                          <a:schemeClr val="tx1"/>
                        </a:solidFill>
                      </a:endParaRPr>
                    </a:p>
                  </a:txBody>
                  <a:tcPr marL="91440" marR="91440" marT="45720" marB="45720" anchor="ctr">
                    <a:lnL w="12700" cmpd="sng">
                      <a:solidFill>
                        <a:schemeClr val="bg1">
                          <a:lumMod val="85000"/>
                        </a:schemeClr>
                      </a:solidFill>
                      <a:prstDash val="solid"/>
                    </a:lnL>
                    <a:lnB w="12700" cmpd="sng">
                      <a:solidFill>
                        <a:schemeClr val="bg1">
                          <a:lumMod val="85000"/>
                        </a:schemeClr>
                      </a:solidFill>
                      <a:prstDash val="solid"/>
                    </a:lnB>
                    <a:solidFill>
                      <a:srgbClr val="FFFDE7"/>
                    </a:solidFill>
                  </a:tcPr>
                </a:tc>
              </a:tr>
              <a:tr h="564418">
                <a:tc>
                  <a:txBody>
                    <a:bodyPr/>
                    <a:lstStyle/>
                    <a:p>
                      <a:pPr algn="ctr">
                        <a:buNone/>
                      </a:pPr>
                      <a:r>
                        <a:rPr sz="2400" b="1">
                          <a:solidFill>
                            <a:schemeClr val="bg1"/>
                          </a:solidFill>
                        </a:rPr>
                        <a:t>서비스</a:t>
                      </a:r>
                      <a:r>
                        <a:rPr sz="2400" b="1">
                          <a:solidFill>
                            <a:schemeClr val="bg1"/>
                          </a:solidFill>
                        </a:rPr>
                        <a:t> </a:t>
                      </a:r>
                      <a:r>
                        <a:rPr sz="2400" b="1">
                          <a:solidFill>
                            <a:schemeClr val="bg1"/>
                          </a:solidFill>
                        </a:rPr>
                        <a:t>명</a:t>
                      </a:r>
                      <a:endParaRPr sz="2400" b="1">
                        <a:solidFill>
                          <a:schemeClr val="bg1"/>
                        </a:solidFill>
                      </a:endParaRPr>
                    </a:p>
                  </a:txBody>
                  <a:tcPr marL="91440" marR="91440" marT="45720" marB="45720" anchor="ctr">
                    <a:lnR w="12700" cmpd="sng">
                      <a:solidFill>
                        <a:schemeClr val="bg1">
                          <a:lumMod val="85000"/>
                        </a:schemeClr>
                      </a:solidFill>
                      <a:prstDash val="solid"/>
                    </a:lnR>
                    <a:lnT w="12700" cmpd="sng">
                      <a:solidFill>
                        <a:schemeClr val="bg1">
                          <a:lumMod val="85000"/>
                        </a:schemeClr>
                      </a:solidFill>
                      <a:prstDash val="solid"/>
                    </a:lnT>
                    <a:solidFill>
                      <a:srgbClr val="FFA401"/>
                    </a:solidFill>
                  </a:tcPr>
                </a:tc>
                <a:tc>
                  <a:txBody>
                    <a:bodyPr/>
                    <a:lstStyle/>
                    <a:p>
                      <a:pPr algn="ctr">
                        <a:buNone/>
                      </a:pPr>
                      <a:r>
                        <a:rPr sz="2400"/>
                        <a:t>달빛수원</a:t>
                      </a:r>
                      <a:endParaRPr sz="2400" b="0">
                        <a:solidFill>
                          <a:schemeClr val="tx1"/>
                        </a:solidFill>
                      </a:endParaRPr>
                    </a:p>
                  </a:txBody>
                  <a:tcPr marL="91440" marR="91440" marT="45720" marB="45720" anchor="ctr">
                    <a:lnL w="12700" cmpd="sng">
                      <a:solidFill>
                        <a:schemeClr val="bg1">
                          <a:lumMod val="85000"/>
                        </a:schemeClr>
                      </a:solidFill>
                      <a:prstDash val="solid"/>
                    </a:lnL>
                    <a:lnT w="12700" cmpd="sng">
                      <a:solidFill>
                        <a:schemeClr val="bg1">
                          <a:lumMod val="85000"/>
                        </a:schemeClr>
                      </a:solidFill>
                      <a:prstDash val="solid"/>
                    </a:lnT>
                    <a:solidFill>
                      <a:srgbClr val="FFFDE7"/>
                    </a:solidFill>
                  </a:tcPr>
                </a:tc>
              </a:tr>
            </a:tbl>
          </a:graphicData>
        </a:graphic>
      </p:graphicFrame>
    </p:spTree>
    <p:extLst>
      <p:ext uri="{BB962C8B-B14F-4D97-AF65-F5344CB8AC3E}">
        <p14:creationId xmlns:p14="http://schemas.microsoft.com/office/powerpoint/2010/main" val="1353449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16"/>
          <p:cNvGraphicFramePr/>
          <p:nvPr/>
        </p:nvGraphicFramePr>
        <p:xfrm>
          <a:off xmlns:a="http://schemas.openxmlformats.org/drawingml/2006/main" x="287250" y="1218429"/>
          <a:ext xmlns:a="http://schemas.openxmlformats.org/drawingml/2006/main" cx="11649825" cy="4750109"/>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547212">
                <a:tc>
                  <a:txBody>
                    <a:bodyPr/>
                    <a:lstStyle/>
                    <a:p>
                      <a:pPr algn="ctr">
                        <a:buNone/>
                      </a:pPr>
                      <a:r>
                        <a:rPr b="1">
                          <a:solidFill>
                            <a:schemeClr val="bg1"/>
                          </a:solidFill>
                        </a:rPr>
                        <a:t>서비스명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l">
                        <a:spcBef>
                          <a:spcPts val="0"/>
                        </a:spcBef>
                        <a:spcAft>
                          <a:spcPts val="0"/>
                        </a:spcAft>
                        <a:buNone/>
                      </a:pPr>
                      <a:r>
                        <a:rPr sz="1800">
                          <a:solidFill>
                            <a:srgbClr val="000000"/>
                          </a:solidFill>
                        </a:rPr>
                        <a:t>달빛수원</a:t>
                      </a:r>
                      <a:endParaRPr sz="1800" b="0" baseline="0">
                        <a:solidFill>
                          <a:schemeClr val="tx1"/>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731060">
                <a:tc>
                  <a:txBody>
                    <a:bodyPr/>
                    <a:lstStyle/>
                    <a:p>
                      <a:pPr algn="ctr">
                        <a:buNone/>
                      </a:pPr>
                      <a:r>
                        <a:rPr b="1">
                          <a:solidFill>
                            <a:schemeClr val="bg1"/>
                          </a:solidFill>
                        </a:rPr>
                        <a:t>서비스 유형</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l">
                        <a:spcBef>
                          <a:spcPts val="0"/>
                        </a:spcBef>
                        <a:spcAft>
                          <a:spcPts val="0"/>
                        </a:spcAft>
                        <a:buNone/>
                      </a:pPr>
                      <a:r>
                        <a:rPr sz="1800">
                          <a:solidFill>
                            <a:srgbClr val="000000"/>
                          </a:solidFill>
                        </a:rPr>
                        <a:t>앱 중심 서비스 (앱은 친구가 계속 개발 중)</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030246">
                <a:tc>
                  <a:txBody>
                    <a:bodyPr/>
                    <a:lstStyle/>
                    <a:p>
                      <a:pPr algn="ctr">
                        <a:buNone/>
                      </a:pPr>
                      <a:r>
                        <a:rPr b="1">
                          <a:solidFill>
                            <a:schemeClr val="bg1"/>
                          </a:solidFill>
                        </a:rPr>
                        <a:t>서비스 개요</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800">
                          <a:solidFill>
                            <a:srgbClr val="000000"/>
                          </a:solidFill>
                        </a:rPr>
                        <a:t>수원화성 야간관광을 위한 위치 기반 미션형 체험 서비스. 모바일 앱은 친구가 계속 개발하고 있으며, 공개 웹은 코스·장소·행사·혼잡도 정보를 미리 확인하고 운영 데이터의 품질을 점검하는 채널로 제공합니다.</a:t>
                      </a:r>
                    </a:p>
                    <a:p>
                      <a:pPr algn="just">
                        <a:buNone/>
                      </a:pPr>
                      <a:r>
                        <a:rPr sz="1800">
                          <a:solidFill>
                            <a:srgbClr val="000000"/>
                          </a:solidFill>
                        </a:rPr>
                        <a:t>- 밤을 걷고 스토리를 줍는 수원화성 야간 미션 투어 -</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441591">
                <a:tc>
                  <a:txBody>
                    <a:bodyPr/>
                    <a:lstStyle/>
                    <a:p>
                      <a:pPr algn="ctr">
                        <a:buNone/>
                      </a:pPr>
                      <a:r>
                        <a:rPr b="1">
                          <a:solidFill>
                            <a:schemeClr val="bg1"/>
                          </a:solidFill>
                        </a:rPr>
                        <a:t>주제 선정 이유</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600"/>
                        <a:t>수원화성·화성행궁·행리단길 등 역사문화자원과 지역 상권이 밀집해 있음에도, 야간 시간대에 어디를 어떤 순서로 방문해야 하는지에 대한 정보가 분산되어 있어 체계적인 이용이 어려운 문제를 해결하고자 기획했습니다. 한국관광공사 OpenAPI 기반 관광정보에 정조 스토리와 미션형 콘텐츠를 결합해 단순 정보 제공을 넘어 몰입감 있는 야간관광 체험을 제공하고자 합니다.</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1526000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16"/>
          <p:cNvGraphicFramePr/>
          <p:nvPr/>
        </p:nvGraphicFramePr>
        <p:xfrm>
          <a:off xmlns:a="http://schemas.openxmlformats.org/drawingml/2006/main" x="287250" y="1218429"/>
          <a:ext xmlns:a="http://schemas.openxmlformats.org/drawingml/2006/main" cx="11649826" cy="4733484"/>
        </p:xfrm>
        <a:graphic xmlns:a="http://schemas.openxmlformats.org/drawingml/2006/main">
          <a:graphicData uri="http://schemas.openxmlformats.org/drawingml/2006/table">
            <a:tbl>
              <a:tblPr firstRow="1" bandRow="1">
                <a:tableStyleId>{5C22544A-7EE6-4342-B048-85BDC9FD1C3A}</a:tableStyleId>
              </a:tblPr>
              <a:tblGrid>
                <a:gridCol w="1955222"/>
                <a:gridCol w="9694604"/>
              </a:tblGrid>
              <a:tr h="4733484">
                <a:tc>
                  <a:txBody>
                    <a:bodyPr/>
                    <a:lstStyle/>
                    <a:p>
                      <a:pPr marL="0" marR="0" lvl="0" indent="0" algn="ctr" defTabSz="914400">
                        <a:lnSpc>
                          <a:spcPct val="100000"/>
                        </a:lnSpc>
                        <a:spcBef>
                          <a:spcPts val="0"/>
                        </a:spcBef>
                        <a:spcAft>
                          <a:spcPts val="0"/>
                        </a:spcAft>
                        <a:buClrTx/>
                        <a:buSzTx/>
                        <a:buFontTx/>
                        <a:buNone/>
                      </a:pPr>
                      <a:r>
                        <a:rPr b="1">
                          <a:solidFill>
                            <a:schemeClr val="bg1"/>
                          </a:solidFill>
                        </a:rPr>
                        <a:t>서비스 핵심기능</a:t>
                      </a:r>
                    </a:p>
                    <a:p>
                      <a:pPr algn="ctr">
                        <a:buNone/>
                      </a:pP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l" defTabSz="914400">
                        <a:lnSpc>
                          <a:spcPct val="100000"/>
                        </a:lnSpc>
                        <a:spcBef>
                          <a:spcPts val="0"/>
                        </a:spcBef>
                        <a:spcAft>
                          <a:spcPts val="0"/>
                        </a:spcAft>
                        <a:buClrTx/>
                        <a:buSzTx/>
                        <a:buFontTx/>
                        <a:buNone/>
                      </a:pPr>
                      <a:r>
                        <a:rPr sz="1700">
                          <a:solidFill>
                            <a:srgbClr val="000000"/>
                          </a:solidFill>
                        </a:rPr>
                        <a:t>• 한국관광공사 OpenAPI 기반 수원화성 일대 관광정보 통합</a:t>
                      </a:r>
                    </a:p>
                    <a:p>
                      <a:pPr algn="l">
                        <a:buNone/>
                      </a:pPr>
                      <a:r>
                        <a:rPr sz="1700">
                          <a:solidFill>
                            <a:srgbClr val="000000"/>
                          </a:solidFill>
                        </a:rPr>
                        <a:t>• 시간대별 야간관광 추천 코스 3개와 상세 안내</a:t>
                      </a:r>
                    </a:p>
                    <a:p>
                      <a:pPr algn="l">
                        <a:buNone/>
                      </a:pPr>
                      <a:r>
                        <a:rPr sz="1700">
                          <a:solidFill>
                            <a:srgbClr val="000000"/>
                          </a:solidFill>
                        </a:rPr>
                        <a:t>• 도착 체크인과 코스 완료 경험 (앱 출시 빌드에서 최종 확인)</a:t>
                      </a:r>
                    </a:p>
                    <a:p>
                      <a:pPr algn="l">
                        <a:buNone/>
                      </a:pPr>
                      <a:r>
                        <a:rPr sz="1700">
                          <a:solidFill>
                            <a:srgbClr val="000000"/>
                          </a:solidFill>
                        </a:rPr>
                        <a:t>• 내 주변 관광지·로컬 스팟 탐색</a:t>
                      </a:r>
                    </a:p>
                    <a:p>
                      <a:pPr algn="l">
                        <a:buNone/>
                      </a:pPr>
                      <a:r>
                        <a:rPr sz="1700">
                          <a:solidFill>
                            <a:srgbClr val="000000"/>
                          </a:solidFill>
                        </a:rPr>
                        <a:t>• 찜·코스 완료 공유 기능</a:t>
                      </a:r>
                    </a:p>
                    <a:p>
                      <a:pPr algn="l">
                        <a:buNone/>
                      </a:pPr>
                      <a:r>
                        <a:rPr sz="1700">
                          <a:solidFill>
                            <a:srgbClr val="000000"/>
                          </a:solidFill>
                        </a:rPr>
                        <a:t>• 공개 웹 코스·혼잡도 미리보기와 관리자 데이터 운영</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40986881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graphicFrame>
        <p:nvGraphicFramePr>
          <p:cNvPr id="8" name="표 16"/>
          <p:cNvGraphicFramePr/>
          <p:nvPr/>
        </p:nvGraphicFramePr>
        <p:xfrm>
          <a:off xmlns:a="http://schemas.openxmlformats.org/drawingml/2006/main" x="287250" y="1218429"/>
          <a:ext xmlns:a="http://schemas.openxmlformats.org/drawingml/2006/main" cx="11649826" cy="4991178"/>
        </p:xfrm>
        <a:graphic xmlns:a="http://schemas.openxmlformats.org/drawingml/2006/main">
          <a:graphicData uri="http://schemas.openxmlformats.org/drawingml/2006/table">
            <a:tbl>
              <a:tblPr firstRow="1" bandRow="1">
                <a:tableStyleId>{5C22544A-7EE6-4342-B048-85BDC9FD1C3A}</a:tableStyleId>
              </a:tblPr>
              <a:tblGrid>
                <a:gridCol w="1955222"/>
                <a:gridCol w="9694604"/>
              </a:tblGrid>
              <a:tr h="1847697">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대표 이미지</a:t>
                      </a:r>
                      <a:endParaRPr b="1">
                        <a:solidFill>
                          <a:schemeClr val="bg1"/>
                        </a:solidFill>
                      </a:endParaRPr>
                    </a:p>
                    <a:p>
                      <a:pPr algn="ctr">
                        <a:buNone/>
                      </a:pPr>
                      <a:r>
                        <a:rPr b="1">
                          <a:solidFill>
                            <a:schemeClr val="bg1"/>
                          </a:solidFill>
                        </a:rPr>
                        <a:t>(</a:t>
                      </a:r>
                      <a:r>
                        <a:rPr b="1">
                          <a:solidFill>
                            <a:schemeClr val="bg1"/>
                          </a:solidFill>
                        </a:rPr>
                        <a:t>썸네일</a:t>
                      </a:r>
                      <a:r>
                        <a:rPr b="1">
                          <a:solidFill>
                            <a:schemeClr val="bg1"/>
                          </a:solidFill>
                        </a:rPr>
                        <a:t>)</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143481">
                <a:tc>
                  <a:txBody>
                    <a:bodyPr/>
                    <a:lstStyle/>
                    <a:p>
                      <a:pPr algn="ctr">
                        <a:buNone/>
                      </a:pPr>
                      <a:r>
                        <a:rPr b="1">
                          <a:solidFill>
                            <a:schemeClr val="bg1"/>
                          </a:solidFill>
                        </a:rPr>
                        <a:t>서비스</a:t>
                      </a:r>
                      <a:endParaRPr b="1">
                        <a:solidFill>
                          <a:schemeClr val="bg1"/>
                        </a:solidFill>
                      </a:endParaRPr>
                    </a:p>
                    <a:p>
                      <a:pPr algn="ctr">
                        <a:buNone/>
                      </a:pPr>
                      <a:r>
                        <a:rPr b="1">
                          <a:solidFill>
                            <a:schemeClr val="bg1"/>
                          </a:solidFill>
                        </a:rPr>
                        <a:t>상세 이미지</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9" name="Picture 17"/>
          <p:cNvPicPr>
            <a:picLocks xmlns:a="http://schemas.openxmlformats.org/drawingml/2006/main" noChangeAspect="1"/>
          </p:cNvPicPr>
          <p:nvPr/>
        </p:nvPicPr>
        <p:blipFill>
          <a:blip xmlns:r="http://schemas.openxmlformats.org/officeDocument/2006/relationships" xmlns:a="http://schemas.openxmlformats.org/drawingml/2006/main" r:embed="R63b74d39455b416a"/>
          <a:stretch xmlns:a="http://schemas.openxmlformats.org/drawingml/2006/main">
            <a:fillRect l="0" t="0" r="0" b="0"/>
          </a:stretch>
        </p:blipFill>
        <p:spPr>
          <a:xfrm xmlns:a="http://schemas.openxmlformats.org/drawingml/2006/main">
            <a:off x="6443079" y="1495583"/>
            <a:ext cx="1293389" cy="1293389"/>
          </a:xfrm>
          <a:prstGeom xmlns:a="http://schemas.openxmlformats.org/drawingml/2006/main" prst="rect">
            <a:avLst/>
          </a:prstGeom>
        </p:spPr>
      </p:pic>
      <p:pic>
        <p:nvPicPr>
          <p:cNvPr id="10" name="Picture 18"/>
          <p:cNvPicPr>
            <a:picLocks xmlns:a="http://schemas.openxmlformats.org/drawingml/2006/main" noChangeAspect="1"/>
          </p:cNvPicPr>
          <p:nvPr/>
        </p:nvPicPr>
        <p:blipFill>
          <a:blip xmlns:r="http://schemas.openxmlformats.org/officeDocument/2006/relationships" xmlns:a="http://schemas.openxmlformats.org/drawingml/2006/main" r:embed="Rf3ba1a2b963f4c4d"/>
          <a:stretch xmlns:a="http://schemas.openxmlformats.org/drawingml/2006/main">
            <a:fillRect l="0" t="0" r="0" b="0"/>
          </a:stretch>
        </p:blipFill>
        <p:spPr>
          <a:xfrm xmlns:a="http://schemas.openxmlformats.org/drawingml/2006/main">
            <a:off x="2575344" y="3254734"/>
            <a:ext cx="1273176" cy="2766265"/>
          </a:xfrm>
          <a:prstGeom xmlns:a="http://schemas.openxmlformats.org/drawingml/2006/main" prst="rect">
            <a:avLst/>
          </a:prstGeom>
        </p:spPr>
      </p:pic>
      <p:pic>
        <p:nvPicPr>
          <p:cNvPr id="11" name="Picture 19"/>
          <p:cNvPicPr>
            <a:picLocks xmlns:a="http://schemas.openxmlformats.org/drawingml/2006/main" noChangeAspect="1"/>
          </p:cNvPicPr>
          <p:nvPr/>
        </p:nvPicPr>
        <p:blipFill>
          <a:blip xmlns:r="http://schemas.openxmlformats.org/officeDocument/2006/relationships" xmlns:a="http://schemas.openxmlformats.org/drawingml/2006/main" r:embed="Rb5f8fd56737c4b70"/>
          <a:stretch xmlns:a="http://schemas.openxmlformats.org/drawingml/2006/main">
            <a:fillRect l="0" t="0" r="0" b="0"/>
          </a:stretch>
        </p:blipFill>
        <p:spPr>
          <a:xfrm xmlns:a="http://schemas.openxmlformats.org/drawingml/2006/main">
            <a:off x="4514264" y="3254734"/>
            <a:ext cx="1273176" cy="2766265"/>
          </a:xfrm>
          <a:prstGeom xmlns:a="http://schemas.openxmlformats.org/drawingml/2006/main" prst="rect">
            <a:avLst/>
          </a:prstGeom>
        </p:spPr>
      </p:pic>
      <p:pic>
        <p:nvPicPr>
          <p:cNvPr id="12" name="Picture 20"/>
          <p:cNvPicPr>
            <a:picLocks xmlns:a="http://schemas.openxmlformats.org/drawingml/2006/main" noChangeAspect="1"/>
          </p:cNvPicPr>
          <p:nvPr/>
        </p:nvPicPr>
        <p:blipFill>
          <a:blip xmlns:r="http://schemas.openxmlformats.org/officeDocument/2006/relationships" xmlns:a="http://schemas.openxmlformats.org/drawingml/2006/main" r:embed="Red24dcd41933443d"/>
          <a:stretch xmlns:a="http://schemas.openxmlformats.org/drawingml/2006/main">
            <a:fillRect l="0" t="0" r="0" b="0"/>
          </a:stretch>
        </p:blipFill>
        <p:spPr>
          <a:xfrm xmlns:a="http://schemas.openxmlformats.org/drawingml/2006/main">
            <a:off x="6453184" y="3254734"/>
            <a:ext cx="1273176" cy="2766265"/>
          </a:xfrm>
          <a:prstGeom xmlns:a="http://schemas.openxmlformats.org/drawingml/2006/main" prst="rect">
            <a:avLst/>
          </a:prstGeom>
        </p:spPr>
      </p:pic>
      <p:pic>
        <p:nvPicPr>
          <p:cNvPr id="13" name="Picture 21"/>
          <p:cNvPicPr>
            <a:picLocks xmlns:a="http://schemas.openxmlformats.org/drawingml/2006/main" noChangeAspect="1"/>
          </p:cNvPicPr>
          <p:nvPr/>
        </p:nvPicPr>
        <p:blipFill>
          <a:blip xmlns:r="http://schemas.openxmlformats.org/officeDocument/2006/relationships" xmlns:a="http://schemas.openxmlformats.org/drawingml/2006/main" r:embed="Rf3118cfdce7b4201"/>
          <a:stretch xmlns:a="http://schemas.openxmlformats.org/drawingml/2006/main">
            <a:fillRect l="0" t="0" r="0" b="0"/>
          </a:stretch>
        </p:blipFill>
        <p:spPr>
          <a:xfrm xmlns:a="http://schemas.openxmlformats.org/drawingml/2006/main">
            <a:off x="8406282" y="3254734"/>
            <a:ext cx="1244819" cy="2766265"/>
          </a:xfrm>
          <a:prstGeom xmlns:a="http://schemas.openxmlformats.org/drawingml/2006/main" prst="rect">
            <a:avLst/>
          </a:prstGeom>
        </p:spPr>
      </p:pic>
      <p:pic>
        <p:nvPicPr>
          <p:cNvPr id="14" name="Picture 22"/>
          <p:cNvPicPr>
            <a:picLocks xmlns:a="http://schemas.openxmlformats.org/drawingml/2006/main" noChangeAspect="1"/>
          </p:cNvPicPr>
          <p:nvPr/>
        </p:nvPicPr>
        <p:blipFill>
          <a:blip xmlns:r="http://schemas.openxmlformats.org/officeDocument/2006/relationships" xmlns:a="http://schemas.openxmlformats.org/drawingml/2006/main" r:embed="R6be4af3c68b64fc8"/>
          <a:stretch xmlns:a="http://schemas.openxmlformats.org/drawingml/2006/main">
            <a:fillRect l="0" t="0" r="0" b="0"/>
          </a:stretch>
        </p:blipFill>
        <p:spPr>
          <a:xfrm xmlns:a="http://schemas.openxmlformats.org/drawingml/2006/main">
            <a:off x="10345202" y="3254734"/>
            <a:ext cx="1244819" cy="2766265"/>
          </a:xfrm>
          <a:prstGeom xmlns:a="http://schemas.openxmlformats.org/drawingml/2006/main" prst="rect">
            <a:avLst/>
          </a:prstGeom>
        </p:spPr>
      </p:pic>
    </p:spTree>
    <p:extLst>
      <p:ext uri="{BB962C8B-B14F-4D97-AF65-F5344CB8AC3E}">
        <p14:creationId xmlns:p14="http://schemas.microsoft.com/office/powerpoint/2010/main" val="28229692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2"/>
          <p:cNvGraphicFramePr/>
          <p:nvPr/>
        </p:nvGraphicFramePr>
        <p:xfrm>
          <a:off xmlns:a="http://schemas.openxmlformats.org/drawingml/2006/main" x="287250" y="1218429"/>
          <a:ext xmlns:a="http://schemas.openxmlformats.org/drawingml/2006/main" cx="11649825" cy="5079734"/>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1944404">
                <a:tc>
                  <a:txBody>
                    <a:bodyPr/>
                    <a:lstStyle/>
                    <a:p>
                      <a:pPr algn="ctr">
                        <a:buNone/>
                      </a:pPr>
                      <a:r>
                        <a:rPr b="1">
                          <a:solidFill>
                            <a:schemeClr val="bg1"/>
                          </a:solidFill>
                        </a:rPr>
                        <a:t>특화 </a:t>
                      </a:r>
                      <a:r>
                        <a:rPr b="1">
                          <a:solidFill>
                            <a:schemeClr val="bg1"/>
                          </a:solidFill>
                        </a:rPr>
                        <a:t>지역명</a:t>
                      </a:r>
                      <a:endParaRPr b="1">
                        <a:solidFill>
                          <a:schemeClr val="bg1"/>
                        </a:solidFill>
                      </a:endParaRPr>
                    </a:p>
                    <a:p>
                      <a:pPr algn="ctr">
                        <a:buNone/>
                      </a:pPr>
                      <a:r>
                        <a:rPr sz="1600" b="1">
                          <a:solidFill>
                            <a:schemeClr val="bg1"/>
                          </a:solidFill>
                        </a:rPr>
                        <a:t>* </a:t>
                      </a:r>
                      <a:r>
                        <a:rPr sz="1600" b="1">
                          <a:solidFill>
                            <a:schemeClr val="bg1"/>
                          </a:solidFill>
                        </a:rPr>
                        <a:t>서울 제외</a:t>
                      </a:r>
                      <a:endParaRPr sz="16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just">
                        <a:spcBef>
                          <a:spcPts val="0"/>
                        </a:spcBef>
                        <a:spcAft>
                          <a:spcPts val="0"/>
                        </a:spcAft>
                        <a:buNone/>
                      </a:pPr>
                      <a:r>
                        <a:rPr sz="1700">
                          <a:solidFill>
                            <a:srgbClr val="000000"/>
                          </a:solidFill>
                        </a:rPr>
                        <a:t>경기도 수원시 (수원화성 일대)</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135330">
                <a:tc>
                  <a:txBody>
                    <a:bodyPr/>
                    <a:lstStyle/>
                    <a:p>
                      <a:pPr algn="ctr">
                        <a:buNone/>
                      </a:pPr>
                      <a:r>
                        <a:rPr b="1">
                          <a:solidFill>
                            <a:schemeClr val="bg1"/>
                          </a:solidFill>
                        </a:rPr>
                        <a:t>구현 내용</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just">
                        <a:spcBef>
                          <a:spcPts val="0"/>
                        </a:spcBef>
                        <a:spcAft>
                          <a:spcPts val="0"/>
                        </a:spcAft>
                        <a:buNone/>
                      </a:pPr>
                      <a:r>
                        <a:rPr sz="1600">
                          <a:solidFill>
                            <a:srgbClr val="000000"/>
                          </a:solidFill>
                        </a:rPr>
                        <a:t>수원화성 일대의 관광지·행사 데이터를 중심으로 공개 장소 48곳, 공개 코스 7개, 예정 행사 8개를 운영합니다. 무장애 정보와 오디오 해설은 웹 상세·관리자 데이터에 연결하고, 모바일 앱 노출은 친구가 이어서 개발 중입니다. 수원화성의 야간 경관과 정조 스토리, 시간대별 혼잡도 정보를 한 흐름으로 묶어 방문 전 선택을 돕습니다.</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192526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5"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marL="0" marR="0" lvl="0" indent="0" algn="just" defTabSz="914400">
                        <a:lnSpc>
                          <a:spcPct val="100000"/>
                        </a:lnSpc>
                        <a:spcBef>
                          <a:spcPts val="0"/>
                        </a:spcBef>
                        <a:spcAft>
                          <a:spcPts val="0"/>
                        </a:spcAft>
                        <a:buClrTx/>
                        <a:buSzTx/>
                        <a:buFontTx/>
                        <a:buNone/>
                      </a:pPr>
                      <a:r>
                        <a:rPr sz="1400"/>
                        <a:t>홈 화면에서 시간대별 추천 코스를 확인한다.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400"/>
                        <a:t>코스 상세에서 소요시간과 스팟 순서를 확인하고 코스를 시작한다.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6"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236913">
                <a:tc>
                  <a:txBody>
                    <a:bodyPr/>
                    <a:lstStyle/>
                    <a:p>
                      <a:pPr algn="ctr">
                        <a:buNone/>
                      </a:pPr>
                      <a:r>
                        <a:rPr b="1">
                          <a:solidFill>
                            <a:srgbClr val="000000"/>
                          </a:solidFill>
                        </a:rPr>
                        <a:t>핵심 기능1</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600"/>
                        <a:t>야간관광 추천 코스 제공</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36913">
                <a:tc>
                  <a:txBody>
                    <a:bodyPr/>
                    <a:lstStyle/>
                    <a:p>
                      <a:pPr algn="ctr">
                        <a:buNone/>
                      </a:pPr>
                      <a:r>
                        <a:rPr b="1">
                          <a:solidFill>
                            <a:schemeClr val="bg1"/>
                          </a:solidFill>
                        </a:rPr>
                        <a:t>기능 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lIns="38100" tIns="19050" rIns="38100" bIns="0">
                      <a:normAutofit/>
                    </a:bodyPr>
                    <a:lstStyle/>
                    <a:p>
                      <a:pPr marL="0" marR="0" lvl="0" indent="0" algn="just" defTabSz="914400">
                        <a:lnSpc>
                          <a:spcPct val="100000"/>
                        </a:lnSpc>
                        <a:spcBef>
                          <a:spcPts val="0"/>
                        </a:spcBef>
                        <a:spcAft>
                          <a:spcPts val="0"/>
                        </a:spcAft>
                        <a:buClrTx/>
                        <a:buSzTx/>
                        <a:buFontTx/>
                        <a:buNone/>
                      </a:pPr>
                      <a:r>
                        <a:rPr sz="1200">
                          <a:solidFill>
                            <a:srgbClr val="000000"/>
                          </a:solidFill>
                        </a:rPr>
                        <a:t>시간대별 추천 코스와 코스별 시간·거리·스팟 정보를 확인합니다.</a:t>
                      </a:r>
                      <a:endParaRPr b="0">
                        <a:solidFill>
                          <a:schemeClr val="tx1"/>
                        </a:solidFill>
                      </a:endParaRPr>
                    </a:p>
                  </a:txBody>
                  <a:tcPr marL="91440" marR="91440" marT="45720" marB="45720" anchor="t">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7" name="Picture 19"/>
          <p:cNvPicPr>
            <a:picLocks xmlns:a="http://schemas.openxmlformats.org/drawingml/2006/main" noChangeAspect="1"/>
          </p:cNvPicPr>
          <p:nvPr/>
        </p:nvPicPr>
        <p:blipFill>
          <a:blip xmlns:r="http://schemas.openxmlformats.org/officeDocument/2006/relationships" xmlns:a="http://schemas.openxmlformats.org/drawingml/2006/main" r:embed="R1c510dc7425b4474"/>
          <a:stretch xmlns:a="http://schemas.openxmlformats.org/drawingml/2006/main">
            <a:fillRect l="0" t="0" r="0" b="0"/>
          </a:stretch>
        </p:blipFill>
        <p:spPr>
          <a:xfrm xmlns:a="http://schemas.openxmlformats.org/drawingml/2006/main">
            <a:off x="1150038" y="2400781"/>
            <a:ext cx="1162404" cy="2525588"/>
          </a:xfrm>
          <a:prstGeom xmlns:a="http://schemas.openxmlformats.org/drawingml/2006/main" prst="rect">
            <a:avLst/>
          </a:prstGeom>
        </p:spPr>
      </p:pic>
      <p:pic>
        <p:nvPicPr>
          <p:cNvPr id="8" name="Picture 20"/>
          <p:cNvPicPr>
            <a:picLocks xmlns:a="http://schemas.openxmlformats.org/drawingml/2006/main" noChangeAspect="1"/>
          </p:cNvPicPr>
          <p:nvPr/>
        </p:nvPicPr>
        <p:blipFill>
          <a:blip xmlns:r="http://schemas.openxmlformats.org/officeDocument/2006/relationships" xmlns:a="http://schemas.openxmlformats.org/drawingml/2006/main" r:embed="R0d0fe9cf49dd423b"/>
          <a:stretch xmlns:a="http://schemas.openxmlformats.org/drawingml/2006/main">
            <a:fillRect l="0" t="0" r="0" b="0"/>
          </a:stretch>
        </p:blipFill>
        <p:spPr>
          <a:xfrm xmlns:a="http://schemas.openxmlformats.org/drawingml/2006/main">
            <a:off x="4006615" y="2400781"/>
            <a:ext cx="1162404" cy="2525588"/>
          </a:xfrm>
          <a:prstGeom xmlns:a="http://schemas.openxmlformats.org/drawingml/2006/main" prst="rect">
            <a:avLst/>
          </a:prstGeom>
        </p:spPr>
      </p:pic>
    </p:spTree>
    <p:extLst>
      <p:ext uri="{BB962C8B-B14F-4D97-AF65-F5344CB8AC3E}">
        <p14:creationId xmlns:p14="http://schemas.microsoft.com/office/powerpoint/2010/main" val="67194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marL="0" marR="0" lvl="0" indent="0" algn="just" defTabSz="914400">
                        <a:lnSpc>
                          <a:spcPct val="100000"/>
                        </a:lnSpc>
                        <a:spcBef>
                          <a:spcPts val="0"/>
                        </a:spcBef>
                        <a:spcAft>
                          <a:spcPts val="0"/>
                        </a:spcAft>
                        <a:buClrTx/>
                        <a:buSzTx/>
                        <a:buFontTx/>
                        <a:buNone/>
                      </a:pPr>
                      <a:r>
                        <a:rPr sz="1400">
                          <a:solidFill>
                            <a:srgbClr val="000000"/>
                          </a:solidFill>
                        </a:rPr>
                        <a:t>마지막 스팟 도착 체크 후 코스 완료 화면에서 결과를 확인한다.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236913">
                <a:tc>
                  <a:txBody>
                    <a:bodyPr/>
                    <a:lstStyle/>
                    <a:p>
                      <a:pPr algn="ctr">
                        <a:buNone/>
                      </a:pPr>
                      <a:r>
                        <a:rPr b="1">
                          <a:solidFill>
                            <a:srgbClr val="000000"/>
                          </a:solidFill>
                        </a:rPr>
                        <a:t>핵심 기능2</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600">
                          <a:solidFill>
                            <a:srgbClr val="000000"/>
                          </a:solidFill>
                        </a:rPr>
                        <a:t>도착 체크 및 코스 완료</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36913">
                <a:tc>
                  <a:txBody>
                    <a:bodyPr/>
                    <a:lstStyle/>
                    <a:p>
                      <a:pPr algn="ctr">
                        <a:buNone/>
                      </a:pPr>
                      <a:r>
                        <a:rPr b="1">
                          <a:solidFill>
                            <a:schemeClr val="bg1"/>
                          </a:solidFill>
                        </a:rPr>
                        <a:t>기능 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lIns="38100" tIns="19050" rIns="38100" bIns="0">
                      <a:normAutofit/>
                    </a:bodyPr>
                    <a:lstStyle/>
                    <a:p>
                      <a:pPr marL="0" marR="0" lvl="0" indent="0" algn="just" defTabSz="914400">
                        <a:lnSpc>
                          <a:spcPct val="100000"/>
                        </a:lnSpc>
                        <a:spcBef>
                          <a:spcPts val="0"/>
                        </a:spcBef>
                        <a:spcAft>
                          <a:spcPts val="0"/>
                        </a:spcAft>
                        <a:buClrTx/>
                        <a:buSzTx/>
                        <a:buFontTx/>
                        <a:buNone/>
                      </a:pPr>
                      <a:r>
                        <a:rPr sz="1200">
                          <a:solidFill>
                            <a:srgbClr val="000000"/>
                          </a:solidFill>
                        </a:rPr>
                        <a:t>도착 체크 후 코스 완료 결과를 확인합니다. 자동 위치 판정은 앱 출시 빌드에서 검증합니다.</a:t>
                      </a:r>
                      <a:endParaRPr b="0">
                        <a:solidFill>
                          <a:schemeClr val="tx1"/>
                        </a:solidFill>
                      </a:endParaRPr>
                    </a:p>
                  </a:txBody>
                  <a:tcPr marL="91440" marR="91440" marT="45720" marB="45720" anchor="t">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6" name="Picture 19"/>
          <p:cNvPicPr>
            <a:picLocks xmlns:a="http://schemas.openxmlformats.org/drawingml/2006/main" noChangeAspect="1"/>
          </p:cNvPicPr>
          <p:nvPr/>
        </p:nvPicPr>
        <p:blipFill>
          <a:blip xmlns:r="http://schemas.openxmlformats.org/officeDocument/2006/relationships" xmlns:a="http://schemas.openxmlformats.org/drawingml/2006/main" r:embed="Rad3ca956b0fa44a8"/>
          <a:stretch xmlns:a="http://schemas.openxmlformats.org/drawingml/2006/main">
            <a:fillRect l="0" t="0" r="0" b="0"/>
          </a:stretch>
        </p:blipFill>
        <p:spPr>
          <a:xfrm xmlns:a="http://schemas.openxmlformats.org/drawingml/2006/main">
            <a:off x="1150038" y="2400781"/>
            <a:ext cx="1162404" cy="2525588"/>
          </a:xfrm>
          <a:prstGeom xmlns:a="http://schemas.openxmlformats.org/drawingml/2006/main" prst="rect">
            <a:avLst/>
          </a:prstGeom>
        </p:spPr>
      </p:pic>
    </p:spTree>
    <p:extLst>
      <p:ext uri="{BB962C8B-B14F-4D97-AF65-F5344CB8AC3E}">
        <p14:creationId xmlns:p14="http://schemas.microsoft.com/office/powerpoint/2010/main" val="14239630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marL="0" marR="0" lvl="0" indent="0" algn="just" defTabSz="914400">
                        <a:lnSpc>
                          <a:spcPct val="100000"/>
                        </a:lnSpc>
                        <a:spcBef>
                          <a:spcPts val="0"/>
                        </a:spcBef>
                        <a:spcAft>
                          <a:spcPts val="0"/>
                        </a:spcAft>
                        <a:buClrTx/>
                        <a:buSzTx/>
                        <a:buFontTx/>
                        <a:buNone/>
                      </a:pPr>
                      <a:r>
                        <a:rPr sz="1400"/>
                        <a:t>내 주변 탭에서 현재 위치 기반 관광지와 로컬 스팟을 탐색한다.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236913">
                <a:tc>
                  <a:txBody>
                    <a:bodyPr/>
                    <a:lstStyle/>
                    <a:p>
                      <a:pPr algn="ctr">
                        <a:buNone/>
                      </a:pPr>
                      <a:r>
                        <a:rPr b="1">
                          <a:solidFill>
                            <a:srgbClr val="000000"/>
                          </a:solidFill>
                        </a:rPr>
                        <a:t>핵심 기능3</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600"/>
                        <a:t>내 주변 관광지 탐색</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36913">
                <a:tc>
                  <a:txBody>
                    <a:bodyPr/>
                    <a:lstStyle/>
                    <a:p>
                      <a:pPr algn="ctr">
                        <a:buNone/>
                      </a:pPr>
                      <a:r>
                        <a:rPr b="1">
                          <a:solidFill>
                            <a:schemeClr val="bg1"/>
                          </a:solidFill>
                        </a:rPr>
                        <a:t>기능 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lIns="38100" tIns="19050" rIns="38100" bIns="0">
                      <a:normAutofit/>
                    </a:bodyPr>
                    <a:lstStyle/>
                    <a:p>
                      <a:pPr marL="0" marR="0" lvl="0" indent="0" algn="just" defTabSz="914400">
                        <a:lnSpc>
                          <a:spcPct val="100000"/>
                        </a:lnSpc>
                        <a:spcBef>
                          <a:spcPts val="0"/>
                        </a:spcBef>
                        <a:spcAft>
                          <a:spcPts val="0"/>
                        </a:spcAft>
                        <a:buClrTx/>
                        <a:buSzTx/>
                        <a:buFontTx/>
                        <a:buNone/>
                      </a:pPr>
                      <a:r>
                        <a:rPr sz="1200">
                          <a:solidFill>
                            <a:srgbClr val="000000"/>
                          </a:solidFill>
                        </a:rPr>
                        <a:t>현재 위치 기준으로 주변 관광지와 로컬 추천 스팟을 탐색합니다.</a:t>
                      </a:r>
                      <a:endParaRPr b="0">
                        <a:solidFill>
                          <a:schemeClr val="tx1"/>
                        </a:solidFill>
                      </a:endParaRPr>
                    </a:p>
                  </a:txBody>
                  <a:tcPr marL="91440" marR="91440" marT="45720" marB="45720" anchor="t">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6" name="Picture 19"/>
          <p:cNvPicPr>
            <a:picLocks xmlns:a="http://schemas.openxmlformats.org/drawingml/2006/main" noChangeAspect="1"/>
          </p:cNvPicPr>
          <p:nvPr/>
        </p:nvPicPr>
        <p:blipFill>
          <a:blip xmlns:r="http://schemas.openxmlformats.org/officeDocument/2006/relationships" xmlns:a="http://schemas.openxmlformats.org/drawingml/2006/main" r:embed="Rfb07db23050a4d1d"/>
          <a:stretch xmlns:a="http://schemas.openxmlformats.org/drawingml/2006/main">
            <a:fillRect l="0" t="0" r="0" b="0"/>
          </a:stretch>
        </p:blipFill>
        <p:spPr>
          <a:xfrm xmlns:a="http://schemas.openxmlformats.org/drawingml/2006/main">
            <a:off x="1162983" y="2400781"/>
            <a:ext cx="1136514" cy="2525588"/>
          </a:xfrm>
          <a:prstGeom xmlns:a="http://schemas.openxmlformats.org/drawingml/2006/main" prst="rect">
            <a:avLst/>
          </a:prstGeom>
        </p:spPr>
      </p:pic>
    </p:spTree>
    <p:extLst>
      <p:ext uri="{BB962C8B-B14F-4D97-AF65-F5344CB8AC3E}">
        <p14:creationId xmlns:p14="http://schemas.microsoft.com/office/powerpoint/2010/main" val="7766480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marL="0" marR="0" lvl="0" indent="0" algn="just" defTabSz="914400">
                        <a:lnSpc>
                          <a:spcPct val="100000"/>
                        </a:lnSpc>
                        <a:spcBef>
                          <a:spcPts val="0"/>
                        </a:spcBef>
                        <a:spcAft>
                          <a:spcPts val="0"/>
                        </a:spcAft>
                        <a:buClrTx/>
                        <a:buSzTx/>
                        <a:buFontTx/>
                        <a:buNone/>
                      </a:pPr>
                      <a:r>
                        <a:rPr sz="1400">
                          <a:solidFill>
                            <a:srgbClr val="000000"/>
                          </a:solidFill>
                        </a:rPr>
                        <a:t>찜 탭에서 저장한 코스와 스팟을 확인한다.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236913">
                <a:tc>
                  <a:txBody>
                    <a:bodyPr/>
                    <a:lstStyle/>
                    <a:p>
                      <a:pPr algn="ctr">
                        <a:buNone/>
                      </a:pPr>
                      <a:r>
                        <a:rPr b="1">
                          <a:solidFill>
                            <a:srgbClr val="000000"/>
                          </a:solidFill>
                        </a:rPr>
                        <a:t>핵심 기능4</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600"/>
                        <a:t>찜(즐겨찾기) 관리</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36913">
                <a:tc>
                  <a:txBody>
                    <a:bodyPr/>
                    <a:lstStyle/>
                    <a:p>
                      <a:pPr algn="ctr">
                        <a:buNone/>
                      </a:pPr>
                      <a:r>
                        <a:rPr b="1">
                          <a:solidFill>
                            <a:schemeClr val="bg1"/>
                          </a:solidFill>
                        </a:rPr>
                        <a:t>기능 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lIns="38100" tIns="19050" rIns="38100" bIns="0">
                      <a:normAutofit/>
                    </a:bodyPr>
                    <a:lstStyle/>
                    <a:p>
                      <a:pPr marL="0" marR="0" lvl="0" indent="0" algn="just" defTabSz="914400">
                        <a:lnSpc>
                          <a:spcPct val="100000"/>
                        </a:lnSpc>
                        <a:spcBef>
                          <a:spcPts val="0"/>
                        </a:spcBef>
                        <a:spcAft>
                          <a:spcPts val="0"/>
                        </a:spcAft>
                        <a:buClrTx/>
                        <a:buSzTx/>
                        <a:buFontTx/>
                        <a:buNone/>
                      </a:pPr>
                      <a:r>
                        <a:rPr sz="1200">
                          <a:solidFill>
                            <a:srgbClr val="000000"/>
                          </a:solidFill>
                        </a:rPr>
                        <a:t>찜한 코스와 스팟을 별도 찜 탭에서 모아봅니다. 앱 동기화는 출시 빌드에서 확인합니다.</a:t>
                      </a:r>
                      <a:endParaRPr b="0">
                        <a:solidFill>
                          <a:schemeClr val="tx1"/>
                        </a:solidFill>
                      </a:endParaRPr>
                    </a:p>
                  </a:txBody>
                  <a:tcPr marL="91440" marR="91440" marT="45720" marB="45720" anchor="t">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6" name="Picture 19"/>
          <p:cNvPicPr>
            <a:picLocks xmlns:a="http://schemas.openxmlformats.org/drawingml/2006/main" noChangeAspect="1"/>
          </p:cNvPicPr>
          <p:nvPr/>
        </p:nvPicPr>
        <p:blipFill>
          <a:blip xmlns:r="http://schemas.openxmlformats.org/officeDocument/2006/relationships" xmlns:a="http://schemas.openxmlformats.org/drawingml/2006/main" r:embed="R8f4db64abdde4a7f"/>
          <a:stretch xmlns:a="http://schemas.openxmlformats.org/drawingml/2006/main">
            <a:fillRect l="0" t="0" r="0" b="0"/>
          </a:stretch>
        </p:blipFill>
        <p:spPr>
          <a:xfrm xmlns:a="http://schemas.openxmlformats.org/drawingml/2006/main">
            <a:off x="1162983" y="2400781"/>
            <a:ext cx="1136514" cy="2525588"/>
          </a:xfrm>
          <a:prstGeom xmlns:a="http://schemas.openxmlformats.org/drawingml/2006/main" prst="rect">
            <a:avLst/>
          </a:prstGeom>
        </p:spPr>
      </p:pic>
    </p:spTree>
    <p:extLst>
      <p:ext uri="{BB962C8B-B14F-4D97-AF65-F5344CB8AC3E}">
        <p14:creationId xmlns:p14="http://schemas.microsoft.com/office/powerpoint/2010/main" val="5931332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표 7"/>
          <p:cNvGraphicFramePr/>
          <p:nvPr/>
        </p:nvGraphicFramePr>
        <p:xfrm>
          <a:off xmlns:a="http://schemas.openxmlformats.org/drawingml/2006/main" x="302952" y="1933326"/>
          <a:ext xmlns:a="http://schemas.openxmlformats.org/drawingml/2006/main" cx="11426308" cy="4605842"/>
        </p:xfrm>
        <a:graphic xmlns:a="http://schemas.openxmlformats.org/drawingml/2006/main">
          <a:graphicData uri="http://schemas.openxmlformats.org/drawingml/2006/table">
            <a:tbl>
              <a:tblPr firstRow="1" bandRow="1">
                <a:tableStyleId>{5C22544A-7EE6-4342-B048-85BDC9FD1C3A}</a:tableStyleId>
              </a:tblPr>
              <a:tblGrid>
                <a:gridCol w="2856577"/>
                <a:gridCol w="2856577"/>
                <a:gridCol w="2856577"/>
                <a:gridCol w="2856577"/>
              </a:tblGrid>
              <a:tr h="327145">
                <a:tc gridSpan="4">
                  <a:txBody>
                    <a:bodyPr/>
                    <a:lstStyle/>
                    <a:p>
                      <a:pPr algn="ctr">
                        <a:buNone/>
                      </a:pPr>
                      <a:r>
                        <a:rPr>
                          <a:solidFill>
                            <a:schemeClr val="bg1"/>
                          </a:solidFill>
                        </a:rPr>
                        <a:t>기능</a:t>
                      </a:r>
                      <a:r>
                        <a:rPr>
                          <a:solidFill>
                            <a:schemeClr val="bg1"/>
                          </a:solidFill>
                        </a:rPr>
                        <a:t> </a:t>
                      </a:r>
                      <a:r>
                        <a:rPr>
                          <a:solidFill>
                            <a:schemeClr val="bg1"/>
                          </a:solidFill>
                        </a:rPr>
                        <a:t>흐름도</a:t>
                      </a: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hMerge="1">
                  <a:txBody>
                    <a:bodyPr/>
                    <a:lstStyle/>
                    <a:p>
                      <a:pPr algn="ctr">
                        <a:buNone/>
                      </a:pPr>
                      <a:endParaRPr>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r>
              <a:tr h="2806208">
                <a:tc>
                  <a:txBody>
                    <a:bodyPr/>
                    <a:lstStyle/>
                    <a:p>
                      <a:pPr marL="0" marR="0" lvl="0" indent="0" algn="just" defTabSz="914400">
                        <a:lnSpc>
                          <a:spcPct val="100000"/>
                        </a:lnSpc>
                        <a:spcBef>
                          <a:spcPts val="0"/>
                        </a:spcBef>
                        <a:spcAft>
                          <a:spcPts val="0"/>
                        </a:spcAft>
                        <a:buClrTx/>
                        <a:buSzTx/>
                        <a:buFontTx/>
                        <a:buNone/>
                      </a:pPr>
                      <a:r>
                        <a:rPr sz="100"/>
                        <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marL="0" marR="0" lvl="0" indent="0" algn="just" defTabSz="914400">
                        <a:lnSpc>
                          <a:spcPct val="100000"/>
                        </a:lnSpc>
                        <a:spcBef>
                          <a:spcPts val="0"/>
                        </a:spcBef>
                        <a:spcAft>
                          <a:spcPts val="0"/>
                        </a:spcAft>
                        <a:buClrTx/>
                        <a:buSzTx/>
                        <a:buFontTx/>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1433874">
                <a:tc>
                  <a:txBody>
                    <a:bodyPr/>
                    <a:lstStyle/>
                    <a:p>
                      <a:pPr marL="0" marR="0" lvl="0" indent="0" algn="just" defTabSz="914400">
                        <a:lnSpc>
                          <a:spcPct val="100000"/>
                        </a:lnSpc>
                        <a:spcBef>
                          <a:spcPts val="0"/>
                        </a:spcBef>
                        <a:spcAft>
                          <a:spcPts val="0"/>
                        </a:spcAft>
                        <a:buClrTx/>
                        <a:buSzTx/>
                        <a:buFontTx/>
                        <a:buNone/>
                      </a:pPr>
                      <a:r>
                        <a:rPr sz="1400">
                          <a:solidFill>
                            <a:srgbClr val="000000"/>
                          </a:solidFill>
                        </a:rPr>
                        <a:t>공개 웹에서 코스·장소·행사와 오늘 혼잡도 미리보기를 확인한다.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c>
                  <a:txBody>
                    <a:bodyPr/>
                    <a:lstStyle/>
                    <a:p>
                      <a:pPr algn="just">
                        <a:buNone/>
                      </a:pPr>
                      <a:r>
                        <a:rPr sz="100"/>
                        <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graphicFrame>
        <p:nvGraphicFramePr>
          <p:cNvPr id="5" name="표 14"/>
          <p:cNvGraphicFramePr/>
          <p:nvPr/>
        </p:nvGraphicFramePr>
        <p:xfrm>
          <a:off xmlns:a="http://schemas.openxmlformats.org/drawingml/2006/main" x="302952" y="1130530"/>
          <a:ext xmlns:a="http://schemas.openxmlformats.org/drawingml/2006/main" cx="11426308" cy="731520"/>
        </p:xfrm>
        <a:graphic xmlns:a="http://schemas.openxmlformats.org/drawingml/2006/main">
          <a:graphicData uri="http://schemas.openxmlformats.org/drawingml/2006/table">
            <a:tbl>
              <a:tblPr firstRow="1" bandRow="1">
                <a:tableStyleId>{5C22544A-7EE6-4342-B048-85BDC9FD1C3A}</a:tableStyleId>
              </a:tblPr>
              <a:tblGrid>
                <a:gridCol w="1782764"/>
                <a:gridCol w="9643544"/>
              </a:tblGrid>
              <a:tr h="236913">
                <a:tc>
                  <a:txBody>
                    <a:bodyPr/>
                    <a:lstStyle/>
                    <a:p>
                      <a:pPr algn="ctr">
                        <a:buNone/>
                      </a:pPr>
                      <a:r>
                        <a:rPr b="1">
                          <a:solidFill>
                            <a:srgbClr val="000000"/>
                          </a:solidFill>
                        </a:rPr>
                        <a:t>핵심 기능5</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600">
                          <a:solidFill>
                            <a:srgbClr val="000000"/>
                          </a:solidFill>
                        </a:rPr>
                        <a:t>공개 웹 코스·혼잡도 미리보기</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36913">
                <a:tc>
                  <a:txBody>
                    <a:bodyPr/>
                    <a:lstStyle/>
                    <a:p>
                      <a:pPr algn="ctr">
                        <a:buNone/>
                      </a:pPr>
                      <a:r>
                        <a:rPr b="1">
                          <a:solidFill>
                            <a:schemeClr val="bg1"/>
                          </a:solidFill>
                        </a:rPr>
                        <a:t>기능 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lIns="38100" tIns="19050" rIns="38100" bIns="0">
                      <a:normAutofit/>
                    </a:bodyPr>
                    <a:lstStyle/>
                    <a:p>
                      <a:pPr marL="0" marR="0" lvl="0" indent="0" algn="just" defTabSz="914400">
                        <a:lnSpc>
                          <a:spcPct val="100000"/>
                        </a:lnSpc>
                        <a:spcBef>
                          <a:spcPts val="0"/>
                        </a:spcBef>
                        <a:spcAft>
                          <a:spcPts val="0"/>
                        </a:spcAft>
                        <a:buClrTx/>
                        <a:buSzTx/>
                        <a:buFontTx/>
                        <a:buNone/>
                      </a:pPr>
                      <a:r>
                        <a:rPr sz="1200">
                          <a:solidFill>
                            <a:srgbClr val="000000"/>
                          </a:solidFill>
                        </a:rPr>
                        <a:t>공개 웹에서 코스·장소·행사와 오늘 혼잡도 정보를 앱 설치 전 미리 확인합니다.</a:t>
                      </a:r>
                      <a:endParaRPr b="0">
                        <a:solidFill>
                          <a:schemeClr val="tx1"/>
                        </a:solidFill>
                      </a:endParaRPr>
                    </a:p>
                  </a:txBody>
                  <a:tcPr marL="91440" marR="91440" marT="45720" marB="45720" anchor="t">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7e3e2776d9d43a5"/>
          <a:stretch xmlns:a="http://schemas.openxmlformats.org/drawingml/2006/main"/>
        </p:blipFill>
        <p:spPr>
          <a:xfrm xmlns:a="http://schemas.openxmlformats.org/drawingml/2006/main">
            <a:off x="1162983" y="2433809"/>
            <a:ext cx="1136514" cy="2459533"/>
          </a:xfrm>
          <a:prstGeom xmlns:a="http://schemas.openxmlformats.org/drawingml/2006/main" prst="rect">
            <a:avLst/>
          </a:prstGeom>
        </p:spPr>
      </p:pic>
    </p:spTree>
    <p:extLst>
      <p:ext uri="{BB962C8B-B14F-4D97-AF65-F5344CB8AC3E}">
        <p14:creationId xmlns:p14="http://schemas.microsoft.com/office/powerpoint/2010/main" val="59313323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67AD8780-CE1C-4C1F-B8AB-C8C5BCE588DE}"/>
              </a:ext>
            </a:extLst>
          </p:cNvPr>
          <p:cNvSpPr>
            <a:spLocks xmlns:a="http://schemas.openxmlformats.org/drawingml/2006/main" noGrp="1"/>
          </p:cNvSpPr>
          <p:nvPr/>
        </p:nvSpPr>
        <p:spPr>
          <a:xfrm xmlns:a="http://schemas.openxmlformats.org/drawingml/2006/main">
            <a:off x="174567" y="1101012"/>
            <a:ext cx="4770658" cy="307777"/>
          </a:xfrm>
          <a:prstGeom xmlns:a="http://schemas.openxmlformats.org/drawingml/2006/main" prst="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b="1">
                <a:solidFill>
                  <a:schemeClr val="bg1"/>
                </a:solidFill>
              </a:rPr>
              <a:t>서비스 개발에 활용한 한국관광공사 </a:t>
            </a:r>
            <a:r>
              <a:rPr sz="1400" b="1">
                <a:solidFill>
                  <a:schemeClr val="bg1"/>
                </a:solidFill>
              </a:rPr>
              <a:t>OpenAPI </a:t>
            </a:r>
            <a:r>
              <a:rPr sz="1400" b="1">
                <a:solidFill>
                  <a:schemeClr val="bg1"/>
                </a:solidFill>
              </a:rPr>
              <a:t>리스트</a:t>
            </a:r>
            <a:endParaRPr sz="1400" b="1">
              <a:solidFill>
                <a:schemeClr val="bg1"/>
              </a:solidFill>
            </a:endParaRPr>
          </a:p>
        </p:txBody>
      </p:sp>
      <p:graphicFrame>
        <p:nvGraphicFramePr>
          <p:cNvPr id="6" name="표 6"/>
          <p:cNvGraphicFramePr/>
          <p:nvPr/>
        </p:nvGraphicFramePr>
        <p:xfrm>
          <a:off xmlns:a="http://schemas.openxmlformats.org/drawingml/2006/main" x="174566" y="1646098"/>
          <a:ext xmlns:a="http://schemas.openxmlformats.org/drawingml/2006/main" cx="11628657" cy="3789680"/>
        </p:xfrm>
        <a:graphic xmlns:a="http://schemas.openxmlformats.org/drawingml/2006/main">
          <a:graphicData uri="http://schemas.openxmlformats.org/drawingml/2006/table">
            <a:tbl>
              <a:tblPr firstRow="1" bandRow="1">
                <a:tableStyleId>{5C22544A-7EE6-4342-B048-85BDC9FD1C3A}</a:tableStyleId>
              </a:tblPr>
              <a:tblGrid>
                <a:gridCol w="821150"/>
                <a:gridCol w="1816388"/>
                <a:gridCol w="8991119"/>
              </a:tblGrid>
              <a:tr h="370840">
                <a:tc rowSpan="2">
                  <a:txBody>
                    <a:bodyPr/>
                    <a:lstStyle/>
                    <a:p>
                      <a:pPr algn="ctr">
                        <a:buNone/>
                      </a:pPr>
                      <a:r>
                        <a:rPr sz="3200" b="1">
                          <a:solidFill>
                            <a:schemeClr val="tx1"/>
                          </a:solidFill>
                        </a:rPr>
                        <a:t>1</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l" defTabSz="914400">
                        <a:lnSpc>
                          <a:spcPct val="100000"/>
                        </a:lnSpc>
                        <a:spcBef>
                          <a:spcPts val="0"/>
                        </a:spcBef>
                        <a:spcAft>
                          <a:spcPts val="0"/>
                        </a:spcAft>
                        <a:buClrTx/>
                        <a:buSzTx/>
                        <a:buFontTx/>
                        <a:buNone/>
                      </a:pPr>
                      <a:r>
                        <a:rPr sz="1300">
                          <a:solidFill>
                            <a:srgbClr val="000000"/>
                          </a:solidFill>
                        </a:rPr>
                        <a:t>한국관광공사 국문 관광정보 서비스 (지역 목록·공통·소개·이미지)</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7084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marL="0" marR="0" lvl="0" indent="0" algn="just" defTabSz="914400">
                        <a:lnSpc>
                          <a:spcPct val="100000"/>
                        </a:lnSpc>
                        <a:spcBef>
                          <a:spcPts val="0"/>
                        </a:spcBef>
                        <a:spcAft>
                          <a:spcPts val="0"/>
                        </a:spcAft>
                        <a:buClrTx/>
                        <a:buSzTx/>
                        <a:buFontTx/>
                        <a:buNone/>
                      </a:pPr>
                      <a:r>
                        <a:rPr sz="1200">
                          <a:solidFill>
                            <a:srgbClr val="000000"/>
                          </a:solidFill>
                        </a:rPr>
                        <a:t>areaBasedList2, detailCommon2, detailIntro2, detailImage2로 수원화성 일대 장소 목록·상세·운영정보·이미지를 구성</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2</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300">
                          <a:solidFill>
                            <a:srgbClr val="000000"/>
                          </a:solidFill>
                        </a:rPr>
                        <a:t>한국관광공사 국문 관광정보 서비스 (행사정보)</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buNone/>
                      </a:pPr>
                      <a:endParaRPr/>
                    </a:p>
                  </a:txBody>
                  <a:tcPr marL="91440" marR="91440" marT="45720" marB="45720"/>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just">
                        <a:buNone/>
                      </a:pPr>
                      <a:r>
                        <a:rPr sz="1200">
                          <a:solidFill>
                            <a:srgbClr val="000000"/>
                          </a:solidFill>
                        </a:rPr>
                        <a:t>searchFestival2로 수원 지역 행사와 축제의 일정·장소 정보를 수집하여 공개 웹과 관리자 화면에 반영</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3</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300">
                          <a:solidFill>
                            <a:srgbClr val="000000"/>
                          </a:solidFill>
                        </a:rPr>
                        <a:t>한국관광공사 관광지 혼잡도·방문자 추이 예측 정보</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just">
                        <a:buNone/>
                      </a:pPr>
                      <a:r>
                        <a:rPr sz="1200">
                          <a:solidFill>
                            <a:srgbClr val="000000"/>
                          </a:solidFill>
                        </a:rPr>
                        <a:t>하루 단위 혼잡 예측을 활용해 지금 가기 좋은 스팟을 안내합니다. 현장 실시간 인원으로 표현하지 않습니다.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chemeClr val="tx1"/>
                          </a:solidFill>
                        </a:rPr>
                        <a:t>4</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chemeClr val="bg1"/>
                          </a:solidFill>
                        </a:rPr>
                        <a:t>API</a:t>
                      </a:r>
                      <a:r>
                        <a:rPr b="1">
                          <a:solidFill>
                            <a:schemeClr val="bg1"/>
                          </a:solidFill>
                        </a:rPr>
                        <a:t>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300">
                          <a:solidFill>
                            <a:srgbClr val="000000"/>
                          </a:solidFill>
                        </a:rPr>
                        <a:t>한국관광공사 반려동물 동반여행 서비스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endParaRPr sz="3200"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chemeClr val="tx1"/>
                    </a:solidFill>
                  </a:tcPr>
                </a:tc>
                <a:tc>
                  <a:txBody>
                    <a:bodyPr/>
                    <a:lstStyle/>
                    <a:p>
                      <a:pPr algn="ctr">
                        <a:buNone/>
                      </a:pPr>
                      <a:r>
                        <a:rPr b="1">
                          <a:solidFill>
                            <a:schemeClr val="bg1"/>
                          </a:solidFill>
                        </a:rPr>
                        <a:t>상세설명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just">
                        <a:buNone/>
                      </a:pPr>
                      <a:r>
                        <a:rPr sz="1200">
                          <a:solidFill>
                            <a:srgbClr val="000000"/>
                          </a:solidFill>
                        </a:rPr>
                        <a:t>장소별 반려동물 동반 가능 여부와 정책 정보를 수집합니다. 반려동반 서브코스는 앱 개발 중인 발전 항목입니다.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rowSpan="2">
                  <a:txBody>
                    <a:bodyPr/>
                    <a:lstStyle/>
                    <a:p>
                      <a:pPr algn="ctr">
                        <a:buNone/>
                      </a:pPr>
                      <a:r>
                        <a:rPr sz="3200" b="1">
                          <a:solidFill>
                            <a:srgbClr val="000000"/>
                          </a:solidFill>
                        </a:rPr>
                        <a:t>5</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rgbClr val="000000"/>
                          </a:solidFill>
                        </a:rPr>
                        <a:t>API명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l">
                        <a:buNone/>
                      </a:pPr>
                      <a:r>
                        <a:rPr sz="1300">
                          <a:solidFill>
                            <a:srgbClr val="000000"/>
                          </a:solidFill>
                        </a:rPr>
                        <a:t>한국관광공사 무장애 여행정보(detailWithTour2)</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381000">
                <a:tc vMerge="1">
                  <a:txBody>
                    <a:bodyPr/>
                    <a:lstStyle/>
                    <a:p>
                      <a:pPr algn="ctr">
                        <a:buNone/>
                      </a:pPr>
                      <a:r>
                        <a:rPr>
                          <a:solidFill>
                            <a:srgbClr val="000000"/>
                          </a:solidFill>
                        </a:rPr>
                        <a:t/>
                      </a:r>
                      <a:endParaRPr sz="3200" b="1">
                        <a:solidFill>
                          <a:schemeClr val="tx1"/>
                        </a:solidFill>
                      </a:endParaRPr>
                    </a:p>
                  </a:txBody>
                  <a:tcPr marL="91440" marR="91440" marT="45720" marB="45720" anchor="ctr">
                    <a:lnL w="12700" cmpd="sng">
                      <a:noFill/>
                      <a:prstDash val="solid"/>
                    </a:lnL>
                    <a:lnR w="12700" cmpd="sng">
                      <a:solidFill>
                        <a:schemeClr val="bg1">
                          <a:lumMod val="85000"/>
                        </a:schemeClr>
                      </a:solidFill>
                      <a:prstDash val="solid"/>
                    </a:lnR>
                    <a:lnT w="12700" cmpd="sng">
                      <a:noFill/>
                      <a:prstDash val="solid"/>
                    </a:lnT>
                    <a:lnB w="12700" cmpd="sng">
                      <a:noFill/>
                      <a:prstDash val="solid"/>
                    </a:lnB>
                    <a:noFill/>
                  </a:tcPr>
                </a:tc>
                <a:tc>
                  <a:txBody>
                    <a:bodyPr/>
                    <a:lstStyle/>
                    <a:p>
                      <a:pPr algn="ctr">
                        <a:buNone/>
                      </a:pPr>
                      <a:r>
                        <a:rPr b="1">
                          <a:solidFill>
                            <a:srgbClr val="000000"/>
                          </a:solidFill>
                        </a:rPr>
                        <a:t>API명</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A401"/>
                    </a:solidFill>
                  </a:tcPr>
                </a:tc>
                <a:tc>
                  <a:txBody>
                    <a:bodyPr/>
                    <a:lstStyle/>
                    <a:p>
                      <a:pPr algn="just">
                        <a:buNone/>
                      </a:pPr>
                      <a:r>
                        <a:rPr sz="1200">
                          <a:solidFill>
                            <a:srgbClr val="000000"/>
                          </a:solidFill>
                        </a:rPr>
                        <a:t>한국관광공사 오디(Odii) 관광지 오디오 해설</a:t>
                      </a:r>
                      <a:endParaRPr b="0">
                        <a:solidFill>
                          <a:schemeClr val="tx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22229470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2"/>
          <p:cNvGraphicFramePr/>
          <p:nvPr/>
        </p:nvGraphicFramePr>
        <p:xfrm>
          <a:off xmlns:a="http://schemas.openxmlformats.org/drawingml/2006/main" x="287250" y="1218429"/>
          <a:ext xmlns:a="http://schemas.openxmlformats.org/drawingml/2006/main" cx="11649825" cy="5074306"/>
        </p:xfrm>
        <a:graphic xmlns:a="http://schemas.openxmlformats.org/drawingml/2006/main">
          <a:graphicData uri="http://schemas.openxmlformats.org/drawingml/2006/table">
            <a:tbl>
              <a:tblPr firstRow="1" bandRow="1">
                <a:tableStyleId>{5C22544A-7EE6-4342-B048-85BDC9FD1C3A}</a:tableStyleId>
              </a:tblPr>
              <a:tblGrid>
                <a:gridCol w="1955222"/>
                <a:gridCol w="9694603"/>
              </a:tblGrid>
              <a:tr h="2466075">
                <a:tc>
                  <a:txBody>
                    <a:bodyPr/>
                    <a:lstStyle/>
                    <a:p>
                      <a:pPr algn="ctr">
                        <a:buNone/>
                      </a:pPr>
                      <a:r>
                        <a:rPr b="1">
                          <a:solidFill>
                            <a:schemeClr val="bg1"/>
                          </a:solidFill>
                        </a:rPr>
                        <a:t>차별성</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lvl="0" indent="0" algn="just">
                        <a:spcBef>
                          <a:spcPts val="0"/>
                        </a:spcBef>
                        <a:spcAft>
                          <a:spcPts val="0"/>
                        </a:spcAft>
                        <a:buNone/>
                      </a:pPr>
                      <a:r>
                        <a:rPr sz="1500">
                          <a:solidFill>
                            <a:srgbClr val="000000"/>
                          </a:solidFill>
                        </a:rPr>
                        <a:t>한국관광공사 OpenAPI에 수원화성 야간 코스, 정조 스토리, 도착 체크인 콘텐츠를 결합했습니다. 공개 웹에서는 코스·장소·행사·혼잡도 정보를 한눈에 비교하고, 관리자 화면에서는 관광정보·행사·혼잡도·반려동물·무장애·오디오 수집 상태를 확인할 수 있습니다. 모바일 앱은 친구가 계속 개발 중이며 출시 빌드에서 기능을 최종 검증합니다.</a:t>
                      </a:r>
                      <a:endParaRPr sz="1800" b="0">
                        <a:solidFill>
                          <a:srgbClr val="FF0000"/>
                        </a:solidFill>
                        <a:latin typeface="+mn-lt"/>
                        <a:ea typeface="+mn-lt"/>
                        <a:cs typeface="+mn-lt"/>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r h="2608231">
                <a:tc>
                  <a:txBody>
                    <a:bodyPr/>
                    <a:lstStyle/>
                    <a:p>
                      <a:pPr algn="ctr">
                        <a:buNone/>
                      </a:pPr>
                      <a:r>
                        <a:rPr b="1">
                          <a:solidFill>
                            <a:schemeClr val="bg1"/>
                          </a:solidFill>
                        </a:rPr>
                        <a:t>발전계획</a:t>
                      </a:r>
                      <a:endParaRPr b="1">
                        <a:solidFill>
                          <a:schemeClr val="bg1"/>
                        </a:solidFill>
                      </a:endParaRP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solidFill>
                      <a:srgbClr val="FF6F00"/>
                    </a:solidFill>
                  </a:tcPr>
                </a:tc>
                <a:tc>
                  <a:txBody>
                    <a:bodyPr/>
                    <a:lstStyle/>
                    <a:p>
                      <a:pPr marL="0" marR="0" lvl="0" indent="0" algn="just" defTabSz="914400">
                        <a:lnSpc>
                          <a:spcPct val="100000"/>
                        </a:lnSpc>
                        <a:spcBef>
                          <a:spcPts val="0"/>
                        </a:spcBef>
                        <a:spcAft>
                          <a:spcPts val="0"/>
                        </a:spcAft>
                        <a:buClrTx/>
                        <a:buSzTx/>
                        <a:buFontTx/>
                        <a:buNone/>
                      </a:pPr>
                      <a:r>
                        <a:rPr sz="1500">
                          <a:solidFill>
                            <a:srgbClr val="000000"/>
                          </a:solidFill>
                        </a:rPr>
                        <a:t>① 앱 출시 빌드에 현재 웹 데이터 계약과 코스·장소 기능을 연결하고, ② 무장애·오디오 정보 노출을 확장하며, ③ 지역 상점·체험처와 할인 쿠폰·로컬패스·리워드 제휴를 검토합니다. 이후 이용 패턴과 시간대에 맞춘 개인화 코스를 만들고 수원 외 역사문화·야간관광 지역으로 확장합니다. 수익모델은 제휴 수수료·지역 패스·선택형 광고를 발전계획으로 검토하며, 현재 기능으로 표현하지 않습니다.</a:t>
                      </a:r>
                    </a:p>
                  </a:txBody>
                  <a:tcPr marL="91440" marR="91440" marT="45720" marB="45720" anchor="ctr">
                    <a:lnL w="12700" cmpd="sng">
                      <a:solidFill>
                        <a:schemeClr val="bg1">
                          <a:lumMod val="85000"/>
                        </a:schemeClr>
                      </a:solidFill>
                      <a:prstDash val="solid"/>
                    </a:lnL>
                    <a:lnR w="12700" cmpd="sng">
                      <a:solidFill>
                        <a:schemeClr val="bg1">
                          <a:lumMod val="85000"/>
                        </a:schemeClr>
                      </a:solidFill>
                      <a:prstDash val="solid"/>
                    </a:lnR>
                    <a:lnT w="12700" cmpd="sng">
                      <a:solidFill>
                        <a:schemeClr val="bg1">
                          <a:lumMod val="85000"/>
                        </a:schemeClr>
                      </a:solidFill>
                      <a:prstDash val="solid"/>
                    </a:lnT>
                    <a:lnB w="12700" cmpd="sng">
                      <a:solidFill>
                        <a:schemeClr val="bg1">
                          <a:lumMod val="85000"/>
                        </a:schemeClr>
                      </a:solidFill>
                      <a:prstDash val="solid"/>
                    </a:lnB>
                    <a:noFill/>
                  </a:tcPr>
                </a:tc>
              </a:tr>
            </a:tbl>
          </a:graphicData>
        </a:graphic>
      </p:graphicFrame>
    </p:spTree>
    <p:extLst>
      <p:ext uri="{BB962C8B-B14F-4D97-AF65-F5344CB8AC3E}">
        <p14:creationId xmlns:p14="http://schemas.microsoft.com/office/powerpoint/2010/main" val="3988568962"/>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2026-09-19T04:48:32.7240000Z</dcterms:created>
  <dcterms:modified xsi:type="dcterms:W3CDTF">2026-09-19T04:48:32.7240000Z</dcterms:modified>
</coreProperties>
</file>