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1"/>
  </p:notesMasterIdLst>
  <p:sldIdLst>
    <p:sldId id="259" r:id="rId2"/>
    <p:sldId id="258" r:id="rId3"/>
    <p:sldId id="267" r:id="rId4"/>
    <p:sldId id="268" r:id="rId5"/>
    <p:sldId id="263" r:id="rId6"/>
    <p:sldId id="260" r:id="rId7"/>
    <p:sldId id="269" r:id="rId16"/>
    <p:sldId id="270" r:id="rId17"/>
    <p:sldId id="271" r:id="rId18"/>
    <p:sldId id="264" r:id="rId8"/>
    <p:sldId id="266" r:id="rId10"/>
  </p:sldIdLst>
  <p:sldSz cx="12192000" cy="6858000"/>
  <p:notesSz cx="6858000" cy="9144000"/>
  <p:defaultText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00FF"/>
    <a:srgbClr val="FF6F00"/>
    <a:srgbClr val="FFA401"/>
    <a:srgbClr val="FFFDE7"/>
    <a:srgbClr val="FFFF9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보통 스타일 2 - 강조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987" autoAdjust="0"/>
    <p:restoredTop sz="94660"/>
  </p:normalViewPr>
  <p:slideViewPr>
    <p:cSldViewPr snapToGrid="0">
      <p:cViewPr>
        <p:scale>
          <a:sx n="100" d="100"/>
          <a:sy n="100" d="100"/>
        </p:scale>
        <p:origin x="936" y="39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10.xml"/><Relationship Id="rId10" Type="http://schemas.openxmlformats.org/officeDocument/2006/relationships/slide" Target="slides/slide11.xml"/><Relationship Id="rId11" Type="http://schemas.openxmlformats.org/officeDocument/2006/relationships/notesMaster" Target="notesMasters/notesMaster1.xml"/><Relationship Id="rId12" Type="http://schemas.openxmlformats.org/officeDocument/2006/relationships/presProps" Target="presProps.xml"/><Relationship Id="rId13" Type="http://schemas.openxmlformats.org/officeDocument/2006/relationships/viewProps" Target="viewProps.xml"/><Relationship Id="rId14" Type="http://schemas.openxmlformats.org/officeDocument/2006/relationships/theme" Target="theme/theme1.xml"/><Relationship Id="rId15" Type="http://schemas.openxmlformats.org/officeDocument/2006/relationships/tableStyles" Target="tableStyles.xml"/><Relationship Id="rId16" Type="http://schemas.openxmlformats.org/officeDocument/2006/relationships/slide" Target="slides/slide7.xml"/><Relationship Id="rId17" Type="http://schemas.openxmlformats.org/officeDocument/2006/relationships/slide" Target="slides/slide8.xml"/><Relationship Id="rId18" Type="http://schemas.openxmlformats.org/officeDocument/2006/relationships/slide" Target="slides/slide9.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머리글 개체 틀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ko-KR" altLang="en-US"/>
          </a:p>
        </p:txBody>
      </p:sp>
      <p:sp>
        <p:nvSpPr>
          <p:cNvPr id="3" name="날짜 개체 틀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B3549DB-4EF3-40B0-A785-8572249070D6}" type="datetimeFigureOut">
              <a:rPr lang="ko-KR" altLang="en-US" smtClean="0"/>
              <a:t>2026-07-29</a:t>
            </a:fld>
            <a:endParaRPr lang="ko-KR" altLang="en-US"/>
          </a:p>
        </p:txBody>
      </p:sp>
      <p:sp>
        <p:nvSpPr>
          <p:cNvPr id="4" name="슬라이드 이미지 개체 틀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ko-KR" altLang="en-US"/>
          </a:p>
        </p:txBody>
      </p:sp>
      <p:sp>
        <p:nvSpPr>
          <p:cNvPr id="5" name="슬라이드 노트 개체 틀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ko-KR" altLang="en-US" smtClean="0"/>
              <a:t>마스터 텍스트 스타일 편집</a:t>
            </a:r>
          </a:p>
          <a:p>
            <a:pPr lvl="1"/>
            <a:r>
              <a:rPr lang="ko-KR" altLang="en-US" smtClean="0"/>
              <a:t>둘째 수준</a:t>
            </a:r>
          </a:p>
          <a:p>
            <a:pPr lvl="2"/>
            <a:r>
              <a:rPr lang="ko-KR" altLang="en-US" smtClean="0"/>
              <a:t>셋째 수준</a:t>
            </a:r>
          </a:p>
          <a:p>
            <a:pPr lvl="3"/>
            <a:r>
              <a:rPr lang="ko-KR" altLang="en-US" smtClean="0"/>
              <a:t>넷째 수준</a:t>
            </a:r>
          </a:p>
          <a:p>
            <a:pPr lvl="4"/>
            <a:r>
              <a:rPr lang="ko-KR" altLang="en-US" smtClean="0"/>
              <a:t>다섯째 수준</a:t>
            </a:r>
            <a:endParaRPr lang="ko-KR" altLang="en-US"/>
          </a:p>
        </p:txBody>
      </p:sp>
      <p:sp>
        <p:nvSpPr>
          <p:cNvPr id="6" name="바닥글 개체 틀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ko-KR" altLang="en-US"/>
          </a:p>
        </p:txBody>
      </p:sp>
      <p:sp>
        <p:nvSpPr>
          <p:cNvPr id="7" name="슬라이드 번호 개체 틀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E4097B3-0D7D-4E86-933F-EBF9BA5F97E0}" type="slidenum">
              <a:rPr lang="ko-KR" altLang="en-US" smtClean="0"/>
              <a:t>‹#›</a:t>
            </a:fld>
            <a:endParaRPr lang="ko-KR" altLang="en-US"/>
          </a:p>
        </p:txBody>
      </p:sp>
    </p:spTree>
    <p:extLst>
      <p:ext uri="{BB962C8B-B14F-4D97-AF65-F5344CB8AC3E}">
        <p14:creationId xmlns:p14="http://schemas.microsoft.com/office/powerpoint/2010/main" val="193217217"/>
      </p:ext>
    </p:extLst>
  </p:cSld>
  <p:clrMap bg1="lt1" tx1="dk1" bg2="lt2" tx2="dk2" accent1="accent1" accent2="accent2" accent3="accent3" accent4="accent4" accent5="accent5" accent6="accent6" hlink="hlink" folHlink="folHlink"/>
  <p:notesStyle>
    <a:lvl1pPr marL="0" algn="l" defTabSz="914400" rtl="0" eaLnBrk="1" latinLnBrk="1" hangingPunct="1">
      <a:defRPr sz="1200" kern="1200">
        <a:solidFill>
          <a:schemeClr val="tx1"/>
        </a:solidFill>
        <a:latin typeface="+mn-lt"/>
        <a:ea typeface="+mn-ea"/>
        <a:cs typeface="+mn-cs"/>
      </a:defRPr>
    </a:lvl1pPr>
    <a:lvl2pPr marL="457200" algn="l" defTabSz="914400" rtl="0" eaLnBrk="1" latinLnBrk="1" hangingPunct="1">
      <a:defRPr sz="1200" kern="1200">
        <a:solidFill>
          <a:schemeClr val="tx1"/>
        </a:solidFill>
        <a:latin typeface="+mn-lt"/>
        <a:ea typeface="+mn-ea"/>
        <a:cs typeface="+mn-cs"/>
      </a:defRPr>
    </a:lvl2pPr>
    <a:lvl3pPr marL="914400" algn="l" defTabSz="914400" rtl="0" eaLnBrk="1" latinLnBrk="1" hangingPunct="1">
      <a:defRPr sz="1200" kern="1200">
        <a:solidFill>
          <a:schemeClr val="tx1"/>
        </a:solidFill>
        <a:latin typeface="+mn-lt"/>
        <a:ea typeface="+mn-ea"/>
        <a:cs typeface="+mn-cs"/>
      </a:defRPr>
    </a:lvl3pPr>
    <a:lvl4pPr marL="1371600" algn="l" defTabSz="914400" rtl="0" eaLnBrk="1" latinLnBrk="1" hangingPunct="1">
      <a:defRPr sz="1200" kern="1200">
        <a:solidFill>
          <a:schemeClr val="tx1"/>
        </a:solidFill>
        <a:latin typeface="+mn-lt"/>
        <a:ea typeface="+mn-ea"/>
        <a:cs typeface="+mn-cs"/>
      </a:defRPr>
    </a:lvl4pPr>
    <a:lvl5pPr marL="1828800" algn="l" defTabSz="914400" rtl="0" eaLnBrk="1" latinLnBrk="1" hangingPunct="1">
      <a:defRPr sz="1200" kern="1200">
        <a:solidFill>
          <a:schemeClr val="tx1"/>
        </a:solidFill>
        <a:latin typeface="+mn-lt"/>
        <a:ea typeface="+mn-ea"/>
        <a:cs typeface="+mn-cs"/>
      </a:defRPr>
    </a:lvl5pPr>
    <a:lvl6pPr marL="2286000" algn="l" defTabSz="914400" rtl="0" eaLnBrk="1" latinLnBrk="1" hangingPunct="1">
      <a:defRPr sz="1200" kern="1200">
        <a:solidFill>
          <a:schemeClr val="tx1"/>
        </a:solidFill>
        <a:latin typeface="+mn-lt"/>
        <a:ea typeface="+mn-ea"/>
        <a:cs typeface="+mn-cs"/>
      </a:defRPr>
    </a:lvl6pPr>
    <a:lvl7pPr marL="2743200" algn="l" defTabSz="914400" rtl="0" eaLnBrk="1" latinLnBrk="1" hangingPunct="1">
      <a:defRPr sz="1200" kern="1200">
        <a:solidFill>
          <a:schemeClr val="tx1"/>
        </a:solidFill>
        <a:latin typeface="+mn-lt"/>
        <a:ea typeface="+mn-ea"/>
        <a:cs typeface="+mn-cs"/>
      </a:defRPr>
    </a:lvl7pPr>
    <a:lvl8pPr marL="3200400" algn="l" defTabSz="914400" rtl="0" eaLnBrk="1" latinLnBrk="1" hangingPunct="1">
      <a:defRPr sz="1200" kern="1200">
        <a:solidFill>
          <a:schemeClr val="tx1"/>
        </a:solidFill>
        <a:latin typeface="+mn-lt"/>
        <a:ea typeface="+mn-ea"/>
        <a:cs typeface="+mn-cs"/>
      </a:defRPr>
    </a:lvl8pPr>
    <a:lvl9pPr marL="3657600" algn="l" defTabSz="914400" rtl="0" eaLnBrk="1" latinLnBrk="1"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pn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표지">
    <p:spTree>
      <p:nvGrpSpPr>
        <p:cNvPr id="1" name=""/>
        <p:cNvGrpSpPr/>
        <p:nvPr/>
      </p:nvGrpSpPr>
      <p:grpSpPr>
        <a:xfrm>
          <a:off x="0" y="0"/>
          <a:ext cx="0" cy="0"/>
          <a:chOff x="0" y="0"/>
          <a:chExt cx="0" cy="0"/>
        </a:xfrm>
      </p:grpSpPr>
      <p:pic>
        <p:nvPicPr>
          <p:cNvPr id="2" name="그림 1"/>
          <p:cNvPicPr>
            <a:picLocks noChangeAspect="1"/>
          </p:cNvPicPr>
          <p:nvPr userDrawn="1"/>
        </p:nvPicPr>
        <p:blipFill>
          <a:blip r:embed="rId2"/>
          <a:stretch>
            <a:fillRect/>
          </a:stretch>
        </p:blipFill>
        <p:spPr>
          <a:xfrm>
            <a:off x="0" y="0"/>
            <a:ext cx="12192000" cy="6858000"/>
          </a:xfrm>
          <a:prstGeom prst="rect">
            <a:avLst/>
          </a:prstGeom>
        </p:spPr>
      </p:pic>
    </p:spTree>
    <p:extLst>
      <p:ext uri="{BB962C8B-B14F-4D97-AF65-F5344CB8AC3E}">
        <p14:creationId xmlns:p14="http://schemas.microsoft.com/office/powerpoint/2010/main" val="657105540"/>
      </p:ext>
    </p:extLst>
  </p:cSld>
  <p:clrMapOvr>
    <a:masterClrMapping/>
  </p:clrMapOvr>
  <p:timing>
    <p:tnLst>
      <p:par>
        <p:cTn id="1" dur="indefinite" restart="never" nodeType="tmRoot"/>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type="blank" preserve="1">
  <p:cSld name="서비스 소개">
    <p:spTree>
      <p:nvGrpSpPr>
        <p:cNvPr id="1" name=""/>
        <p:cNvGrpSpPr/>
        <p:nvPr/>
      </p:nvGrpSpPr>
      <p:grpSpPr>
        <a:xfrm>
          <a:off x="0" y="0"/>
          <a:ext cx="0" cy="0"/>
          <a:chOff x="0" y="0"/>
          <a:chExt cx="0" cy="0"/>
        </a:xfrm>
      </p:grpSpPr>
      <p:pic>
        <p:nvPicPr>
          <p:cNvPr id="5" name="그림 4"/>
          <p:cNvPicPr>
            <a:picLocks noChangeAspect="1"/>
          </p:cNvPicPr>
          <p:nvPr userDrawn="1"/>
        </p:nvPicPr>
        <p:blipFill>
          <a:blip r:embed="rId2"/>
          <a:stretch>
            <a:fillRect/>
          </a:stretch>
        </p:blipFill>
        <p:spPr>
          <a:xfrm>
            <a:off x="0" y="0"/>
            <a:ext cx="12192000" cy="6857999"/>
          </a:xfrm>
          <a:prstGeom prst="rect">
            <a:avLst/>
          </a:prstGeom>
        </p:spPr>
      </p:pic>
    </p:spTree>
    <p:extLst>
      <p:ext uri="{BB962C8B-B14F-4D97-AF65-F5344CB8AC3E}">
        <p14:creationId xmlns:p14="http://schemas.microsoft.com/office/powerpoint/2010/main" val="3536223215"/>
      </p:ext>
    </p:extLst>
  </p:cSld>
  <p:clrMapOvr>
    <a:masterClrMapping/>
  </p:clrMapOvr>
  <p:timing>
    <p:tnLst>
      <p:par>
        <p:cTn id="1" dur="indefinite" restart="never" nodeType="tmRoot"/>
      </p:par>
    </p:tn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type="blank" preserve="1">
  <p:cSld name="지역 특화 서비스 구현 세부내용">
    <p:spTree>
      <p:nvGrpSpPr>
        <p:cNvPr id="1" name=""/>
        <p:cNvGrpSpPr/>
        <p:nvPr/>
      </p:nvGrpSpPr>
      <p:grpSpPr>
        <a:xfrm>
          <a:off x="0" y="0"/>
          <a:ext cx="0" cy="0"/>
          <a:chOff x="0" y="0"/>
          <a:chExt cx="0" cy="0"/>
        </a:xfrm>
      </p:grpSpPr>
      <p:pic>
        <p:nvPicPr>
          <p:cNvPr id="5" name="그림 4"/>
          <p:cNvPicPr>
            <a:picLocks noChangeAspect="1"/>
          </p:cNvPicPr>
          <p:nvPr userDrawn="1"/>
        </p:nvPicPr>
        <p:blipFill>
          <a:blip r:embed="rId2"/>
          <a:stretch>
            <a:fillRect/>
          </a:stretch>
        </p:blipFill>
        <p:spPr>
          <a:xfrm>
            <a:off x="0" y="0"/>
            <a:ext cx="12192000" cy="6840835"/>
          </a:xfrm>
          <a:prstGeom prst="rect">
            <a:avLst/>
          </a:prstGeom>
        </p:spPr>
      </p:pic>
    </p:spTree>
    <p:extLst>
      <p:ext uri="{BB962C8B-B14F-4D97-AF65-F5344CB8AC3E}">
        <p14:creationId xmlns:p14="http://schemas.microsoft.com/office/powerpoint/2010/main" val="3679998643"/>
      </p:ext>
    </p:extLst>
  </p:cSld>
  <p:clrMapOvr>
    <a:masterClrMapping/>
  </p:clrMapOvr>
  <p:timing>
    <p:tnLst>
      <p:par>
        <p:cTn id="1" dur="indefinite" restart="never" nodeType="tmRoot"/>
      </p:par>
    </p:tnLst>
  </p:timing>
</p:sldLayout>
</file>

<file path=ppt/slideLayouts/slideLayout4.xml><?xml version="1.0" encoding="utf-8"?>
<p:sldLayout xmlns:a="http://schemas.openxmlformats.org/drawingml/2006/main" xmlns:r="http://schemas.openxmlformats.org/officeDocument/2006/relationships" xmlns:p="http://schemas.openxmlformats.org/presentationml/2006/main" type="blank" preserve="1">
  <p:cSld name="서비스 핵심 기능별 흐름도">
    <p:spTree>
      <p:nvGrpSpPr>
        <p:cNvPr id="1" name=""/>
        <p:cNvGrpSpPr/>
        <p:nvPr/>
      </p:nvGrpSpPr>
      <p:grpSpPr>
        <a:xfrm>
          <a:off x="0" y="0"/>
          <a:ext cx="0" cy="0"/>
          <a:chOff x="0" y="0"/>
          <a:chExt cx="0" cy="0"/>
        </a:xfrm>
      </p:grpSpPr>
      <p:pic>
        <p:nvPicPr>
          <p:cNvPr id="5" name="그림 4"/>
          <p:cNvPicPr>
            <a:picLocks noChangeAspect="1"/>
          </p:cNvPicPr>
          <p:nvPr userDrawn="1"/>
        </p:nvPicPr>
        <p:blipFill>
          <a:blip r:embed="rId2"/>
          <a:stretch>
            <a:fillRect/>
          </a:stretch>
        </p:blipFill>
        <p:spPr>
          <a:xfrm>
            <a:off x="13438" y="18574"/>
            <a:ext cx="12165123" cy="6839426"/>
          </a:xfrm>
          <a:prstGeom prst="rect">
            <a:avLst/>
          </a:prstGeom>
        </p:spPr>
      </p:pic>
    </p:spTree>
    <p:extLst>
      <p:ext uri="{BB962C8B-B14F-4D97-AF65-F5344CB8AC3E}">
        <p14:creationId xmlns:p14="http://schemas.microsoft.com/office/powerpoint/2010/main" val="1439664904"/>
      </p:ext>
    </p:extLst>
  </p:cSld>
  <p:clrMapOvr>
    <a:masterClrMapping/>
  </p:clrMapOvr>
  <p:timing>
    <p:tnLst>
      <p:par>
        <p:cTn id="1" dur="indefinite" restart="never" nodeType="tmRoot"/>
      </p:par>
    </p:tnLst>
  </p:timing>
</p:sldLayout>
</file>

<file path=ppt/slideLayouts/slideLayout5.xml><?xml version="1.0" encoding="utf-8"?>
<p:sldLayout xmlns:a="http://schemas.openxmlformats.org/drawingml/2006/main" xmlns:r="http://schemas.openxmlformats.org/officeDocument/2006/relationships" xmlns:p="http://schemas.openxmlformats.org/presentationml/2006/main" type="blank" preserve="1">
  <p:cSld name="데이터 활용(한국관광공사 OpenAPI)">
    <p:spTree>
      <p:nvGrpSpPr>
        <p:cNvPr id="1" name=""/>
        <p:cNvGrpSpPr/>
        <p:nvPr/>
      </p:nvGrpSpPr>
      <p:grpSpPr>
        <a:xfrm>
          <a:off x="0" y="0"/>
          <a:ext cx="0" cy="0"/>
          <a:chOff x="0" y="0"/>
          <a:chExt cx="0" cy="0"/>
        </a:xfrm>
      </p:grpSpPr>
      <p:pic>
        <p:nvPicPr>
          <p:cNvPr id="5" name="그림 4"/>
          <p:cNvPicPr>
            <a:picLocks noChangeAspect="1"/>
          </p:cNvPicPr>
          <p:nvPr userDrawn="1"/>
        </p:nvPicPr>
        <p:blipFill>
          <a:blip r:embed="rId2"/>
          <a:stretch>
            <a:fillRect/>
          </a:stretch>
        </p:blipFill>
        <p:spPr>
          <a:xfrm>
            <a:off x="3912" y="13811"/>
            <a:ext cx="12184175" cy="6830378"/>
          </a:xfrm>
          <a:prstGeom prst="rect">
            <a:avLst/>
          </a:prstGeom>
        </p:spPr>
      </p:pic>
    </p:spTree>
    <p:extLst>
      <p:ext uri="{BB962C8B-B14F-4D97-AF65-F5344CB8AC3E}">
        <p14:creationId xmlns:p14="http://schemas.microsoft.com/office/powerpoint/2010/main" val="2561228989"/>
      </p:ext>
    </p:extLst>
  </p:cSld>
  <p:clrMapOvr>
    <a:masterClrMapping/>
  </p:clrMapOvr>
  <p:timing>
    <p:tnLst>
      <p:par>
        <p:cTn id="1" dur="indefinite" restart="never" nodeType="tmRoot"/>
      </p:par>
    </p:tnLst>
  </p:timing>
</p:sldLayout>
</file>

<file path=ppt/slideLayouts/slideLayout6.xml><?xml version="1.0" encoding="utf-8"?>
<p:sldLayout xmlns:a="http://schemas.openxmlformats.org/drawingml/2006/main" xmlns:r="http://schemas.openxmlformats.org/officeDocument/2006/relationships" xmlns:p="http://schemas.openxmlformats.org/presentationml/2006/main" type="blank" preserve="1">
  <p:cSld name="데이터 활용(기타)">
    <p:spTree>
      <p:nvGrpSpPr>
        <p:cNvPr id="1" name=""/>
        <p:cNvGrpSpPr/>
        <p:nvPr/>
      </p:nvGrpSpPr>
      <p:grpSpPr>
        <a:xfrm>
          <a:off x="0" y="0"/>
          <a:ext cx="0" cy="0"/>
          <a:chOff x="0" y="0"/>
          <a:chExt cx="0" cy="0"/>
        </a:xfrm>
      </p:grpSpPr>
      <p:pic>
        <p:nvPicPr>
          <p:cNvPr id="5" name="그림 4"/>
          <p:cNvPicPr>
            <a:picLocks noChangeAspect="1"/>
          </p:cNvPicPr>
          <p:nvPr userDrawn="1"/>
        </p:nvPicPr>
        <p:blipFill>
          <a:blip r:embed="rId2"/>
          <a:stretch>
            <a:fillRect/>
          </a:stretch>
        </p:blipFill>
        <p:spPr>
          <a:xfrm>
            <a:off x="8675" y="9047"/>
            <a:ext cx="12174649" cy="6839905"/>
          </a:xfrm>
          <a:prstGeom prst="rect">
            <a:avLst/>
          </a:prstGeom>
        </p:spPr>
      </p:pic>
    </p:spTree>
    <p:extLst>
      <p:ext uri="{BB962C8B-B14F-4D97-AF65-F5344CB8AC3E}">
        <p14:creationId xmlns:p14="http://schemas.microsoft.com/office/powerpoint/2010/main" val="3509833825"/>
      </p:ext>
    </p:extLst>
  </p:cSld>
  <p:clrMapOvr>
    <a:masterClrMapping/>
  </p:clrMapOvr>
  <p:timing>
    <p:tnLst>
      <p:par>
        <p:cTn id="1" dur="indefinite" restart="never" nodeType="tmRoot"/>
      </p:par>
    </p:tnLst>
  </p:timing>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서비스 차별성&amp;발전계획">
    <p:spTree>
      <p:nvGrpSpPr>
        <p:cNvPr id="1" name=""/>
        <p:cNvGrpSpPr/>
        <p:nvPr/>
      </p:nvGrpSpPr>
      <p:grpSpPr>
        <a:xfrm>
          <a:off x="0" y="0"/>
          <a:ext cx="0" cy="0"/>
          <a:chOff x="0" y="0"/>
          <a:chExt cx="0" cy="0"/>
        </a:xfrm>
      </p:grpSpPr>
      <p:pic>
        <p:nvPicPr>
          <p:cNvPr id="5" name="그림 4"/>
          <p:cNvPicPr>
            <a:picLocks noChangeAspect="1"/>
          </p:cNvPicPr>
          <p:nvPr userDrawn="1"/>
        </p:nvPicPr>
        <p:blipFill>
          <a:blip r:embed="rId2"/>
          <a:stretch>
            <a:fillRect/>
          </a:stretch>
        </p:blipFill>
        <p:spPr>
          <a:xfrm>
            <a:off x="3912" y="4284"/>
            <a:ext cx="12184175" cy="6849431"/>
          </a:xfrm>
          <a:prstGeom prst="rect">
            <a:avLst/>
          </a:prstGeom>
        </p:spPr>
      </p:pic>
    </p:spTree>
    <p:extLst>
      <p:ext uri="{BB962C8B-B14F-4D97-AF65-F5344CB8AC3E}">
        <p14:creationId xmlns:p14="http://schemas.microsoft.com/office/powerpoint/2010/main" val="1459249390"/>
      </p:ext>
    </p:extLst>
  </p:cSld>
  <p:clrMapOvr>
    <a:masterClrMapping/>
  </p:clrMapOvr>
  <p:timing>
    <p:tnLst>
      <p:par>
        <p:cTn id="1" dur="indefinite" restart="never" nodeType="tmRoot"/>
      </p:par>
    </p:tnLst>
  </p:timing>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reserve="1">
  <p:cSld name="빈 화면">
    <p:spTree>
      <p:nvGrpSpPr>
        <p:cNvPr id="1" name=""/>
        <p:cNvGrpSpPr/>
        <p:nvPr/>
      </p:nvGrpSpPr>
      <p:grpSpPr>
        <a:xfrm>
          <a:off x="0" y="0"/>
          <a:ext cx="0" cy="0"/>
          <a:chOff x="0" y="0"/>
          <a:chExt cx="0" cy="0"/>
        </a:xfrm>
      </p:grpSpPr>
      <p:sp>
        <p:nvSpPr>
          <p:cNvPr id="2" name="날짜 개체 틀 1"/>
          <p:cNvSpPr>
            <a:spLocks noGrp="1"/>
          </p:cNvSpPr>
          <p:nvPr>
            <p:ph type="dt" sz="half" idx="10"/>
          </p:nvPr>
        </p:nvSpPr>
        <p:spPr/>
        <p:txBody>
          <a:bodyPr/>
          <a:lstStyle/>
          <a:p>
            <a:fld id="{4A38FB6A-844E-4645-B6B8-D2945F9927BB}" type="datetimeFigureOut">
              <a:rPr lang="ko-KR" altLang="en-US" smtClean="0"/>
              <a:t>2026-07-29</a:t>
            </a:fld>
            <a:endParaRPr lang="ko-KR" altLang="en-US"/>
          </a:p>
        </p:txBody>
      </p:sp>
      <p:sp>
        <p:nvSpPr>
          <p:cNvPr id="3" name="바닥글 개체 틀 2"/>
          <p:cNvSpPr>
            <a:spLocks noGrp="1"/>
          </p:cNvSpPr>
          <p:nvPr>
            <p:ph type="ftr" sz="quarter" idx="11"/>
          </p:nvPr>
        </p:nvSpPr>
        <p:spPr/>
        <p:txBody>
          <a:bodyPr/>
          <a:lstStyle/>
          <a:p>
            <a:endParaRPr lang="ko-KR" altLang="en-US"/>
          </a:p>
        </p:txBody>
      </p:sp>
      <p:sp>
        <p:nvSpPr>
          <p:cNvPr id="4" name="슬라이드 번호 개체 틀 3"/>
          <p:cNvSpPr>
            <a:spLocks noGrp="1"/>
          </p:cNvSpPr>
          <p:nvPr>
            <p:ph type="sldNum" sz="quarter" idx="12"/>
          </p:nvPr>
        </p:nvSpPr>
        <p:spPr/>
        <p:txBody>
          <a:bodyPr/>
          <a:lstStyle/>
          <a:p>
            <a:fld id="{38832701-68F9-4777-ABB9-C14E97591467}" type="slidenum">
              <a:rPr lang="ko-KR" altLang="en-US" smtClean="0"/>
              <a:t>‹#›</a:t>
            </a:fld>
            <a:endParaRPr lang="ko-KR" altLang="en-US"/>
          </a:p>
        </p:txBody>
      </p:sp>
      <p:grpSp>
        <p:nvGrpSpPr>
          <p:cNvPr id="14" name="그룹 13"/>
          <p:cNvGrpSpPr/>
          <p:nvPr userDrawn="1"/>
        </p:nvGrpSpPr>
        <p:grpSpPr>
          <a:xfrm>
            <a:off x="189807" y="256797"/>
            <a:ext cx="11812386" cy="580915"/>
            <a:chOff x="189807" y="256797"/>
            <a:chExt cx="11812386" cy="580915"/>
          </a:xfrm>
        </p:grpSpPr>
        <p:grpSp>
          <p:nvGrpSpPr>
            <p:cNvPr id="10" name="그룹 9"/>
            <p:cNvGrpSpPr/>
            <p:nvPr/>
          </p:nvGrpSpPr>
          <p:grpSpPr>
            <a:xfrm>
              <a:off x="8161715" y="256797"/>
              <a:ext cx="3840478" cy="340519"/>
              <a:chOff x="6733312" y="182882"/>
              <a:chExt cx="3840478" cy="340519"/>
            </a:xfrm>
          </p:grpSpPr>
          <p:sp>
            <p:nvSpPr>
              <p:cNvPr id="12" name="TextBox 11"/>
              <p:cNvSpPr txBox="1"/>
              <p:nvPr/>
            </p:nvSpPr>
            <p:spPr>
              <a:xfrm>
                <a:off x="6733312" y="182882"/>
                <a:ext cx="2419001" cy="340519"/>
              </a:xfrm>
              <a:prstGeom prst="roundRect">
                <a:avLst/>
              </a:prstGeom>
              <a:solidFill>
                <a:srgbClr val="FF6F00"/>
              </a:solidFill>
            </p:spPr>
            <p:txBody>
              <a:bodyPr wrap="square" rtlCol="0">
                <a:spAutoFit/>
              </a:bodyPr>
              <a:lstStyle/>
              <a:p>
                <a:pPr algn="ctr"/>
                <a:r>
                  <a:rPr lang="en-US" altLang="ko-KR" sz="1400" dirty="0" smtClean="0">
                    <a:solidFill>
                      <a:schemeClr val="bg1"/>
                    </a:solidFill>
                    <a:latin typeface="Noto Sans KR Medium" panose="020B0600000000000000" pitchFamily="34" charset="-127"/>
                    <a:ea typeface="Noto Sans KR Medium" panose="020B0600000000000000" pitchFamily="34" charset="-127"/>
                  </a:rPr>
                  <a:t>2026 </a:t>
                </a:r>
                <a:r>
                  <a:rPr lang="ko-KR" altLang="en-US" sz="1400" dirty="0" smtClean="0">
                    <a:solidFill>
                      <a:schemeClr val="bg1"/>
                    </a:solidFill>
                    <a:latin typeface="Noto Sans KR Medium" panose="020B0600000000000000" pitchFamily="34" charset="-127"/>
                    <a:ea typeface="Noto Sans KR Medium" panose="020B0600000000000000" pitchFamily="34" charset="-127"/>
                  </a:rPr>
                  <a:t>관광데이터 활용 공모전</a:t>
                </a:r>
                <a:endParaRPr lang="ko-KR" altLang="en-US" sz="1400" dirty="0">
                  <a:solidFill>
                    <a:schemeClr val="bg1"/>
                  </a:solidFill>
                  <a:latin typeface="Noto Sans KR Medium" panose="020B0600000000000000" pitchFamily="34" charset="-127"/>
                  <a:ea typeface="Noto Sans KR Medium" panose="020B0600000000000000" pitchFamily="34" charset="-127"/>
                </a:endParaRPr>
              </a:p>
            </p:txBody>
          </p:sp>
          <p:sp>
            <p:nvSpPr>
              <p:cNvPr id="13" name="TextBox 12"/>
              <p:cNvSpPr txBox="1"/>
              <p:nvPr/>
            </p:nvSpPr>
            <p:spPr>
              <a:xfrm>
                <a:off x="9246526" y="182882"/>
                <a:ext cx="1327264" cy="340519"/>
              </a:xfrm>
              <a:prstGeom prst="roundRect">
                <a:avLst/>
              </a:prstGeom>
              <a:solidFill>
                <a:srgbClr val="FFFDE7"/>
              </a:solidFill>
            </p:spPr>
            <p:txBody>
              <a:bodyPr wrap="square" rtlCol="0">
                <a:spAutoFit/>
              </a:bodyPr>
              <a:lstStyle/>
              <a:p>
                <a:pPr algn="ctr"/>
                <a:r>
                  <a:rPr lang="ko-KR" altLang="en-US" sz="1400" dirty="0" smtClean="0">
                    <a:latin typeface="Noto Sans KR Medium" panose="020B0600000000000000" pitchFamily="34" charset="-127"/>
                    <a:ea typeface="Noto Sans KR Medium" panose="020B0600000000000000" pitchFamily="34" charset="-127"/>
                  </a:rPr>
                  <a:t>웹〮앱 개발 부문</a:t>
                </a:r>
                <a:endParaRPr lang="ko-KR" altLang="en-US" sz="1400" dirty="0">
                  <a:latin typeface="Noto Sans KR Medium" panose="020B0600000000000000" pitchFamily="34" charset="-127"/>
                  <a:ea typeface="Noto Sans KR Medium" panose="020B0600000000000000" pitchFamily="34" charset="-127"/>
                </a:endParaRPr>
              </a:p>
            </p:txBody>
          </p:sp>
        </p:grpSp>
        <p:sp>
          <p:nvSpPr>
            <p:cNvPr id="11" name="직사각형 10"/>
            <p:cNvSpPr/>
            <p:nvPr/>
          </p:nvSpPr>
          <p:spPr>
            <a:xfrm>
              <a:off x="189807" y="791993"/>
              <a:ext cx="11812386" cy="45719"/>
            </a:xfrm>
            <a:prstGeom prst="rect">
              <a:avLst/>
            </a:prstGeom>
            <a:solidFill>
              <a:srgbClr val="FF6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spTree>
    <p:extLst>
      <p:ext uri="{BB962C8B-B14F-4D97-AF65-F5344CB8AC3E}">
        <p14:creationId xmlns:p14="http://schemas.microsoft.com/office/powerpoint/2010/main" val="1393944891"/>
      </p:ext>
    </p:extLst>
  </p:cSld>
  <p:clrMapOvr>
    <a:masterClrMapping/>
  </p:clrMapOvr>
  <p:timing>
    <p:tnLst>
      <p:par>
        <p:cTn id="1" dur="indefinite" restart="never" nodeType="tmRoot"/>
      </p:par>
    </p:tnLst>
  </p:timing>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제목 개체 틀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ko-KR" altLang="en-US" smtClean="0"/>
              <a:t>마스터 제목 스타일 편집</a:t>
            </a:r>
            <a:endParaRPr lang="ko-KR" altLang="en-US"/>
          </a:p>
        </p:txBody>
      </p:sp>
      <p:sp>
        <p:nvSpPr>
          <p:cNvPr id="3" name="텍스트 개체 틀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ko-KR" altLang="en-US" smtClean="0"/>
              <a:t>마스터 텍스트 스타일 편집</a:t>
            </a:r>
          </a:p>
          <a:p>
            <a:pPr lvl="1"/>
            <a:r>
              <a:rPr lang="ko-KR" altLang="en-US" smtClean="0"/>
              <a:t>둘째 수준</a:t>
            </a:r>
          </a:p>
          <a:p>
            <a:pPr lvl="2"/>
            <a:r>
              <a:rPr lang="ko-KR" altLang="en-US" smtClean="0"/>
              <a:t>셋째 수준</a:t>
            </a:r>
          </a:p>
          <a:p>
            <a:pPr lvl="3"/>
            <a:r>
              <a:rPr lang="ko-KR" altLang="en-US" smtClean="0"/>
              <a:t>넷째 수준</a:t>
            </a:r>
          </a:p>
          <a:p>
            <a:pPr lvl="4"/>
            <a:r>
              <a:rPr lang="ko-KR" altLang="en-US" smtClean="0"/>
              <a:t>다섯째 수준</a:t>
            </a:r>
            <a:endParaRPr lang="ko-KR" altLang="en-US"/>
          </a:p>
        </p:txBody>
      </p:sp>
      <p:sp>
        <p:nvSpPr>
          <p:cNvPr id="4" name="날짜 개체 틀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4A38FB6A-844E-4645-B6B8-D2945F9927BB}" type="datetimeFigureOut">
              <a:rPr lang="ko-KR" altLang="en-US" smtClean="0"/>
              <a:t>2026-07-29</a:t>
            </a:fld>
            <a:endParaRPr lang="ko-KR" altLang="en-US"/>
          </a:p>
        </p:txBody>
      </p:sp>
      <p:sp>
        <p:nvSpPr>
          <p:cNvPr id="5" name="바닥글 개체 틀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ko-KR" altLang="en-US"/>
          </a:p>
        </p:txBody>
      </p:sp>
      <p:sp>
        <p:nvSpPr>
          <p:cNvPr id="6" name="슬라이드 번호 개체 틀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8832701-68F9-4777-ABB9-C14E97591467}" type="slidenum">
              <a:rPr lang="ko-KR" altLang="en-US" smtClean="0"/>
              <a:t>‹#›</a:t>
            </a:fld>
            <a:endParaRPr lang="ko-KR" altLang="en-US"/>
          </a:p>
        </p:txBody>
      </p:sp>
    </p:spTree>
    <p:extLst>
      <p:ext uri="{BB962C8B-B14F-4D97-AF65-F5344CB8AC3E}">
        <p14:creationId xmlns:p14="http://schemas.microsoft.com/office/powerpoint/2010/main" val="2217332544"/>
      </p:ext>
    </p:extLst>
  </p:cSld>
  <p:clrMap bg1="lt1" tx1="dk1" bg2="lt2" tx2="dk2" accent1="accent1" accent2="accent2" accent3="accent3" accent4="accent4" accent5="accent5" accent6="accent6" hlink="hlink" folHlink="folHlink"/>
  <p:sldLayoutIdLst>
    <p:sldLayoutId id="2147483649" r:id="rId1"/>
    <p:sldLayoutId id="2147483655" r:id="rId2"/>
    <p:sldLayoutId id="2147483660" r:id="rId3"/>
    <p:sldLayoutId id="2147483661" r:id="rId4"/>
    <p:sldLayoutId id="2147483662" r:id="rId5"/>
    <p:sldLayoutId id="2147483663" r:id="rId6"/>
    <p:sldLayoutId id="2147483664" r:id="rId7"/>
    <p:sldLayoutId id="2147483665" r:id="rId8"/>
  </p:sldLayoutIdLst>
  <p:txStyles>
    <p:titleStyle>
      <a:lvl1pPr algn="l" defTabSz="914400" rtl="0" eaLnBrk="1" latinLnBrk="1"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1"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1"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1"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8.png"/><Relationship Id="rId3" Type="http://schemas.openxmlformats.org/officeDocument/2006/relationships/image" Target="../media/image9.png"/><Relationship Id="rId4" Type="http://schemas.openxmlformats.org/officeDocument/2006/relationships/image" Target="../media/image10.png"/><Relationship Id="rId5" Type="http://schemas.openxmlformats.org/officeDocument/2006/relationships/image" Target="../media/image11.png"/><Relationship Id="rId6" Type="http://schemas.openxmlformats.org/officeDocument/2006/relationships/image" Target="../media/image12.png"/><Relationship Id="rId7" Type="http://schemas.openxmlformats.org/officeDocument/2006/relationships/image" Target="../media/image13.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9.png"/><Relationship Id="rId3" Type="http://schemas.openxmlformats.org/officeDocument/2006/relationships/image" Target="../media/image10.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1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12.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13.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표 5"/>
          <p:cNvGraphicFramePr>
            <a:graphicFrameLocks noGrp="1"/>
          </p:cNvGraphicFramePr>
          <p:nvPr>
            <p:extLst>
              <p:ext uri="{D42A27DB-BD31-4B8C-83A1-F6EECF244321}">
                <p14:modId xmlns:p14="http://schemas.microsoft.com/office/powerpoint/2010/main" val="84002065"/>
              </p:ext>
            </p:extLst>
          </p:nvPr>
        </p:nvGraphicFramePr>
        <p:xfrm>
          <a:off x="527397" y="4563687"/>
          <a:ext cx="6712988" cy="1112210"/>
        </p:xfrm>
        <a:graphic>
          <a:graphicData uri="http://schemas.openxmlformats.org/drawingml/2006/table">
            <a:tbl>
              <a:tblPr firstRow="1" bandRow="1">
                <a:tableStyleId>{5C22544A-7EE6-4342-B048-85BDC9FD1C3A}</a:tableStyleId>
              </a:tblPr>
              <a:tblGrid>
                <a:gridCol w="1891569">
                  <a:extLst>
                    <a:ext uri="{9D8B030D-6E8A-4147-A177-3AD203B41FA5}">
                      <a16:colId xmlns:a16="http://schemas.microsoft.com/office/drawing/2014/main" val="2581860913"/>
                    </a:ext>
                  </a:extLst>
                </a:gridCol>
                <a:gridCol w="4821419">
                  <a:extLst>
                    <a:ext uri="{9D8B030D-6E8A-4147-A177-3AD203B41FA5}">
                      <a16:colId xmlns:a16="http://schemas.microsoft.com/office/drawing/2014/main" val="1059508984"/>
                    </a:ext>
                  </a:extLst>
                </a:gridCol>
              </a:tblGrid>
              <a:tr h="547792">
                <a:tc>
                  <a:txBody>
                    <a:bodyPr/>
                    <a:lstStyle/>
                    <a:p>
                      <a:pPr algn="ctr" latinLnBrk="1"/>
                      <a:r>
                        <a:rPr lang="ko-KR" altLang="en-US" sz="2400" b="1" dirty="0" smtClean="0">
                          <a:solidFill>
                            <a:schemeClr val="bg1"/>
                          </a:solidFill>
                        </a:rPr>
                        <a:t>팀 명</a:t>
                      </a:r>
                      <a:endParaRPr lang="ko-KR" altLang="en-US" sz="2400" b="1" dirty="0">
                        <a:solidFill>
                          <a:schemeClr val="bg1"/>
                        </a:solidFill>
                      </a:endParaRPr>
                    </a:p>
                  </a:txBody>
                  <a:tcPr anchor="ctr">
                    <a:lnR w="12700" cap="flat" cmpd="sng" algn="ctr">
                      <a:solidFill>
                        <a:schemeClr val="bg1">
                          <a:lumMod val="85000"/>
                        </a:schemeClr>
                      </a:solidFill>
                      <a:prstDash val="solid"/>
                      <a:round/>
                      <a:headEnd type="none" w="med" len="med"/>
                      <a:tailEnd type="none" w="med" len="med"/>
                    </a:lnR>
                    <a:lnB w="12700" cap="flat" cmpd="sng" algn="ctr">
                      <a:solidFill>
                        <a:schemeClr val="bg1">
                          <a:lumMod val="85000"/>
                        </a:schemeClr>
                      </a:solidFill>
                      <a:prstDash val="solid"/>
                      <a:round/>
                      <a:headEnd type="none" w="med" len="med"/>
                      <a:tailEnd type="none" w="med" len="med"/>
                    </a:lnB>
                    <a:solidFill>
                      <a:srgbClr val="FFA401"/>
                    </a:solidFill>
                  </a:tcPr>
                </a:tc>
                <a:tc>
                  <a:txBody>
                    <a:bodyPr/>
                    <a:lstStyle/>
                    <a:p>
                      <a:pPr latinLnBrk="1" algn="ctr"/>
                      <a:r>
                        <a:rPr sz="2400"/>
                        <a:t>최강</a:t>
                      </a:r>
                      <a:endParaRPr lang="ko-KR" altLang="en-US" sz="2400" b="0" dirty="0">
                        <a:solidFill>
                          <a:schemeClr val="tx1"/>
                        </a:solidFill>
                      </a:endParaRPr>
                    </a:p>
                  </a:txBody>
                  <a:tcPr anchor="ctr">
                    <a:lnL w="12700" cap="flat" cmpd="sng" algn="ctr">
                      <a:solidFill>
                        <a:schemeClr val="bg1">
                          <a:lumMod val="85000"/>
                        </a:schemeClr>
                      </a:solidFill>
                      <a:prstDash val="solid"/>
                      <a:round/>
                      <a:headEnd type="none" w="med" len="med"/>
                      <a:tailEnd type="none" w="med" len="med"/>
                    </a:lnL>
                    <a:lnB w="12700" cap="flat" cmpd="sng" algn="ctr">
                      <a:solidFill>
                        <a:schemeClr val="bg1">
                          <a:lumMod val="85000"/>
                        </a:schemeClr>
                      </a:solidFill>
                      <a:prstDash val="solid"/>
                      <a:round/>
                      <a:headEnd type="none" w="med" len="med"/>
                      <a:tailEnd type="none" w="med" len="med"/>
                    </a:lnB>
                    <a:solidFill>
                      <a:srgbClr val="FFFDE7"/>
                    </a:solidFill>
                  </a:tcPr>
                </a:tc>
                <a:extLst>
                  <a:ext uri="{0D108BD9-81ED-4DB2-BD59-A6C34878D82A}">
                    <a16:rowId xmlns:a16="http://schemas.microsoft.com/office/drawing/2014/main" val="3342559057"/>
                  </a:ext>
                </a:extLst>
              </a:tr>
              <a:tr h="564418">
                <a:tc>
                  <a:txBody>
                    <a:bodyPr/>
                    <a:lstStyle/>
                    <a:p>
                      <a:pPr algn="ctr" latinLnBrk="1"/>
                      <a:r>
                        <a:rPr lang="ko-KR" altLang="en-US" sz="2400" b="1" dirty="0" smtClean="0">
                          <a:solidFill>
                            <a:schemeClr val="bg1"/>
                          </a:solidFill>
                        </a:rPr>
                        <a:t>서비스</a:t>
                      </a:r>
                      <a:r>
                        <a:rPr lang="ko-KR" altLang="en-US" sz="2400" b="1" baseline="0" dirty="0" smtClean="0">
                          <a:solidFill>
                            <a:schemeClr val="bg1"/>
                          </a:solidFill>
                        </a:rPr>
                        <a:t> </a:t>
                      </a:r>
                      <a:r>
                        <a:rPr lang="ko-KR" altLang="en-US" sz="2400" b="1" dirty="0" smtClean="0">
                          <a:solidFill>
                            <a:schemeClr val="bg1"/>
                          </a:solidFill>
                        </a:rPr>
                        <a:t>명</a:t>
                      </a:r>
                      <a:endParaRPr lang="ko-KR" altLang="en-US" sz="2400" b="1" dirty="0">
                        <a:solidFill>
                          <a:schemeClr val="bg1"/>
                        </a:solidFill>
                      </a:endParaRPr>
                    </a:p>
                  </a:txBody>
                  <a:tcPr anchor="ctr">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solidFill>
                      <a:srgbClr val="FFA401"/>
                    </a:solidFill>
                  </a:tcPr>
                </a:tc>
                <a:tc>
                  <a:txBody>
                    <a:bodyPr/>
                    <a:lstStyle/>
                    <a:p>
                      <a:pPr latinLnBrk="1" algn="ctr"/>
                      <a:r>
                        <a:rPr sz="2400"/>
                        <a:t>달빛수원</a:t>
                      </a:r>
                      <a:endParaRPr lang="ko-KR" altLang="en-US" sz="2400" b="0" dirty="0">
                        <a:solidFill>
                          <a:schemeClr val="tx1"/>
                        </a:solidFill>
                      </a:endParaRPr>
                    </a:p>
                  </a:txBody>
                  <a:tcPr anchor="ctr">
                    <a:lnL w="12700" cap="flat" cmpd="sng" algn="ctr">
                      <a:solidFill>
                        <a:schemeClr val="bg1">
                          <a:lumMod val="85000"/>
                        </a:schemeClr>
                      </a:solidFill>
                      <a:prstDash val="solid"/>
                      <a:round/>
                      <a:headEnd type="none" w="med" len="med"/>
                      <a:tailEnd type="none" w="med" len="med"/>
                    </a:lnL>
                    <a:lnT w="12700" cap="flat" cmpd="sng" algn="ctr">
                      <a:solidFill>
                        <a:schemeClr val="bg1">
                          <a:lumMod val="85000"/>
                        </a:schemeClr>
                      </a:solidFill>
                      <a:prstDash val="solid"/>
                      <a:round/>
                      <a:headEnd type="none" w="med" len="med"/>
                      <a:tailEnd type="none" w="med" len="med"/>
                    </a:lnT>
                    <a:solidFill>
                      <a:srgbClr val="FFFDE7"/>
                    </a:solidFill>
                  </a:tcPr>
                </a:tc>
                <a:extLst>
                  <a:ext uri="{0D108BD9-81ED-4DB2-BD59-A6C34878D82A}">
                    <a16:rowId xmlns:a16="http://schemas.microsoft.com/office/drawing/2014/main" val="2441169869"/>
                  </a:ext>
                </a:extLst>
              </a:tr>
            </a:tbl>
          </a:graphicData>
        </a:graphic>
      </p:graphicFrame>
    </p:spTree>
    <p:extLst>
      <p:ext uri="{BB962C8B-B14F-4D97-AF65-F5344CB8AC3E}">
        <p14:creationId xmlns:p14="http://schemas.microsoft.com/office/powerpoint/2010/main" val="1353449824"/>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7" name="표 16"/>
          <p:cNvGraphicFramePr>
            <a:graphicFrameLocks noGrp="1"/>
          </p:cNvGraphicFramePr>
          <p:nvPr>
            <p:extLst>
              <p:ext uri="{D42A27DB-BD31-4B8C-83A1-F6EECF244321}">
                <p14:modId xmlns:p14="http://schemas.microsoft.com/office/powerpoint/2010/main" val="3131695012"/>
              </p:ext>
            </p:extLst>
          </p:nvPr>
        </p:nvGraphicFramePr>
        <p:xfrm>
          <a:off x="287250" y="1218429"/>
          <a:ext cx="11649825" cy="4750109"/>
        </p:xfrm>
        <a:graphic>
          <a:graphicData uri="http://schemas.openxmlformats.org/drawingml/2006/table">
            <a:tbl>
              <a:tblPr firstRow="1" bandRow="1">
                <a:tableStyleId>{5C22544A-7EE6-4342-B048-85BDC9FD1C3A}</a:tableStyleId>
              </a:tblPr>
              <a:tblGrid>
                <a:gridCol w="1955222">
                  <a:extLst>
                    <a:ext uri="{9D8B030D-6E8A-4147-A177-3AD203B41FA5}">
                      <a16:colId xmlns:a16="http://schemas.microsoft.com/office/drawing/2014/main" val="1299753452"/>
                    </a:ext>
                  </a:extLst>
                </a:gridCol>
                <a:gridCol w="9694603">
                  <a:extLst>
                    <a:ext uri="{9D8B030D-6E8A-4147-A177-3AD203B41FA5}">
                      <a16:colId xmlns:a16="http://schemas.microsoft.com/office/drawing/2014/main" val="3999346814"/>
                    </a:ext>
                  </a:extLst>
                </a:gridCol>
              </a:tblGrid>
              <a:tr h="547212">
                <a:tc>
                  <a:txBody>
                    <a:bodyPr/>
                    <a:lstStyle/>
                    <a:p>
                      <a:pPr algn="ctr" latinLnBrk="1"/>
                      <a:r>
                        <a:rPr lang="ko-KR" altLang="en-US" b="1" dirty="0" smtClean="0">
                          <a:solidFill>
                            <a:schemeClr val="bg1"/>
                          </a:solidFill>
                        </a:rPr>
                        <a:t>서비스명</a:t>
                      </a:r>
                      <a:endParaRPr lang="ko-KR" altLang="en-US" b="1" dirty="0">
                        <a:solidFill>
                          <a:schemeClr val="bg1"/>
                        </a:solidFill>
                      </a:endParaRP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rgbClr val="FF6F00"/>
                    </a:solidFill>
                  </a:tcPr>
                </a:tc>
                <a:tc>
                  <a:txBody>
                    <a:bodyPr/>
                    <a:lstStyle/>
                    <a:p>
                      <a:pPr marL="0" lvl="0" indent="0" algn="l" rtl="0">
                        <a:spcBef>
                          <a:spcPts val="0"/>
                        </a:spcBef>
                        <a:spcAft>
                          <a:spcPts val="0"/>
                        </a:spcAft>
                        <a:buNone/>
                      </a:pPr>
                      <a:r>
                        <a:rPr sz="1800"/>
                        <a:t>달빛수원</a:t>
                      </a:r>
                      <a:endParaRPr lang="en-US" altLang="ko-KR" sz="1800" b="0" baseline="0" dirty="0" smtClean="0">
                        <a:solidFill>
                          <a:schemeClr val="tx1"/>
                        </a:solidFill>
                        <a:latin typeface="+mn-lt"/>
                      </a:endParaRP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2903409156"/>
                  </a:ext>
                </a:extLst>
              </a:tr>
              <a:tr h="731060">
                <a:tc>
                  <a:txBody>
                    <a:bodyPr/>
                    <a:lstStyle/>
                    <a:p>
                      <a:pPr algn="ctr" latinLnBrk="1"/>
                      <a:r>
                        <a:rPr lang="ko-KR" altLang="en-US" b="1" dirty="0" smtClean="0">
                          <a:solidFill>
                            <a:schemeClr val="bg1"/>
                          </a:solidFill>
                        </a:rPr>
                        <a:t>서비스 유형</a:t>
                      </a:r>
                      <a:endParaRPr lang="ko-KR" altLang="en-US" b="1" dirty="0">
                        <a:solidFill>
                          <a:schemeClr val="bg1"/>
                        </a:solidFill>
                      </a:endParaRP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rgbClr val="FF6F00"/>
                    </a:solidFill>
                  </a:tcPr>
                </a:tc>
                <a:tc>
                  <a:txBody>
                    <a:bodyPr/>
                    <a:lstStyle/>
                    <a:p>
                      <a:pPr marL="0" lvl="0" indent="0" algn="l" rtl="0">
                        <a:spcBef>
                          <a:spcPts val="0"/>
                        </a:spcBef>
                        <a:spcAft>
                          <a:spcPts val="0"/>
                        </a:spcAft>
                        <a:buNone/>
                      </a:pPr>
                      <a:r>
                        <a:rPr sz="1800"/>
                        <a:t>앱 서비스</a:t>
                      </a:r>
                      <a:endParaRPr lang="en-US" altLang="ko-KR" sz="1800" b="0" dirty="0" smtClean="0">
                        <a:solidFill>
                          <a:srgbClr val="FF0000"/>
                        </a:solidFill>
                        <a:latin typeface="+mn-lt"/>
                      </a:endParaRP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4126837495"/>
                  </a:ext>
                </a:extLst>
              </a:tr>
              <a:tr h="1030246">
                <a:tc>
                  <a:txBody>
                    <a:bodyPr/>
                    <a:lstStyle/>
                    <a:p>
                      <a:pPr algn="ctr" latinLnBrk="1"/>
                      <a:r>
                        <a:rPr lang="ko-KR" altLang="en-US" b="1" dirty="0" smtClean="0">
                          <a:solidFill>
                            <a:schemeClr val="bg1"/>
                          </a:solidFill>
                        </a:rPr>
                        <a:t>서비스 개요</a:t>
                      </a:r>
                      <a:endParaRPr lang="en-US" altLang="ko-KR" b="1" dirty="0" smtClean="0">
                        <a:solidFill>
                          <a:schemeClr val="bg1"/>
                        </a:solidFill>
                      </a:endParaRP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rgbClr val="FF6F00"/>
                    </a:solidFill>
                  </a:tcPr>
                </a:tc>
                <a:tc>
                  <a:txBody>
                    <a:bodyPr/>
                    <a:lstStyle/>
                    <a:p>
                      <a:pPr marL="0" marR="0" lvl="0" indent="0" algn="just" defTabSz="914400" rtl="0" eaLnBrk="1" fontAlgn="auto" latinLnBrk="1" hangingPunct="1">
                        <a:lnSpc>
                          <a:spcPct val="100000"/>
                        </a:lnSpc>
                        <a:spcBef>
                          <a:spcPts val="0"/>
                        </a:spcBef>
                        <a:spcAft>
                          <a:spcPts val="0"/>
                        </a:spcAft>
                        <a:buClrTx/>
                        <a:buSzTx/>
                        <a:buFontTx/>
                        <a:buNone/>
                        <a:tabLst/>
                        <a:defRPr/>
                      </a:pPr>
                      <a:r>
                        <a:rPr sz="1800"/>
                        <a:t>수원화성 야간관광에 특화된 위치기반 미션형 체험 관광 앱</a:t>
                      </a:r>
                    </a:p>
                    <a:p>
                      <a:pPr algn="just"/>
                      <a:r>
                        <a:rPr sz="1800"/>
                        <a:t>- 밤을 걷고 스토리를 줍는 수원화성 야간 미션 투어 -</a:t>
                      </a: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3064568051"/>
                  </a:ext>
                </a:extLst>
              </a:tr>
              <a:tr h="2441591">
                <a:tc>
                  <a:txBody>
                    <a:bodyPr/>
                    <a:lstStyle/>
                    <a:p>
                      <a:pPr algn="ctr" latinLnBrk="1"/>
                      <a:r>
                        <a:rPr lang="ko-KR" altLang="en-US" b="1" dirty="0" smtClean="0">
                          <a:solidFill>
                            <a:schemeClr val="bg1"/>
                          </a:solidFill>
                        </a:rPr>
                        <a:t>주제 선정 이유</a:t>
                      </a:r>
                      <a:endParaRPr lang="ko-KR" altLang="en-US" b="1" dirty="0">
                        <a:solidFill>
                          <a:schemeClr val="bg1"/>
                        </a:solidFill>
                      </a:endParaRP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rgbClr val="FF6F00"/>
                    </a:solidFill>
                  </a:tcPr>
                </a:tc>
                <a:tc>
                  <a:txBody>
                    <a:bodyPr/>
                    <a:lstStyle/>
                    <a:p>
                      <a:pPr marL="0" marR="0" lvl="0" indent="0" algn="just" defTabSz="914400" rtl="0" eaLnBrk="1" fontAlgn="auto" latinLnBrk="1" hangingPunct="1">
                        <a:lnSpc>
                          <a:spcPct val="100000"/>
                        </a:lnSpc>
                        <a:spcBef>
                          <a:spcPts val="0"/>
                        </a:spcBef>
                        <a:spcAft>
                          <a:spcPts val="0"/>
                        </a:spcAft>
                        <a:buClrTx/>
                        <a:buSzTx/>
                        <a:buFontTx/>
                        <a:buNone/>
                        <a:tabLst/>
                        <a:defRPr/>
                      </a:pPr>
                      <a:r>
                        <a:rPr sz="1600"/>
                        <a:t>수원화성·화성행궁·행리단길 등 역사문화자원과 지역 상권이 밀집해 있음에도, 야간 시간대에 어디를 어떤 순서로 방문해야 하는지에 대한 정보가 분산되어 있어 체계적인 이용이 어려운 문제를 해결하고자 기획했습니다. 한국관광공사 OpenAPI 기반 관광정보에 정조 스토리와 미션형 콘텐츠를 결합해 단순 정보 제공을 넘어 몰입감 있는 야간관광 체험을 제공하고자 합니다.</a:t>
                      </a: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317412154"/>
                  </a:ext>
                </a:extLst>
              </a:tr>
            </a:tbl>
          </a:graphicData>
        </a:graphic>
      </p:graphicFrame>
    </p:spTree>
    <p:extLst>
      <p:ext uri="{BB962C8B-B14F-4D97-AF65-F5344CB8AC3E}">
        <p14:creationId xmlns:p14="http://schemas.microsoft.com/office/powerpoint/2010/main" val="1526000993"/>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7" name="표 16"/>
          <p:cNvGraphicFramePr>
            <a:graphicFrameLocks noGrp="1"/>
          </p:cNvGraphicFramePr>
          <p:nvPr>
            <p:extLst>
              <p:ext uri="{D42A27DB-BD31-4B8C-83A1-F6EECF244321}">
                <p14:modId xmlns:p14="http://schemas.microsoft.com/office/powerpoint/2010/main" val="3960646751"/>
              </p:ext>
            </p:extLst>
          </p:nvPr>
        </p:nvGraphicFramePr>
        <p:xfrm>
          <a:off x="287250" y="1218429"/>
          <a:ext cx="11649826" cy="4733484"/>
        </p:xfrm>
        <a:graphic>
          <a:graphicData uri="http://schemas.openxmlformats.org/drawingml/2006/table">
            <a:tbl>
              <a:tblPr firstRow="1" bandRow="1">
                <a:tableStyleId>{5C22544A-7EE6-4342-B048-85BDC9FD1C3A}</a:tableStyleId>
              </a:tblPr>
              <a:tblGrid>
                <a:gridCol w="1955222">
                  <a:extLst>
                    <a:ext uri="{9D8B030D-6E8A-4147-A177-3AD203B41FA5}">
                      <a16:colId xmlns:a16="http://schemas.microsoft.com/office/drawing/2014/main" val="1299753452"/>
                    </a:ext>
                  </a:extLst>
                </a:gridCol>
                <a:gridCol w="9694604">
                  <a:extLst>
                    <a:ext uri="{9D8B030D-6E8A-4147-A177-3AD203B41FA5}">
                      <a16:colId xmlns:a16="http://schemas.microsoft.com/office/drawing/2014/main" val="3999346814"/>
                    </a:ext>
                  </a:extLst>
                </a:gridCol>
              </a:tblGrid>
              <a:tr h="4733484">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ko-KR" altLang="en-US" b="1" dirty="0" smtClean="0">
                          <a:solidFill>
                            <a:schemeClr val="bg1"/>
                          </a:solidFill>
                        </a:rPr>
                        <a:t>서비스 핵심기능</a:t>
                      </a:r>
                    </a:p>
                    <a:p>
                      <a:pPr algn="ctr" latinLnBrk="1"/>
                      <a:endParaRPr lang="ko-KR" altLang="en-US" b="1" dirty="0">
                        <a:solidFill>
                          <a:schemeClr val="bg1"/>
                        </a:solidFill>
                      </a:endParaRP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rgbClr val="FF6F00"/>
                    </a:solid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sz="1700"/>
                        <a:t>• 한국관광공사 OpenAPI 기반 수원화성 일대 관광지 정보 통합 제공</a:t>
                      </a:r>
                    </a:p>
                    <a:p>
                      <a:pPr algn="l"/>
                      <a:r>
                        <a:rPr sz="1700"/>
                        <a:t>• 시간대별 야간관광 추천 코스(3개 내외) 및 코스 상세 안내</a:t>
                      </a:r>
                    </a:p>
                    <a:p>
                      <a:pPr algn="l"/>
                      <a:r>
                        <a:rPr sz="1700"/>
                        <a:t>• 위치기반 자동/수동 체크인 미션 기능</a:t>
                      </a:r>
                    </a:p>
                    <a:p>
                      <a:pPr algn="l"/>
                      <a:r>
                        <a:rPr sz="1700"/>
                        <a:t>• 내 주변 관광지·로컬 스팟 탐색 기능</a:t>
                      </a:r>
                    </a:p>
                    <a:p>
                      <a:pPr algn="l"/>
                      <a:r>
                        <a:rPr sz="1700"/>
                        <a:t>• 찜(즐겨찾기) 및 코스 완료 후 공유·로그인 유도 기능</a:t>
                      </a: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2903409156"/>
                  </a:ext>
                </a:extLst>
              </a:tr>
            </a:tbl>
          </a:graphicData>
        </a:graphic>
      </p:graphicFrame>
    </p:spTree>
    <p:extLst>
      <p:ext uri="{BB962C8B-B14F-4D97-AF65-F5344CB8AC3E}">
        <p14:creationId xmlns:p14="http://schemas.microsoft.com/office/powerpoint/2010/main" val="4098688186"/>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7" name="표 16"/>
          <p:cNvGraphicFramePr>
            <a:graphicFrameLocks noGrp="1"/>
          </p:cNvGraphicFramePr>
          <p:nvPr>
            <p:extLst>
              <p:ext uri="{D42A27DB-BD31-4B8C-83A1-F6EECF244321}">
                <p14:modId xmlns:p14="http://schemas.microsoft.com/office/powerpoint/2010/main" val="1267559681"/>
              </p:ext>
            </p:extLst>
          </p:nvPr>
        </p:nvGraphicFramePr>
        <p:xfrm>
          <a:off x="287250" y="1218429"/>
          <a:ext cx="11649826" cy="4991178"/>
        </p:xfrm>
        <a:graphic>
          <a:graphicData uri="http://schemas.openxmlformats.org/drawingml/2006/table">
            <a:tbl>
              <a:tblPr firstRow="1" bandRow="1">
                <a:tableStyleId>{5C22544A-7EE6-4342-B048-85BDC9FD1C3A}</a:tableStyleId>
              </a:tblPr>
              <a:tblGrid>
                <a:gridCol w="1955222">
                  <a:extLst>
                    <a:ext uri="{9D8B030D-6E8A-4147-A177-3AD203B41FA5}">
                      <a16:colId xmlns:a16="http://schemas.microsoft.com/office/drawing/2014/main" val="1299753452"/>
                    </a:ext>
                  </a:extLst>
                </a:gridCol>
                <a:gridCol w="9694604">
                  <a:extLst>
                    <a:ext uri="{9D8B030D-6E8A-4147-A177-3AD203B41FA5}">
                      <a16:colId xmlns:a16="http://schemas.microsoft.com/office/drawing/2014/main" val="3999346814"/>
                    </a:ext>
                  </a:extLst>
                </a:gridCol>
              </a:tblGrid>
              <a:tr h="1847697">
                <a:tc>
                  <a:txBody>
                    <a:bodyPr/>
                    <a:lstStyle/>
                    <a:p>
                      <a:pPr algn="ctr" latinLnBrk="1"/>
                      <a:r>
                        <a:rPr lang="ko-KR" altLang="en-US" b="1" dirty="0" smtClean="0">
                          <a:solidFill>
                            <a:schemeClr val="bg1"/>
                          </a:solidFill>
                        </a:rPr>
                        <a:t>서비스</a:t>
                      </a:r>
                      <a:endParaRPr lang="en-US" altLang="ko-KR" b="1" dirty="0" smtClean="0">
                        <a:solidFill>
                          <a:schemeClr val="bg1"/>
                        </a:solidFill>
                      </a:endParaRPr>
                    </a:p>
                    <a:p>
                      <a:pPr algn="ctr" latinLnBrk="1"/>
                      <a:r>
                        <a:rPr lang="ko-KR" altLang="en-US" b="1" dirty="0" smtClean="0">
                          <a:solidFill>
                            <a:schemeClr val="bg1"/>
                          </a:solidFill>
                        </a:rPr>
                        <a:t>대표 이미지</a:t>
                      </a:r>
                      <a:endParaRPr lang="en-US" altLang="ko-KR" b="1" dirty="0" smtClean="0">
                        <a:solidFill>
                          <a:schemeClr val="bg1"/>
                        </a:solidFill>
                      </a:endParaRPr>
                    </a:p>
                    <a:p>
                      <a:pPr algn="ctr" latinLnBrk="1"/>
                      <a:r>
                        <a:rPr lang="en-US" altLang="ko-KR" b="1" dirty="0" smtClean="0">
                          <a:solidFill>
                            <a:schemeClr val="bg1"/>
                          </a:solidFill>
                        </a:rPr>
                        <a:t>(</a:t>
                      </a:r>
                      <a:r>
                        <a:rPr lang="ko-KR" altLang="en-US" b="1" dirty="0" err="1" smtClean="0">
                          <a:solidFill>
                            <a:schemeClr val="bg1"/>
                          </a:solidFill>
                        </a:rPr>
                        <a:t>썸네일</a:t>
                      </a:r>
                      <a:r>
                        <a:rPr lang="en-US" altLang="ko-KR" b="1" dirty="0" smtClean="0">
                          <a:solidFill>
                            <a:schemeClr val="bg1"/>
                          </a:solidFill>
                        </a:rPr>
                        <a:t>)</a:t>
                      </a:r>
                      <a:endParaRPr lang="ko-KR" altLang="en-US" b="1" dirty="0">
                        <a:solidFill>
                          <a:schemeClr val="bg1"/>
                        </a:solidFill>
                      </a:endParaRP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rgbClr val="FF6F00"/>
                    </a:solidFill>
                  </a:tcPr>
                </a:tc>
                <a:tc>
                  <a:txBody>
                    <a:bodyPr/>
                    <a:lstStyle/>
                    <a:p>
                      <a:pPr marL="0" marR="0" lvl="0" indent="0" algn="just" defTabSz="914400" rtl="0" eaLnBrk="1" fontAlgn="auto" latinLnBrk="1" hangingPunct="1">
                        <a:lnSpc>
                          <a:spcPct val="100000"/>
                        </a:lnSpc>
                        <a:spcBef>
                          <a:spcPts val="0"/>
                        </a:spcBef>
                        <a:spcAft>
                          <a:spcPts val="0"/>
                        </a:spcAft>
                        <a:buClrTx/>
                        <a:buSzTx/>
                        <a:buFontTx/>
                        <a:buNone/>
                        <a:tabLst/>
                        <a:defRPr/>
                      </a:pPr>
                      <a:r>
                        <a:rPr sz="100"/>
                        <a:t/>
                      </a:r>
                      <a:endParaRPr lang="en-US" altLang="ko-KR" sz="1800" b="0" dirty="0" smtClean="0">
                        <a:solidFill>
                          <a:srgbClr val="FF0000"/>
                        </a:solidFill>
                        <a:latin typeface="+mn-lt"/>
                      </a:endParaRP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2903409156"/>
                  </a:ext>
                </a:extLst>
              </a:tr>
              <a:tr h="3143481">
                <a:tc>
                  <a:txBody>
                    <a:bodyPr/>
                    <a:lstStyle/>
                    <a:p>
                      <a:pPr algn="ctr" latinLnBrk="1"/>
                      <a:r>
                        <a:rPr lang="ko-KR" altLang="en-US" b="1" dirty="0" smtClean="0">
                          <a:solidFill>
                            <a:schemeClr val="bg1"/>
                          </a:solidFill>
                        </a:rPr>
                        <a:t>서비스</a:t>
                      </a:r>
                      <a:endParaRPr lang="en-US" altLang="ko-KR" b="1" dirty="0" smtClean="0">
                        <a:solidFill>
                          <a:schemeClr val="bg1"/>
                        </a:solidFill>
                      </a:endParaRPr>
                    </a:p>
                    <a:p>
                      <a:pPr algn="ctr" latinLnBrk="1"/>
                      <a:r>
                        <a:rPr lang="ko-KR" altLang="en-US" b="1" dirty="0" smtClean="0">
                          <a:solidFill>
                            <a:schemeClr val="bg1"/>
                          </a:solidFill>
                        </a:rPr>
                        <a:t>상세 이미지</a:t>
                      </a:r>
                      <a:endParaRPr lang="en-US" altLang="ko-KR" b="1" dirty="0" smtClean="0">
                        <a:solidFill>
                          <a:schemeClr val="bg1"/>
                        </a:solidFill>
                      </a:endParaRP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rgbClr val="FF6F00"/>
                    </a:solidFill>
                  </a:tcPr>
                </a:tc>
                <a:tc>
                  <a:txBody>
                    <a:bodyPr/>
                    <a:lstStyle/>
                    <a:p>
                      <a:pPr marL="0" marR="0" lvl="0" indent="0" algn="just" defTabSz="914400" rtl="0" eaLnBrk="1" fontAlgn="auto" latinLnBrk="1" hangingPunct="1">
                        <a:lnSpc>
                          <a:spcPct val="100000"/>
                        </a:lnSpc>
                        <a:spcBef>
                          <a:spcPts val="0"/>
                        </a:spcBef>
                        <a:spcAft>
                          <a:spcPts val="0"/>
                        </a:spcAft>
                        <a:buClrTx/>
                        <a:buSzTx/>
                        <a:buFontTx/>
                        <a:buNone/>
                        <a:tabLst/>
                        <a:defRPr/>
                      </a:pPr>
                      <a:r>
                        <a:rPr sz="100"/>
                        <a:t/>
                      </a:r>
                      <a:endParaRPr lang="en-US" altLang="ko-KR" sz="1800" b="0" dirty="0" smtClean="0">
                        <a:solidFill>
                          <a:srgbClr val="FF0000"/>
                        </a:solidFill>
                        <a:latin typeface="+mn-lt"/>
                      </a:endParaRP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317412154"/>
                  </a:ext>
                </a:extLst>
              </a:tr>
            </a:tbl>
          </a:graphicData>
        </a:graphic>
      </p:graphicFrame>
      <p:pic>
        <p:nvPicPr>
          <p:cNvPr id="18" name="Picture 17" descr="app_logo_512.png"/>
          <p:cNvPicPr>
            <a:picLocks noChangeAspect="1"/>
          </p:cNvPicPr>
          <p:nvPr/>
        </p:nvPicPr>
        <p:blipFill>
          <a:blip r:embed="rId2"/>
          <a:stretch>
            <a:fillRect/>
          </a:stretch>
        </p:blipFill>
        <p:spPr>
          <a:xfrm>
            <a:off x="6443079" y="1495583"/>
            <a:ext cx="1293389" cy="1293389"/>
          </a:xfrm>
          <a:prstGeom prst="rect">
            <a:avLst/>
          </a:prstGeom>
        </p:spPr>
      </p:pic>
      <p:pic>
        <p:nvPicPr>
          <p:cNvPr id="19" name="Picture 18" descr="01_home.png"/>
          <p:cNvPicPr>
            <a:picLocks noChangeAspect="1"/>
          </p:cNvPicPr>
          <p:nvPr/>
        </p:nvPicPr>
        <p:blipFill>
          <a:blip r:embed="rId3"/>
          <a:stretch>
            <a:fillRect/>
          </a:stretch>
        </p:blipFill>
        <p:spPr>
          <a:xfrm>
            <a:off x="2575344" y="3254734"/>
            <a:ext cx="1273176" cy="2766265"/>
          </a:xfrm>
          <a:prstGeom prst="rect">
            <a:avLst/>
          </a:prstGeom>
        </p:spPr>
      </p:pic>
      <p:pic>
        <p:nvPicPr>
          <p:cNvPr id="20" name="Picture 19" descr="02_course_detail.png"/>
          <p:cNvPicPr>
            <a:picLocks noChangeAspect="1"/>
          </p:cNvPicPr>
          <p:nvPr/>
        </p:nvPicPr>
        <p:blipFill>
          <a:blip r:embed="rId4"/>
          <a:stretch>
            <a:fillRect/>
          </a:stretch>
        </p:blipFill>
        <p:spPr>
          <a:xfrm>
            <a:off x="4514264" y="3254734"/>
            <a:ext cx="1273176" cy="2766265"/>
          </a:xfrm>
          <a:prstGeom prst="rect">
            <a:avLst/>
          </a:prstGeom>
        </p:spPr>
      </p:pic>
      <p:pic>
        <p:nvPicPr>
          <p:cNvPr id="21" name="Picture 20" descr="03_course_complete.png"/>
          <p:cNvPicPr>
            <a:picLocks noChangeAspect="1"/>
          </p:cNvPicPr>
          <p:nvPr/>
        </p:nvPicPr>
        <p:blipFill>
          <a:blip r:embed="rId5"/>
          <a:stretch>
            <a:fillRect/>
          </a:stretch>
        </p:blipFill>
        <p:spPr>
          <a:xfrm>
            <a:off x="6453184" y="3254734"/>
            <a:ext cx="1273176" cy="2766265"/>
          </a:xfrm>
          <a:prstGeom prst="rect">
            <a:avLst/>
          </a:prstGeom>
        </p:spPr>
      </p:pic>
      <p:pic>
        <p:nvPicPr>
          <p:cNvPr id="22" name="Picture 21" descr="04_nearby.png"/>
          <p:cNvPicPr>
            <a:picLocks noChangeAspect="1"/>
          </p:cNvPicPr>
          <p:nvPr/>
        </p:nvPicPr>
        <p:blipFill>
          <a:blip r:embed="rId6"/>
          <a:stretch>
            <a:fillRect/>
          </a:stretch>
        </p:blipFill>
        <p:spPr>
          <a:xfrm>
            <a:off x="8406282" y="3254734"/>
            <a:ext cx="1244819" cy="2766265"/>
          </a:xfrm>
          <a:prstGeom prst="rect">
            <a:avLst/>
          </a:prstGeom>
        </p:spPr>
      </p:pic>
      <p:pic>
        <p:nvPicPr>
          <p:cNvPr id="23" name="Picture 22" descr="05_bookmarks.png"/>
          <p:cNvPicPr>
            <a:picLocks noChangeAspect="1"/>
          </p:cNvPicPr>
          <p:nvPr/>
        </p:nvPicPr>
        <p:blipFill>
          <a:blip r:embed="rId7"/>
          <a:stretch>
            <a:fillRect/>
          </a:stretch>
        </p:blipFill>
        <p:spPr>
          <a:xfrm>
            <a:off x="10345202" y="3254734"/>
            <a:ext cx="1244819" cy="2766265"/>
          </a:xfrm>
          <a:prstGeom prst="rect">
            <a:avLst/>
          </a:prstGeom>
        </p:spPr>
      </p:pic>
    </p:spTree>
    <p:extLst>
      <p:ext uri="{BB962C8B-B14F-4D97-AF65-F5344CB8AC3E}">
        <p14:creationId xmlns:p14="http://schemas.microsoft.com/office/powerpoint/2010/main" val="2822969208"/>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표 2"/>
          <p:cNvGraphicFramePr>
            <a:graphicFrameLocks noGrp="1"/>
          </p:cNvGraphicFramePr>
          <p:nvPr>
            <p:extLst>
              <p:ext uri="{D42A27DB-BD31-4B8C-83A1-F6EECF244321}">
                <p14:modId xmlns:p14="http://schemas.microsoft.com/office/powerpoint/2010/main" val="26352838"/>
              </p:ext>
            </p:extLst>
          </p:nvPr>
        </p:nvGraphicFramePr>
        <p:xfrm>
          <a:off x="287250" y="1218429"/>
          <a:ext cx="11649825" cy="5079734"/>
        </p:xfrm>
        <a:graphic>
          <a:graphicData uri="http://schemas.openxmlformats.org/drawingml/2006/table">
            <a:tbl>
              <a:tblPr firstRow="1" bandRow="1">
                <a:tableStyleId>{5C22544A-7EE6-4342-B048-85BDC9FD1C3A}</a:tableStyleId>
              </a:tblPr>
              <a:tblGrid>
                <a:gridCol w="1955222">
                  <a:extLst>
                    <a:ext uri="{9D8B030D-6E8A-4147-A177-3AD203B41FA5}">
                      <a16:colId xmlns:a16="http://schemas.microsoft.com/office/drawing/2014/main" val="1299753452"/>
                    </a:ext>
                  </a:extLst>
                </a:gridCol>
                <a:gridCol w="9694603">
                  <a:extLst>
                    <a:ext uri="{9D8B030D-6E8A-4147-A177-3AD203B41FA5}">
                      <a16:colId xmlns:a16="http://schemas.microsoft.com/office/drawing/2014/main" val="3999346814"/>
                    </a:ext>
                  </a:extLst>
                </a:gridCol>
              </a:tblGrid>
              <a:tr h="1944404">
                <a:tc>
                  <a:txBody>
                    <a:bodyPr/>
                    <a:lstStyle/>
                    <a:p>
                      <a:pPr algn="ctr" latinLnBrk="1"/>
                      <a:r>
                        <a:rPr lang="ko-KR" altLang="en-US" b="1" dirty="0" smtClean="0">
                          <a:solidFill>
                            <a:schemeClr val="bg1"/>
                          </a:solidFill>
                        </a:rPr>
                        <a:t>특화 </a:t>
                      </a:r>
                      <a:r>
                        <a:rPr lang="ko-KR" altLang="en-US" b="1" dirty="0" err="1" smtClean="0">
                          <a:solidFill>
                            <a:schemeClr val="bg1"/>
                          </a:solidFill>
                        </a:rPr>
                        <a:t>지역명</a:t>
                      </a:r>
                      <a:endParaRPr lang="en-US" altLang="ko-KR" b="1" dirty="0" smtClean="0">
                        <a:solidFill>
                          <a:schemeClr val="bg1"/>
                        </a:solidFill>
                      </a:endParaRPr>
                    </a:p>
                    <a:p>
                      <a:pPr algn="ctr" latinLnBrk="1"/>
                      <a:r>
                        <a:rPr lang="en-US" altLang="ko-KR" sz="1600" b="1" dirty="0" smtClean="0">
                          <a:solidFill>
                            <a:schemeClr val="bg1"/>
                          </a:solidFill>
                        </a:rPr>
                        <a:t>* </a:t>
                      </a:r>
                      <a:r>
                        <a:rPr lang="ko-KR" altLang="en-US" sz="1600" b="1" dirty="0" smtClean="0">
                          <a:solidFill>
                            <a:schemeClr val="bg1"/>
                          </a:solidFill>
                        </a:rPr>
                        <a:t>서울 제외</a:t>
                      </a:r>
                      <a:endParaRPr lang="ko-KR" altLang="en-US" sz="1600" b="1" dirty="0">
                        <a:solidFill>
                          <a:schemeClr val="bg1"/>
                        </a:solidFill>
                      </a:endParaRP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rgbClr val="FF6F00"/>
                    </a:solidFill>
                  </a:tcPr>
                </a:tc>
                <a:tc>
                  <a:txBody>
                    <a:bodyPr/>
                    <a:lstStyle/>
                    <a:p>
                      <a:pPr marL="0" lvl="0" indent="0" algn="just" rtl="0">
                        <a:spcBef>
                          <a:spcPts val="0"/>
                        </a:spcBef>
                        <a:spcAft>
                          <a:spcPts val="0"/>
                        </a:spcAft>
                        <a:buNone/>
                      </a:pPr>
                      <a:r>
                        <a:rPr sz="1700"/>
                        <a:t>경기도 수원시 (수원화성 일대)</a:t>
                      </a:r>
                      <a:endParaRPr lang="en-US" altLang="ko-KR" sz="1800" b="0" dirty="0" smtClean="0">
                        <a:solidFill>
                          <a:srgbClr val="FF0000"/>
                        </a:solidFill>
                        <a:latin typeface="+mn-lt"/>
                      </a:endParaRP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2903409156"/>
                  </a:ext>
                </a:extLst>
              </a:tr>
              <a:tr h="3135330">
                <a:tc>
                  <a:txBody>
                    <a:bodyPr/>
                    <a:lstStyle/>
                    <a:p>
                      <a:pPr algn="ctr" latinLnBrk="1"/>
                      <a:r>
                        <a:rPr lang="ko-KR" altLang="en-US" b="1" dirty="0" smtClean="0">
                          <a:solidFill>
                            <a:schemeClr val="bg1"/>
                          </a:solidFill>
                        </a:rPr>
                        <a:t>구현 내용</a:t>
                      </a:r>
                      <a:endParaRPr lang="ko-KR" altLang="en-US" b="1" dirty="0">
                        <a:solidFill>
                          <a:schemeClr val="bg1"/>
                        </a:solidFill>
                      </a:endParaRP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rgbClr val="FF6F00"/>
                    </a:solidFill>
                  </a:tcPr>
                </a:tc>
                <a:tc>
                  <a:txBody>
                    <a:bodyPr/>
                    <a:lstStyle/>
                    <a:p>
                      <a:pPr marL="0" lvl="0" indent="0" algn="just" rtl="0">
                        <a:spcBef>
                          <a:spcPts val="0"/>
                        </a:spcBef>
                        <a:spcAft>
                          <a:spcPts val="0"/>
                        </a:spcAft>
                        <a:buNone/>
                      </a:pPr>
                      <a:r>
                        <a:rPr sz="1600"/>
                        <a:t>전국 단위가 아닌 수원시 팔달구 수원화성 일대(화성행궁, 행리단길, 방화수류정 등)에 특화하여 서비스를 설계했습니다. 수원화성 일대 관광지 데이터를 핵심 장소 DB로 구성하고, 수원 지역 로컬 상점·체험거점 정보를 연계한 로컬 스팟 추천과 정조 스토리 기반 미션을 결합하여 수원 지역 고유의 야간관광 경험을 제공합니다.</a:t>
                      </a:r>
                      <a:endParaRPr lang="en-US" altLang="ko-KR" sz="1800" b="0" dirty="0" smtClean="0">
                        <a:solidFill>
                          <a:srgbClr val="FF0000"/>
                        </a:solidFill>
                        <a:latin typeface="+mn-lt"/>
                      </a:endParaRP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4126837495"/>
                  </a:ext>
                </a:extLst>
              </a:tr>
            </a:tbl>
          </a:graphicData>
        </a:graphic>
      </p:graphicFrame>
    </p:spTree>
    <p:extLst>
      <p:ext uri="{BB962C8B-B14F-4D97-AF65-F5344CB8AC3E}">
        <p14:creationId xmlns:p14="http://schemas.microsoft.com/office/powerpoint/2010/main" val="319252609"/>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8" name="표 7"/>
          <p:cNvGraphicFramePr>
            <a:graphicFrameLocks noGrp="1"/>
          </p:cNvGraphicFramePr>
          <p:nvPr>
            <p:extLst>
              <p:ext uri="{D42A27DB-BD31-4B8C-83A1-F6EECF244321}">
                <p14:modId xmlns:p14="http://schemas.microsoft.com/office/powerpoint/2010/main" val="2957004574"/>
              </p:ext>
            </p:extLst>
          </p:nvPr>
        </p:nvGraphicFramePr>
        <p:xfrm>
          <a:off x="302952" y="1933326"/>
          <a:ext cx="11426308" cy="4605842"/>
        </p:xfrm>
        <a:graphic>
          <a:graphicData uri="http://schemas.openxmlformats.org/drawingml/2006/table">
            <a:tbl>
              <a:tblPr firstRow="1" bandRow="1">
                <a:tableStyleId>{5C22544A-7EE6-4342-B048-85BDC9FD1C3A}</a:tableStyleId>
              </a:tblPr>
              <a:tblGrid>
                <a:gridCol w="2856577">
                  <a:extLst>
                    <a:ext uri="{9D8B030D-6E8A-4147-A177-3AD203B41FA5}">
                      <a16:colId xmlns:a16="http://schemas.microsoft.com/office/drawing/2014/main" val="956832101"/>
                    </a:ext>
                  </a:extLst>
                </a:gridCol>
                <a:gridCol w="2856577">
                  <a:extLst>
                    <a:ext uri="{9D8B030D-6E8A-4147-A177-3AD203B41FA5}">
                      <a16:colId xmlns:a16="http://schemas.microsoft.com/office/drawing/2014/main" val="2325135401"/>
                    </a:ext>
                  </a:extLst>
                </a:gridCol>
                <a:gridCol w="2856577">
                  <a:extLst>
                    <a:ext uri="{9D8B030D-6E8A-4147-A177-3AD203B41FA5}">
                      <a16:colId xmlns:a16="http://schemas.microsoft.com/office/drawing/2014/main" val="1669866357"/>
                    </a:ext>
                  </a:extLst>
                </a:gridCol>
                <a:gridCol w="2856577">
                  <a:extLst>
                    <a:ext uri="{9D8B030D-6E8A-4147-A177-3AD203B41FA5}">
                      <a16:colId xmlns:a16="http://schemas.microsoft.com/office/drawing/2014/main" val="1337599892"/>
                    </a:ext>
                  </a:extLst>
                </a:gridCol>
              </a:tblGrid>
              <a:tr h="327145">
                <a:tc gridSpan="4">
                  <a:txBody>
                    <a:bodyPr/>
                    <a:lstStyle/>
                    <a:p>
                      <a:pPr algn="ctr" latinLnBrk="1"/>
                      <a:r>
                        <a:rPr lang="ko-KR" altLang="en-US" dirty="0" smtClean="0">
                          <a:solidFill>
                            <a:schemeClr val="bg1"/>
                          </a:solidFill>
                        </a:rPr>
                        <a:t>기능</a:t>
                      </a:r>
                      <a:r>
                        <a:rPr lang="ko-KR" altLang="en-US" baseline="0" dirty="0" smtClean="0">
                          <a:solidFill>
                            <a:schemeClr val="bg1"/>
                          </a:solidFill>
                        </a:rPr>
                        <a:t> </a:t>
                      </a:r>
                      <a:r>
                        <a:rPr lang="ko-KR" altLang="en-US" dirty="0" smtClean="0">
                          <a:solidFill>
                            <a:schemeClr val="bg1"/>
                          </a:solidFill>
                        </a:rPr>
                        <a:t>흐름도</a:t>
                      </a:r>
                      <a:endParaRPr lang="ko-KR" altLang="en-US" dirty="0">
                        <a:solidFill>
                          <a:schemeClr val="bg1"/>
                        </a:solidFill>
                      </a:endParaRP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rgbClr val="FF6F00"/>
                    </a:solidFill>
                  </a:tcPr>
                </a:tc>
                <a:tc hMerge="1">
                  <a:txBody>
                    <a:bodyPr/>
                    <a:lstStyle/>
                    <a:p>
                      <a:pPr algn="ctr" latinLnBrk="1"/>
                      <a:endParaRPr lang="ko-KR" altLang="en-US" dirty="0">
                        <a:solidFill>
                          <a:schemeClr val="bg1"/>
                        </a:solidFill>
                      </a:endParaRP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rgbClr val="FF6F00"/>
                    </a:solidFill>
                  </a:tcPr>
                </a:tc>
                <a:tc hMerge="1">
                  <a:txBody>
                    <a:bodyPr/>
                    <a:lstStyle/>
                    <a:p>
                      <a:pPr algn="ctr" latinLnBrk="1"/>
                      <a:endParaRPr lang="ko-KR" altLang="en-US" dirty="0">
                        <a:solidFill>
                          <a:schemeClr val="bg1"/>
                        </a:solidFill>
                      </a:endParaRP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rgbClr val="FF6F00"/>
                    </a:solidFill>
                  </a:tcPr>
                </a:tc>
                <a:tc hMerge="1">
                  <a:txBody>
                    <a:bodyPr/>
                    <a:lstStyle/>
                    <a:p>
                      <a:pPr algn="ctr" latinLnBrk="1"/>
                      <a:endParaRPr lang="ko-KR" altLang="en-US" dirty="0">
                        <a:solidFill>
                          <a:schemeClr val="bg1"/>
                        </a:solidFill>
                      </a:endParaRP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rgbClr val="FF6F00"/>
                    </a:solidFill>
                  </a:tcPr>
                </a:tc>
                <a:extLst>
                  <a:ext uri="{0D108BD9-81ED-4DB2-BD59-A6C34878D82A}">
                    <a16:rowId xmlns:a16="http://schemas.microsoft.com/office/drawing/2014/main" val="1032358826"/>
                  </a:ext>
                </a:extLst>
              </a:tr>
              <a:tr h="2806208">
                <a:tc>
                  <a:txBody>
                    <a:bodyPr/>
                    <a:lstStyle/>
                    <a:p>
                      <a:pPr marL="0" marR="0" lvl="0" indent="0" algn="just" defTabSz="914400" rtl="0" eaLnBrk="1" fontAlgn="auto" latinLnBrk="1" hangingPunct="1">
                        <a:lnSpc>
                          <a:spcPct val="100000"/>
                        </a:lnSpc>
                        <a:spcBef>
                          <a:spcPts val="0"/>
                        </a:spcBef>
                        <a:spcAft>
                          <a:spcPts val="0"/>
                        </a:spcAft>
                        <a:buClrTx/>
                        <a:buSzTx/>
                        <a:buFontTx/>
                        <a:buNone/>
                        <a:tabLst/>
                        <a:defRPr/>
                      </a:pPr>
                      <a:r>
                        <a:rPr sz="100"/>
                        <a:t/>
                      </a:r>
                      <a:endParaRPr lang="en-US" altLang="ko-KR" sz="1800" b="0" dirty="0" smtClean="0">
                        <a:solidFill>
                          <a:srgbClr val="FF0000"/>
                        </a:solidFill>
                        <a:latin typeface="+mn-lt"/>
                      </a:endParaRP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tc>
                  <a:txBody>
                    <a:bodyPr/>
                    <a:lstStyle/>
                    <a:p>
                      <a:pPr marL="0" marR="0" lvl="0" indent="0" algn="just" defTabSz="914400" rtl="0" eaLnBrk="1" fontAlgn="auto" latinLnBrk="1" hangingPunct="1">
                        <a:lnSpc>
                          <a:spcPct val="100000"/>
                        </a:lnSpc>
                        <a:spcBef>
                          <a:spcPts val="0"/>
                        </a:spcBef>
                        <a:spcAft>
                          <a:spcPts val="0"/>
                        </a:spcAft>
                        <a:buClrTx/>
                        <a:buSzTx/>
                        <a:buFontTx/>
                        <a:buNone/>
                        <a:tabLst/>
                        <a:defRPr/>
                      </a:pPr>
                      <a:r>
                        <a:rPr sz="100"/>
                        <a:t/>
                      </a:r>
                      <a:endParaRPr lang="ko-KR" altLang="en-US" b="0" dirty="0" smtClean="0">
                        <a:solidFill>
                          <a:schemeClr val="tx1"/>
                        </a:solidFill>
                      </a:endParaRP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tc>
                  <a:txBody>
                    <a:bodyPr/>
                    <a:lstStyle/>
                    <a:p>
                      <a:pPr marL="0" marR="0" lvl="0" indent="0" algn="just" defTabSz="914400" rtl="0" eaLnBrk="1" fontAlgn="auto" latinLnBrk="1" hangingPunct="1">
                        <a:lnSpc>
                          <a:spcPct val="100000"/>
                        </a:lnSpc>
                        <a:spcBef>
                          <a:spcPts val="0"/>
                        </a:spcBef>
                        <a:spcAft>
                          <a:spcPts val="0"/>
                        </a:spcAft>
                        <a:buClrTx/>
                        <a:buSzTx/>
                        <a:buFontTx/>
                        <a:buNone/>
                        <a:tabLst/>
                        <a:defRPr/>
                      </a:pPr>
                      <a:r>
                        <a:rPr sz="100"/>
                        <a:t/>
                      </a:r>
                      <a:endParaRPr lang="ko-KR" altLang="en-US" b="0" dirty="0" smtClean="0">
                        <a:solidFill>
                          <a:schemeClr val="tx1"/>
                        </a:solidFill>
                      </a:endParaRP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tc>
                  <a:txBody>
                    <a:bodyPr/>
                    <a:lstStyle/>
                    <a:p>
                      <a:pPr marL="0" marR="0" lvl="0" indent="0" algn="just" defTabSz="914400" rtl="0" eaLnBrk="1" fontAlgn="auto" latinLnBrk="1" hangingPunct="1">
                        <a:lnSpc>
                          <a:spcPct val="100000"/>
                        </a:lnSpc>
                        <a:spcBef>
                          <a:spcPts val="0"/>
                        </a:spcBef>
                        <a:spcAft>
                          <a:spcPts val="0"/>
                        </a:spcAft>
                        <a:buClrTx/>
                        <a:buSzTx/>
                        <a:buFontTx/>
                        <a:buNone/>
                        <a:tabLst/>
                        <a:defRPr/>
                      </a:pPr>
                      <a:r>
                        <a:rPr sz="100"/>
                        <a:t/>
                      </a:r>
                      <a:endParaRPr lang="ko-KR" altLang="en-US" b="0" dirty="0" smtClean="0">
                        <a:solidFill>
                          <a:schemeClr val="tx1"/>
                        </a:solidFill>
                      </a:endParaRP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3357600838"/>
                  </a:ext>
                </a:extLst>
              </a:tr>
              <a:tr h="1433874">
                <a:tc>
                  <a:txBody>
                    <a:bodyPr/>
                    <a:lstStyle/>
                    <a:p>
                      <a:pPr marL="0" marR="0" lvl="0" indent="0" algn="just" defTabSz="914400" rtl="0" eaLnBrk="1" fontAlgn="auto" latinLnBrk="1" hangingPunct="1">
                        <a:lnSpc>
                          <a:spcPct val="100000"/>
                        </a:lnSpc>
                        <a:spcBef>
                          <a:spcPts val="0"/>
                        </a:spcBef>
                        <a:spcAft>
                          <a:spcPts val="0"/>
                        </a:spcAft>
                        <a:buClrTx/>
                        <a:buSzTx/>
                        <a:buFontTx/>
                        <a:buNone/>
                        <a:tabLst/>
                        <a:defRPr/>
                      </a:pPr>
                      <a:r>
                        <a:rPr sz="1400"/>
                        <a:t>홈 화면에서 시간대별 추천 코스를 확인한다.</a:t>
                      </a:r>
                      <a:endParaRPr lang="en-US" altLang="ko-KR" b="0" dirty="0" smtClean="0">
                        <a:solidFill>
                          <a:schemeClr val="tx1"/>
                        </a:solidFill>
                      </a:endParaRP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tc>
                  <a:txBody>
                    <a:bodyPr/>
                    <a:lstStyle/>
                    <a:p>
                      <a:pPr algn="just" latinLnBrk="1"/>
                      <a:r>
                        <a:rPr sz="1400"/>
                        <a:t>코스 상세에서 소요시간과 스팟 순서를 확인하고 코스를 시작한다.</a:t>
                      </a:r>
                      <a:endParaRPr lang="ko-KR" altLang="en-US" b="0" dirty="0">
                        <a:solidFill>
                          <a:schemeClr val="tx1"/>
                        </a:solidFill>
                      </a:endParaRP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tc>
                  <a:txBody>
                    <a:bodyPr/>
                    <a:lstStyle/>
                    <a:p>
                      <a:pPr algn="just" latinLnBrk="1"/>
                      <a:r>
                        <a:rPr sz="100"/>
                        <a:t/>
                      </a:r>
                      <a:endParaRPr lang="ko-KR" altLang="en-US" b="0" dirty="0">
                        <a:solidFill>
                          <a:schemeClr val="tx1"/>
                        </a:solidFill>
                      </a:endParaRP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tc>
                  <a:txBody>
                    <a:bodyPr/>
                    <a:lstStyle/>
                    <a:p>
                      <a:pPr algn="just" latinLnBrk="1"/>
                      <a:r>
                        <a:rPr sz="100"/>
                        <a:t/>
                      </a:r>
                      <a:endParaRPr lang="ko-KR" altLang="en-US" b="0" dirty="0">
                        <a:solidFill>
                          <a:schemeClr val="tx1"/>
                        </a:solidFill>
                      </a:endParaRP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4293083417"/>
                  </a:ext>
                </a:extLst>
              </a:tr>
            </a:tbl>
          </a:graphicData>
        </a:graphic>
      </p:graphicFrame>
      <p:graphicFrame>
        <p:nvGraphicFramePr>
          <p:cNvPr id="15" name="표 14"/>
          <p:cNvGraphicFramePr>
            <a:graphicFrameLocks noGrp="1"/>
          </p:cNvGraphicFramePr>
          <p:nvPr>
            <p:extLst>
              <p:ext uri="{D42A27DB-BD31-4B8C-83A1-F6EECF244321}">
                <p14:modId xmlns:p14="http://schemas.microsoft.com/office/powerpoint/2010/main" val="2744280268"/>
              </p:ext>
            </p:extLst>
          </p:nvPr>
        </p:nvGraphicFramePr>
        <p:xfrm>
          <a:off x="302952" y="1130530"/>
          <a:ext cx="11426308" cy="731520"/>
        </p:xfrm>
        <a:graphic>
          <a:graphicData uri="http://schemas.openxmlformats.org/drawingml/2006/table">
            <a:tbl>
              <a:tblPr firstRow="1" bandRow="1">
                <a:tableStyleId>{5C22544A-7EE6-4342-B048-85BDC9FD1C3A}</a:tableStyleId>
              </a:tblPr>
              <a:tblGrid>
                <a:gridCol w="1782764">
                  <a:extLst>
                    <a:ext uri="{9D8B030D-6E8A-4147-A177-3AD203B41FA5}">
                      <a16:colId xmlns:a16="http://schemas.microsoft.com/office/drawing/2014/main" val="837638667"/>
                    </a:ext>
                  </a:extLst>
                </a:gridCol>
                <a:gridCol w="9643544">
                  <a:extLst>
                    <a:ext uri="{9D8B030D-6E8A-4147-A177-3AD203B41FA5}">
                      <a16:colId xmlns:a16="http://schemas.microsoft.com/office/drawing/2014/main" val="2364043552"/>
                    </a:ext>
                  </a:extLst>
                </a:gridCol>
              </a:tblGrid>
              <a:tr h="236913">
                <a:tc>
                  <a:txBody>
                    <a:bodyPr/>
                    <a:lstStyle/>
                    <a:p>
                      <a:pPr algn="ctr" latinLnBrk="1"/>
                      <a:r>
                        <a:rPr lang="ko-KR" altLang="en-US" b="1" dirty="0" smtClean="0">
                          <a:solidFill>
                            <a:schemeClr val="bg1"/>
                          </a:solidFill>
                        </a:rPr>
                        <a:t>핵심 기능1</a:t>
                      </a:r>
                      <a:r>
                        <a:rPr lang="en-US" altLang="ko-KR" b="1" dirty="0" smtClean="0">
                          <a:solidFill>
                            <a:schemeClr val="bg1"/>
                          </a:solidFill>
                        </a:rPr>
                        <a:t>핵심 기능1</a:t>
                      </a:r>
                      <a:endParaRPr lang="ko-KR" altLang="en-US" b="1" dirty="0">
                        <a:solidFill>
                          <a:schemeClr val="bg1"/>
                        </a:solidFill>
                      </a:endParaRP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rgbClr val="FFA401"/>
                    </a:solidFill>
                  </a:tcPr>
                </a:tc>
                <a:tc>
                  <a:txBody>
                    <a:bodyPr/>
                    <a:lstStyle/>
                    <a:p>
                      <a:pPr latinLnBrk="1" algn="l"/>
                      <a:r>
                        <a:rPr sz="1600"/>
                        <a:t>야간관광 추천 코스 제공</a:t>
                      </a:r>
                      <a:endParaRPr lang="ko-KR" altLang="en-US" b="0" dirty="0">
                        <a:solidFill>
                          <a:schemeClr val="tx1"/>
                        </a:solidFill>
                      </a:endParaRP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1576143207"/>
                  </a:ext>
                </a:extLst>
              </a:tr>
              <a:tr h="236913">
                <a:tc>
                  <a:txBody>
                    <a:bodyPr/>
                    <a:lstStyle/>
                    <a:p>
                      <a:pPr algn="ctr" latinLnBrk="1"/>
                      <a:r>
                        <a:rPr lang="ko-KR" altLang="en-US" b="1" dirty="0" smtClean="0">
                          <a:solidFill>
                            <a:schemeClr val="bg1"/>
                          </a:solidFill>
                        </a:rPr>
                        <a:t>기능 설명</a:t>
                      </a:r>
                      <a:endParaRPr lang="ko-KR" altLang="en-US" b="1" dirty="0">
                        <a:solidFill>
                          <a:schemeClr val="bg1"/>
                        </a:solidFill>
                      </a:endParaRP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rgbClr val="FFA401"/>
                    </a:solidFill>
                  </a:tcPr>
                </a:tc>
                <a:tc>
                  <a:txBody>
                    <a:bodyPr/>
                    <a:lstStyle/>
                    <a:p>
                      <a:pPr marL="0" marR="0" lvl="0" indent="0" algn="just" defTabSz="914400" rtl="0" eaLnBrk="1" fontAlgn="auto" latinLnBrk="1" hangingPunct="1">
                        <a:lnSpc>
                          <a:spcPct val="100000"/>
                        </a:lnSpc>
                        <a:spcBef>
                          <a:spcPts val="0"/>
                        </a:spcBef>
                        <a:spcAft>
                          <a:spcPts val="0"/>
                        </a:spcAft>
                        <a:buClrTx/>
                        <a:buSzTx/>
                        <a:buFontTx/>
                        <a:buNone/>
                        <a:tabLst/>
                        <a:defRPr/>
                      </a:pPr>
                      <a:r>
                        <a:rPr sz="1500"/>
                        <a:t>시간대에 맞는 추천 코스를 홈 화면에서 확인하고, 코스 상세에서 소요시간·거리·스팟 수·추천 시간대를 확인할 수 있는 기능입니다.</a:t>
                      </a:r>
                      <a:endParaRPr lang="ko-KR" altLang="en-US" b="0" dirty="0" smtClean="0">
                        <a:solidFill>
                          <a:schemeClr val="tx1"/>
                        </a:solidFill>
                      </a:endParaRP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2502682219"/>
                  </a:ext>
                </a:extLst>
              </a:tr>
            </a:tbl>
          </a:graphicData>
        </a:graphic>
      </p:graphicFrame>
      <p:pic>
        <p:nvPicPr>
          <p:cNvPr id="20" name="Picture 19" descr="image.png"/>
          <p:cNvPicPr>
            <a:picLocks noChangeAspect="1"/>
          </p:cNvPicPr>
          <p:nvPr/>
        </p:nvPicPr>
        <p:blipFill>
          <a:blip r:embed="rId2"/>
          <a:stretch>
            <a:fillRect/>
          </a:stretch>
        </p:blipFill>
        <p:spPr>
          <a:xfrm>
            <a:off x="1150038" y="2400781"/>
            <a:ext cx="1162404" cy="2525588"/>
          </a:xfrm>
          <a:prstGeom prst="rect">
            <a:avLst/>
          </a:prstGeom>
        </p:spPr>
      </p:pic>
      <p:pic>
        <p:nvPicPr>
          <p:cNvPr id="21" name="Picture 20" descr="image.png"/>
          <p:cNvPicPr>
            <a:picLocks noChangeAspect="1"/>
          </p:cNvPicPr>
          <p:nvPr/>
        </p:nvPicPr>
        <p:blipFill>
          <a:blip r:embed="rId3"/>
          <a:stretch>
            <a:fillRect/>
          </a:stretch>
        </p:blipFill>
        <p:spPr>
          <a:xfrm>
            <a:off x="4006615" y="2400781"/>
            <a:ext cx="1162404" cy="2525588"/>
          </a:xfrm>
          <a:prstGeom prst="rect">
            <a:avLst/>
          </a:prstGeom>
        </p:spPr>
      </p:pic>
    </p:spTree>
    <p:extLst>
      <p:ext uri="{BB962C8B-B14F-4D97-AF65-F5344CB8AC3E}">
        <p14:creationId xmlns:p14="http://schemas.microsoft.com/office/powerpoint/2010/main" val="6719406"/>
      </p:ext>
    </p:extLst>
  </p:cSld>
  <p:clrMapOvr>
    <a:masterClrMapping/>
  </p:clrMapOvr>
  <p:timing>
    <p:tnLst>
      <p:par>
        <p:cTn id="1" dur="indefinite" restart="never" nodeType="tmRoot"/>
      </p:par>
    </p:tnLst>
  </p:timing>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graphicFrame>
        <p:nvGraphicFramePr>
          <p:cNvPr id="8" name="표 7"/>
          <p:cNvGraphicFramePr>
            <a:graphicFrameLocks noGrp="1"/>
          </p:cNvGraphicFramePr>
          <p:nvPr>
            <p:extLst>
              <p:ext uri="{D42A27DB-BD31-4B8C-83A1-F6EECF244321}">
                <p14:modId xmlns:p14="http://schemas.microsoft.com/office/powerpoint/2010/main" val="2957004574"/>
              </p:ext>
            </p:extLst>
          </p:nvPr>
        </p:nvGraphicFramePr>
        <p:xfrm>
          <a:off x="302952" y="1933326"/>
          <a:ext cx="11426308" cy="4605842"/>
        </p:xfrm>
        <a:graphic>
          <a:graphicData uri="http://schemas.openxmlformats.org/drawingml/2006/table">
            <a:tbl>
              <a:tblPr firstRow="1" bandRow="1">
                <a:tableStyleId>{5C22544A-7EE6-4342-B048-85BDC9FD1C3A}</a:tableStyleId>
              </a:tblPr>
              <a:tblGrid>
                <a:gridCol w="2856577">
                  <a:extLst>
                    <a:ext uri="{9D8B030D-6E8A-4147-A177-3AD203B41FA5}">
                      <a16:colId xmlns:a16="http://schemas.microsoft.com/office/drawing/2014/main" val="956832101"/>
                    </a:ext>
                  </a:extLst>
                </a:gridCol>
                <a:gridCol w="2856577">
                  <a:extLst>
                    <a:ext uri="{9D8B030D-6E8A-4147-A177-3AD203B41FA5}">
                      <a16:colId xmlns:a16="http://schemas.microsoft.com/office/drawing/2014/main" val="2325135401"/>
                    </a:ext>
                  </a:extLst>
                </a:gridCol>
                <a:gridCol w="2856577">
                  <a:extLst>
                    <a:ext uri="{9D8B030D-6E8A-4147-A177-3AD203B41FA5}">
                      <a16:colId xmlns:a16="http://schemas.microsoft.com/office/drawing/2014/main" val="1669866357"/>
                    </a:ext>
                  </a:extLst>
                </a:gridCol>
                <a:gridCol w="2856577">
                  <a:extLst>
                    <a:ext uri="{9D8B030D-6E8A-4147-A177-3AD203B41FA5}">
                      <a16:colId xmlns:a16="http://schemas.microsoft.com/office/drawing/2014/main" val="1337599892"/>
                    </a:ext>
                  </a:extLst>
                </a:gridCol>
              </a:tblGrid>
              <a:tr h="327145">
                <a:tc gridSpan="4">
                  <a:txBody>
                    <a:bodyPr/>
                    <a:lstStyle/>
                    <a:p>
                      <a:pPr algn="ctr" latinLnBrk="1"/>
                      <a:r>
                        <a:rPr lang="ko-KR" altLang="en-US" dirty="0" smtClean="0">
                          <a:solidFill>
                            <a:schemeClr val="bg1"/>
                          </a:solidFill>
                        </a:rPr>
                        <a:t>기능</a:t>
                      </a:r>
                      <a:r>
                        <a:rPr lang="ko-KR" altLang="en-US" baseline="0" dirty="0" smtClean="0">
                          <a:solidFill>
                            <a:schemeClr val="bg1"/>
                          </a:solidFill>
                        </a:rPr>
                        <a:t> </a:t>
                      </a:r>
                      <a:r>
                        <a:rPr lang="ko-KR" altLang="en-US" dirty="0" smtClean="0">
                          <a:solidFill>
                            <a:schemeClr val="bg1"/>
                          </a:solidFill>
                        </a:rPr>
                        <a:t>흐름도</a:t>
                      </a:r>
                      <a:endParaRPr lang="ko-KR" altLang="en-US" dirty="0">
                        <a:solidFill>
                          <a:schemeClr val="bg1"/>
                        </a:solidFill>
                      </a:endParaRP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rgbClr val="FF6F00"/>
                    </a:solidFill>
                  </a:tcPr>
                </a:tc>
                <a:tc hMerge="1">
                  <a:txBody>
                    <a:bodyPr/>
                    <a:lstStyle/>
                    <a:p>
                      <a:pPr algn="ctr" latinLnBrk="1"/>
                      <a:endParaRPr lang="ko-KR" altLang="en-US" dirty="0">
                        <a:solidFill>
                          <a:schemeClr val="bg1"/>
                        </a:solidFill>
                      </a:endParaRP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rgbClr val="FF6F00"/>
                    </a:solidFill>
                  </a:tcPr>
                </a:tc>
                <a:tc hMerge="1">
                  <a:txBody>
                    <a:bodyPr/>
                    <a:lstStyle/>
                    <a:p>
                      <a:pPr algn="ctr" latinLnBrk="1"/>
                      <a:endParaRPr lang="ko-KR" altLang="en-US" dirty="0">
                        <a:solidFill>
                          <a:schemeClr val="bg1"/>
                        </a:solidFill>
                      </a:endParaRP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rgbClr val="FF6F00"/>
                    </a:solidFill>
                  </a:tcPr>
                </a:tc>
                <a:tc hMerge="1">
                  <a:txBody>
                    <a:bodyPr/>
                    <a:lstStyle/>
                    <a:p>
                      <a:pPr algn="ctr" latinLnBrk="1"/>
                      <a:endParaRPr lang="ko-KR" altLang="en-US" dirty="0">
                        <a:solidFill>
                          <a:schemeClr val="bg1"/>
                        </a:solidFill>
                      </a:endParaRP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rgbClr val="FF6F00"/>
                    </a:solidFill>
                  </a:tcPr>
                </a:tc>
                <a:extLst>
                  <a:ext uri="{0D108BD9-81ED-4DB2-BD59-A6C34878D82A}">
                    <a16:rowId xmlns:a16="http://schemas.microsoft.com/office/drawing/2014/main" val="1032358826"/>
                  </a:ext>
                </a:extLst>
              </a:tr>
              <a:tr h="2806208">
                <a:tc>
                  <a:txBody>
                    <a:bodyPr/>
                    <a:lstStyle/>
                    <a:p>
                      <a:pPr marL="0" marR="0" lvl="0" indent="0" algn="just" defTabSz="914400" rtl="0" eaLnBrk="1" fontAlgn="auto" latinLnBrk="1" hangingPunct="1">
                        <a:lnSpc>
                          <a:spcPct val="100000"/>
                        </a:lnSpc>
                        <a:spcBef>
                          <a:spcPts val="0"/>
                        </a:spcBef>
                        <a:spcAft>
                          <a:spcPts val="0"/>
                        </a:spcAft>
                        <a:buClrTx/>
                        <a:buSzTx/>
                        <a:buFontTx/>
                        <a:buNone/>
                        <a:tabLst/>
                        <a:defRPr/>
                      </a:pPr>
                      <a:r>
                        <a:rPr sz="100"/>
                        <a:t/>
                      </a:r>
                      <a:endParaRPr lang="en-US" altLang="ko-KR" sz="1800" b="0" dirty="0" smtClean="0">
                        <a:solidFill>
                          <a:srgbClr val="FF0000"/>
                        </a:solidFill>
                        <a:latin typeface="+mn-lt"/>
                      </a:endParaRP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tc>
                  <a:txBody>
                    <a:bodyPr/>
                    <a:lstStyle/>
                    <a:p>
                      <a:pPr marL="0" marR="0" lvl="0" indent="0" algn="just" defTabSz="914400" rtl="0" eaLnBrk="1" fontAlgn="auto" latinLnBrk="1" hangingPunct="1">
                        <a:lnSpc>
                          <a:spcPct val="100000"/>
                        </a:lnSpc>
                        <a:spcBef>
                          <a:spcPts val="0"/>
                        </a:spcBef>
                        <a:spcAft>
                          <a:spcPts val="0"/>
                        </a:spcAft>
                        <a:buClrTx/>
                        <a:buSzTx/>
                        <a:buFontTx/>
                        <a:buNone/>
                        <a:tabLst/>
                        <a:defRPr/>
                      </a:pPr>
                      <a:r>
                        <a:rPr sz="100"/>
                        <a:t/>
                      </a:r>
                      <a:endParaRPr lang="ko-KR" altLang="en-US" b="0" dirty="0" smtClean="0">
                        <a:solidFill>
                          <a:schemeClr val="tx1"/>
                        </a:solidFill>
                      </a:endParaRP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tc>
                  <a:txBody>
                    <a:bodyPr/>
                    <a:lstStyle/>
                    <a:p>
                      <a:pPr marL="0" marR="0" lvl="0" indent="0" algn="just" defTabSz="914400" rtl="0" eaLnBrk="1" fontAlgn="auto" latinLnBrk="1" hangingPunct="1">
                        <a:lnSpc>
                          <a:spcPct val="100000"/>
                        </a:lnSpc>
                        <a:spcBef>
                          <a:spcPts val="0"/>
                        </a:spcBef>
                        <a:spcAft>
                          <a:spcPts val="0"/>
                        </a:spcAft>
                        <a:buClrTx/>
                        <a:buSzTx/>
                        <a:buFontTx/>
                        <a:buNone/>
                        <a:tabLst/>
                        <a:defRPr/>
                      </a:pPr>
                      <a:r>
                        <a:rPr sz="100"/>
                        <a:t/>
                      </a:r>
                      <a:endParaRPr lang="ko-KR" altLang="en-US" b="0" dirty="0" smtClean="0">
                        <a:solidFill>
                          <a:schemeClr val="tx1"/>
                        </a:solidFill>
                      </a:endParaRP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tc>
                  <a:txBody>
                    <a:bodyPr/>
                    <a:lstStyle/>
                    <a:p>
                      <a:pPr marL="0" marR="0" lvl="0" indent="0" algn="just" defTabSz="914400" rtl="0" eaLnBrk="1" fontAlgn="auto" latinLnBrk="1" hangingPunct="1">
                        <a:lnSpc>
                          <a:spcPct val="100000"/>
                        </a:lnSpc>
                        <a:spcBef>
                          <a:spcPts val="0"/>
                        </a:spcBef>
                        <a:spcAft>
                          <a:spcPts val="0"/>
                        </a:spcAft>
                        <a:buClrTx/>
                        <a:buSzTx/>
                        <a:buFontTx/>
                        <a:buNone/>
                        <a:tabLst/>
                        <a:defRPr/>
                      </a:pPr>
                      <a:r>
                        <a:rPr sz="100"/>
                        <a:t/>
                      </a:r>
                      <a:endParaRPr lang="ko-KR" altLang="en-US" b="0" dirty="0" smtClean="0">
                        <a:solidFill>
                          <a:schemeClr val="tx1"/>
                        </a:solidFill>
                      </a:endParaRP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3357600838"/>
                  </a:ext>
                </a:extLst>
              </a:tr>
              <a:tr h="1433874">
                <a:tc>
                  <a:txBody>
                    <a:bodyPr/>
                    <a:lstStyle/>
                    <a:p>
                      <a:pPr marL="0" marR="0" lvl="0" indent="0" algn="just" defTabSz="914400" rtl="0" eaLnBrk="1" fontAlgn="auto" latinLnBrk="1" hangingPunct="1">
                        <a:lnSpc>
                          <a:spcPct val="100000"/>
                        </a:lnSpc>
                        <a:spcBef>
                          <a:spcPts val="0"/>
                        </a:spcBef>
                        <a:spcAft>
                          <a:spcPts val="0"/>
                        </a:spcAft>
                        <a:buClrTx/>
                        <a:buSzTx/>
                        <a:buFontTx/>
                        <a:buNone/>
                        <a:tabLst/>
                        <a:defRPr/>
                      </a:pPr>
                      <a:r>
                        <a:rPr sz="1400"/>
                        <a:t>마지막 스팟 도착 체크 후 코스 완료 화면에서 결과를 확인한다.</a:t>
                      </a:r>
                      <a:endParaRPr lang="en-US" altLang="ko-KR" b="0" dirty="0" smtClean="0">
                        <a:solidFill>
                          <a:schemeClr val="tx1"/>
                        </a:solidFill>
                      </a:endParaRP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tc>
                  <a:txBody>
                    <a:bodyPr/>
                    <a:lstStyle/>
                    <a:p>
                      <a:pPr algn="just" latinLnBrk="1"/>
                      <a:r>
                        <a:rPr sz="100"/>
                        <a:t/>
                      </a:r>
                      <a:endParaRPr lang="ko-KR" altLang="en-US" b="0" dirty="0">
                        <a:solidFill>
                          <a:schemeClr val="tx1"/>
                        </a:solidFill>
                      </a:endParaRP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tc>
                  <a:txBody>
                    <a:bodyPr/>
                    <a:lstStyle/>
                    <a:p>
                      <a:pPr algn="just" latinLnBrk="1"/>
                      <a:r>
                        <a:rPr sz="100"/>
                        <a:t/>
                      </a:r>
                      <a:endParaRPr lang="ko-KR" altLang="en-US" b="0" dirty="0">
                        <a:solidFill>
                          <a:schemeClr val="tx1"/>
                        </a:solidFill>
                      </a:endParaRP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tc>
                  <a:txBody>
                    <a:bodyPr/>
                    <a:lstStyle/>
                    <a:p>
                      <a:pPr algn="just" latinLnBrk="1"/>
                      <a:r>
                        <a:rPr sz="100"/>
                        <a:t/>
                      </a:r>
                      <a:endParaRPr lang="ko-KR" altLang="en-US" b="0" dirty="0">
                        <a:solidFill>
                          <a:schemeClr val="tx1"/>
                        </a:solidFill>
                      </a:endParaRP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4293083417"/>
                  </a:ext>
                </a:extLst>
              </a:tr>
            </a:tbl>
          </a:graphicData>
        </a:graphic>
      </p:graphicFrame>
      <p:graphicFrame>
        <p:nvGraphicFramePr>
          <p:cNvPr id="15" name="표 14"/>
          <p:cNvGraphicFramePr>
            <a:graphicFrameLocks noGrp="1"/>
          </p:cNvGraphicFramePr>
          <p:nvPr>
            <p:extLst>
              <p:ext uri="{D42A27DB-BD31-4B8C-83A1-F6EECF244321}">
                <p14:modId xmlns:p14="http://schemas.microsoft.com/office/powerpoint/2010/main" val="2744280268"/>
              </p:ext>
            </p:extLst>
          </p:nvPr>
        </p:nvGraphicFramePr>
        <p:xfrm>
          <a:off x="302952" y="1130530"/>
          <a:ext cx="11426308" cy="731520"/>
        </p:xfrm>
        <a:graphic>
          <a:graphicData uri="http://schemas.openxmlformats.org/drawingml/2006/table">
            <a:tbl>
              <a:tblPr firstRow="1" bandRow="1">
                <a:tableStyleId>{5C22544A-7EE6-4342-B048-85BDC9FD1C3A}</a:tableStyleId>
              </a:tblPr>
              <a:tblGrid>
                <a:gridCol w="1782764">
                  <a:extLst>
                    <a:ext uri="{9D8B030D-6E8A-4147-A177-3AD203B41FA5}">
                      <a16:colId xmlns:a16="http://schemas.microsoft.com/office/drawing/2014/main" val="837638667"/>
                    </a:ext>
                  </a:extLst>
                </a:gridCol>
                <a:gridCol w="9643544">
                  <a:extLst>
                    <a:ext uri="{9D8B030D-6E8A-4147-A177-3AD203B41FA5}">
                      <a16:colId xmlns:a16="http://schemas.microsoft.com/office/drawing/2014/main" val="2364043552"/>
                    </a:ext>
                  </a:extLst>
                </a:gridCol>
              </a:tblGrid>
              <a:tr h="236913">
                <a:tc>
                  <a:txBody>
                    <a:bodyPr/>
                    <a:lstStyle/>
                    <a:p>
                      <a:pPr algn="ctr" latinLnBrk="1"/>
                      <a:r>
                        <a:rPr lang="ko-KR" altLang="en-US" b="1" dirty="0" smtClean="0">
                          <a:solidFill>
                            <a:schemeClr val="bg1"/>
                          </a:solidFill>
                        </a:rPr>
                        <a:t>핵심 기능2</a:t>
                      </a:r>
                      <a:r>
                        <a:rPr lang="en-US" altLang="ko-KR" b="1" dirty="0" smtClean="0">
                          <a:solidFill>
                            <a:schemeClr val="bg1"/>
                          </a:solidFill>
                        </a:rPr>
                        <a:t>핵심 기능2</a:t>
                      </a:r>
                      <a:endParaRPr lang="ko-KR" altLang="en-US" b="1" dirty="0">
                        <a:solidFill>
                          <a:schemeClr val="bg1"/>
                        </a:solidFill>
                      </a:endParaRP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rgbClr val="FFA401"/>
                    </a:solidFill>
                  </a:tcPr>
                </a:tc>
                <a:tc>
                  <a:txBody>
                    <a:bodyPr/>
                    <a:lstStyle/>
                    <a:p>
                      <a:pPr latinLnBrk="1" algn="l"/>
                      <a:r>
                        <a:rPr sz="1600"/>
                        <a:t>위치기반 미션 및 코스 완료</a:t>
                      </a:r>
                      <a:endParaRPr lang="ko-KR" altLang="en-US" b="0" dirty="0">
                        <a:solidFill>
                          <a:schemeClr val="tx1"/>
                        </a:solidFill>
                      </a:endParaRP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1576143207"/>
                  </a:ext>
                </a:extLst>
              </a:tr>
              <a:tr h="236913">
                <a:tc>
                  <a:txBody>
                    <a:bodyPr/>
                    <a:lstStyle/>
                    <a:p>
                      <a:pPr algn="ctr" latinLnBrk="1"/>
                      <a:r>
                        <a:rPr lang="ko-KR" altLang="en-US" b="1" dirty="0" smtClean="0">
                          <a:solidFill>
                            <a:schemeClr val="bg1"/>
                          </a:solidFill>
                        </a:rPr>
                        <a:t>기능 설명</a:t>
                      </a:r>
                      <a:endParaRPr lang="ko-KR" altLang="en-US" b="1" dirty="0">
                        <a:solidFill>
                          <a:schemeClr val="bg1"/>
                        </a:solidFill>
                      </a:endParaRP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rgbClr val="FFA401"/>
                    </a:solidFill>
                  </a:tcPr>
                </a:tc>
                <a:tc>
                  <a:txBody>
                    <a:bodyPr/>
                    <a:lstStyle/>
                    <a:p>
                      <a:pPr marL="0" marR="0" lvl="0" indent="0" algn="just" defTabSz="914400" rtl="0" eaLnBrk="1" fontAlgn="auto" latinLnBrk="1" hangingPunct="1">
                        <a:lnSpc>
                          <a:spcPct val="100000"/>
                        </a:lnSpc>
                        <a:spcBef>
                          <a:spcPts val="0"/>
                        </a:spcBef>
                        <a:spcAft>
                          <a:spcPts val="0"/>
                        </a:spcAft>
                        <a:buClrTx/>
                        <a:buSzTx/>
                        <a:buFontTx/>
                        <a:buNone/>
                        <a:tabLst/>
                        <a:defRPr/>
                      </a:pPr>
                      <a:r>
                        <a:rPr sz="1500"/>
                        <a:t>스팟 도착을 자동/수동으로 체크하며 미션을 수행하고, 마지막 스팟 완료 시 완료 피드백과 찜·공유·로그인 유도를 제공하는 기능입니다.</a:t>
                      </a:r>
                      <a:endParaRPr lang="ko-KR" altLang="en-US" b="0" dirty="0" smtClean="0">
                        <a:solidFill>
                          <a:schemeClr val="tx1"/>
                        </a:solidFill>
                      </a:endParaRP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2502682219"/>
                  </a:ext>
                </a:extLst>
              </a:tr>
            </a:tbl>
          </a:graphicData>
        </a:graphic>
      </p:graphicFrame>
      <p:pic>
        <p:nvPicPr>
          <p:cNvPr id="20" name="Picture 19" descr="image.png"/>
          <p:cNvPicPr>
            <a:picLocks noChangeAspect="1"/>
          </p:cNvPicPr>
          <p:nvPr/>
        </p:nvPicPr>
        <p:blipFill>
          <a:blip r:embed="rId2"/>
          <a:stretch>
            <a:fillRect/>
          </a:stretch>
        </p:blipFill>
        <p:spPr>
          <a:xfrm>
            <a:off x="1150038" y="2400781"/>
            <a:ext cx="1162404" cy="2525588"/>
          </a:xfrm>
          <a:prstGeom prst="rect">
            <a:avLst/>
          </a:prstGeom>
        </p:spPr>
      </p:pic>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graphicFrame>
        <p:nvGraphicFramePr>
          <p:cNvPr id="8" name="표 7"/>
          <p:cNvGraphicFramePr>
            <a:graphicFrameLocks noGrp="1"/>
          </p:cNvGraphicFramePr>
          <p:nvPr>
            <p:extLst>
              <p:ext uri="{D42A27DB-BD31-4B8C-83A1-F6EECF244321}">
                <p14:modId xmlns:p14="http://schemas.microsoft.com/office/powerpoint/2010/main" val="2957004574"/>
              </p:ext>
            </p:extLst>
          </p:nvPr>
        </p:nvGraphicFramePr>
        <p:xfrm>
          <a:off x="302952" y="1933326"/>
          <a:ext cx="11426308" cy="4605842"/>
        </p:xfrm>
        <a:graphic>
          <a:graphicData uri="http://schemas.openxmlformats.org/drawingml/2006/table">
            <a:tbl>
              <a:tblPr firstRow="1" bandRow="1">
                <a:tableStyleId>{5C22544A-7EE6-4342-B048-85BDC9FD1C3A}</a:tableStyleId>
              </a:tblPr>
              <a:tblGrid>
                <a:gridCol w="2856577">
                  <a:extLst>
                    <a:ext uri="{9D8B030D-6E8A-4147-A177-3AD203B41FA5}">
                      <a16:colId xmlns:a16="http://schemas.microsoft.com/office/drawing/2014/main" val="956832101"/>
                    </a:ext>
                  </a:extLst>
                </a:gridCol>
                <a:gridCol w="2856577">
                  <a:extLst>
                    <a:ext uri="{9D8B030D-6E8A-4147-A177-3AD203B41FA5}">
                      <a16:colId xmlns:a16="http://schemas.microsoft.com/office/drawing/2014/main" val="2325135401"/>
                    </a:ext>
                  </a:extLst>
                </a:gridCol>
                <a:gridCol w="2856577">
                  <a:extLst>
                    <a:ext uri="{9D8B030D-6E8A-4147-A177-3AD203B41FA5}">
                      <a16:colId xmlns:a16="http://schemas.microsoft.com/office/drawing/2014/main" val="1669866357"/>
                    </a:ext>
                  </a:extLst>
                </a:gridCol>
                <a:gridCol w="2856577">
                  <a:extLst>
                    <a:ext uri="{9D8B030D-6E8A-4147-A177-3AD203B41FA5}">
                      <a16:colId xmlns:a16="http://schemas.microsoft.com/office/drawing/2014/main" val="1337599892"/>
                    </a:ext>
                  </a:extLst>
                </a:gridCol>
              </a:tblGrid>
              <a:tr h="327145">
                <a:tc gridSpan="4">
                  <a:txBody>
                    <a:bodyPr/>
                    <a:lstStyle/>
                    <a:p>
                      <a:pPr algn="ctr" latinLnBrk="1"/>
                      <a:r>
                        <a:rPr lang="ko-KR" altLang="en-US" dirty="0" smtClean="0">
                          <a:solidFill>
                            <a:schemeClr val="bg1"/>
                          </a:solidFill>
                        </a:rPr>
                        <a:t>기능</a:t>
                      </a:r>
                      <a:r>
                        <a:rPr lang="ko-KR" altLang="en-US" baseline="0" dirty="0" smtClean="0">
                          <a:solidFill>
                            <a:schemeClr val="bg1"/>
                          </a:solidFill>
                        </a:rPr>
                        <a:t> </a:t>
                      </a:r>
                      <a:r>
                        <a:rPr lang="ko-KR" altLang="en-US" dirty="0" smtClean="0">
                          <a:solidFill>
                            <a:schemeClr val="bg1"/>
                          </a:solidFill>
                        </a:rPr>
                        <a:t>흐름도</a:t>
                      </a:r>
                      <a:endParaRPr lang="ko-KR" altLang="en-US" dirty="0">
                        <a:solidFill>
                          <a:schemeClr val="bg1"/>
                        </a:solidFill>
                      </a:endParaRP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rgbClr val="FF6F00"/>
                    </a:solidFill>
                  </a:tcPr>
                </a:tc>
                <a:tc hMerge="1">
                  <a:txBody>
                    <a:bodyPr/>
                    <a:lstStyle/>
                    <a:p>
                      <a:pPr algn="ctr" latinLnBrk="1"/>
                      <a:endParaRPr lang="ko-KR" altLang="en-US" dirty="0">
                        <a:solidFill>
                          <a:schemeClr val="bg1"/>
                        </a:solidFill>
                      </a:endParaRP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rgbClr val="FF6F00"/>
                    </a:solidFill>
                  </a:tcPr>
                </a:tc>
                <a:tc hMerge="1">
                  <a:txBody>
                    <a:bodyPr/>
                    <a:lstStyle/>
                    <a:p>
                      <a:pPr algn="ctr" latinLnBrk="1"/>
                      <a:endParaRPr lang="ko-KR" altLang="en-US" dirty="0">
                        <a:solidFill>
                          <a:schemeClr val="bg1"/>
                        </a:solidFill>
                      </a:endParaRP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rgbClr val="FF6F00"/>
                    </a:solidFill>
                  </a:tcPr>
                </a:tc>
                <a:tc hMerge="1">
                  <a:txBody>
                    <a:bodyPr/>
                    <a:lstStyle/>
                    <a:p>
                      <a:pPr algn="ctr" latinLnBrk="1"/>
                      <a:endParaRPr lang="ko-KR" altLang="en-US" dirty="0">
                        <a:solidFill>
                          <a:schemeClr val="bg1"/>
                        </a:solidFill>
                      </a:endParaRP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rgbClr val="FF6F00"/>
                    </a:solidFill>
                  </a:tcPr>
                </a:tc>
                <a:extLst>
                  <a:ext uri="{0D108BD9-81ED-4DB2-BD59-A6C34878D82A}">
                    <a16:rowId xmlns:a16="http://schemas.microsoft.com/office/drawing/2014/main" val="1032358826"/>
                  </a:ext>
                </a:extLst>
              </a:tr>
              <a:tr h="2806208">
                <a:tc>
                  <a:txBody>
                    <a:bodyPr/>
                    <a:lstStyle/>
                    <a:p>
                      <a:pPr marL="0" marR="0" lvl="0" indent="0" algn="just" defTabSz="914400" rtl="0" eaLnBrk="1" fontAlgn="auto" latinLnBrk="1" hangingPunct="1">
                        <a:lnSpc>
                          <a:spcPct val="100000"/>
                        </a:lnSpc>
                        <a:spcBef>
                          <a:spcPts val="0"/>
                        </a:spcBef>
                        <a:spcAft>
                          <a:spcPts val="0"/>
                        </a:spcAft>
                        <a:buClrTx/>
                        <a:buSzTx/>
                        <a:buFontTx/>
                        <a:buNone/>
                        <a:tabLst/>
                        <a:defRPr/>
                      </a:pPr>
                      <a:r>
                        <a:rPr sz="100"/>
                        <a:t/>
                      </a:r>
                      <a:endParaRPr lang="en-US" altLang="ko-KR" sz="1800" b="0" dirty="0" smtClean="0">
                        <a:solidFill>
                          <a:srgbClr val="FF0000"/>
                        </a:solidFill>
                        <a:latin typeface="+mn-lt"/>
                      </a:endParaRP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tc>
                  <a:txBody>
                    <a:bodyPr/>
                    <a:lstStyle/>
                    <a:p>
                      <a:pPr marL="0" marR="0" lvl="0" indent="0" algn="just" defTabSz="914400" rtl="0" eaLnBrk="1" fontAlgn="auto" latinLnBrk="1" hangingPunct="1">
                        <a:lnSpc>
                          <a:spcPct val="100000"/>
                        </a:lnSpc>
                        <a:spcBef>
                          <a:spcPts val="0"/>
                        </a:spcBef>
                        <a:spcAft>
                          <a:spcPts val="0"/>
                        </a:spcAft>
                        <a:buClrTx/>
                        <a:buSzTx/>
                        <a:buFontTx/>
                        <a:buNone/>
                        <a:tabLst/>
                        <a:defRPr/>
                      </a:pPr>
                      <a:r>
                        <a:rPr sz="100"/>
                        <a:t/>
                      </a:r>
                      <a:endParaRPr lang="ko-KR" altLang="en-US" b="0" dirty="0" smtClean="0">
                        <a:solidFill>
                          <a:schemeClr val="tx1"/>
                        </a:solidFill>
                      </a:endParaRP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tc>
                  <a:txBody>
                    <a:bodyPr/>
                    <a:lstStyle/>
                    <a:p>
                      <a:pPr marL="0" marR="0" lvl="0" indent="0" algn="just" defTabSz="914400" rtl="0" eaLnBrk="1" fontAlgn="auto" latinLnBrk="1" hangingPunct="1">
                        <a:lnSpc>
                          <a:spcPct val="100000"/>
                        </a:lnSpc>
                        <a:spcBef>
                          <a:spcPts val="0"/>
                        </a:spcBef>
                        <a:spcAft>
                          <a:spcPts val="0"/>
                        </a:spcAft>
                        <a:buClrTx/>
                        <a:buSzTx/>
                        <a:buFontTx/>
                        <a:buNone/>
                        <a:tabLst/>
                        <a:defRPr/>
                      </a:pPr>
                      <a:r>
                        <a:rPr sz="100"/>
                        <a:t/>
                      </a:r>
                      <a:endParaRPr lang="ko-KR" altLang="en-US" b="0" dirty="0" smtClean="0">
                        <a:solidFill>
                          <a:schemeClr val="tx1"/>
                        </a:solidFill>
                      </a:endParaRP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tc>
                  <a:txBody>
                    <a:bodyPr/>
                    <a:lstStyle/>
                    <a:p>
                      <a:pPr marL="0" marR="0" lvl="0" indent="0" algn="just" defTabSz="914400" rtl="0" eaLnBrk="1" fontAlgn="auto" latinLnBrk="1" hangingPunct="1">
                        <a:lnSpc>
                          <a:spcPct val="100000"/>
                        </a:lnSpc>
                        <a:spcBef>
                          <a:spcPts val="0"/>
                        </a:spcBef>
                        <a:spcAft>
                          <a:spcPts val="0"/>
                        </a:spcAft>
                        <a:buClrTx/>
                        <a:buSzTx/>
                        <a:buFontTx/>
                        <a:buNone/>
                        <a:tabLst/>
                        <a:defRPr/>
                      </a:pPr>
                      <a:r>
                        <a:rPr sz="100"/>
                        <a:t/>
                      </a:r>
                      <a:endParaRPr lang="ko-KR" altLang="en-US" b="0" dirty="0" smtClean="0">
                        <a:solidFill>
                          <a:schemeClr val="tx1"/>
                        </a:solidFill>
                      </a:endParaRP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3357600838"/>
                  </a:ext>
                </a:extLst>
              </a:tr>
              <a:tr h="1433874">
                <a:tc>
                  <a:txBody>
                    <a:bodyPr/>
                    <a:lstStyle/>
                    <a:p>
                      <a:pPr marL="0" marR="0" lvl="0" indent="0" algn="just" defTabSz="914400" rtl="0" eaLnBrk="1" fontAlgn="auto" latinLnBrk="1" hangingPunct="1">
                        <a:lnSpc>
                          <a:spcPct val="100000"/>
                        </a:lnSpc>
                        <a:spcBef>
                          <a:spcPts val="0"/>
                        </a:spcBef>
                        <a:spcAft>
                          <a:spcPts val="0"/>
                        </a:spcAft>
                        <a:buClrTx/>
                        <a:buSzTx/>
                        <a:buFontTx/>
                        <a:buNone/>
                        <a:tabLst/>
                        <a:defRPr/>
                      </a:pPr>
                      <a:r>
                        <a:rPr sz="1400"/>
                        <a:t>내 주변 탭에서 현재 위치 기반 관광지와 로컬 스팟을 탐색한다.</a:t>
                      </a:r>
                      <a:endParaRPr lang="en-US" altLang="ko-KR" b="0" dirty="0" smtClean="0">
                        <a:solidFill>
                          <a:schemeClr val="tx1"/>
                        </a:solidFill>
                      </a:endParaRP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tc>
                  <a:txBody>
                    <a:bodyPr/>
                    <a:lstStyle/>
                    <a:p>
                      <a:pPr algn="just" latinLnBrk="1"/>
                      <a:r>
                        <a:rPr sz="100"/>
                        <a:t/>
                      </a:r>
                      <a:endParaRPr lang="ko-KR" altLang="en-US" b="0" dirty="0">
                        <a:solidFill>
                          <a:schemeClr val="tx1"/>
                        </a:solidFill>
                      </a:endParaRP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tc>
                  <a:txBody>
                    <a:bodyPr/>
                    <a:lstStyle/>
                    <a:p>
                      <a:pPr algn="just" latinLnBrk="1"/>
                      <a:r>
                        <a:rPr sz="100"/>
                        <a:t/>
                      </a:r>
                      <a:endParaRPr lang="ko-KR" altLang="en-US" b="0" dirty="0">
                        <a:solidFill>
                          <a:schemeClr val="tx1"/>
                        </a:solidFill>
                      </a:endParaRP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tc>
                  <a:txBody>
                    <a:bodyPr/>
                    <a:lstStyle/>
                    <a:p>
                      <a:pPr algn="just" latinLnBrk="1"/>
                      <a:r>
                        <a:rPr sz="100"/>
                        <a:t/>
                      </a:r>
                      <a:endParaRPr lang="ko-KR" altLang="en-US" b="0" dirty="0">
                        <a:solidFill>
                          <a:schemeClr val="tx1"/>
                        </a:solidFill>
                      </a:endParaRP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4293083417"/>
                  </a:ext>
                </a:extLst>
              </a:tr>
            </a:tbl>
          </a:graphicData>
        </a:graphic>
      </p:graphicFrame>
      <p:graphicFrame>
        <p:nvGraphicFramePr>
          <p:cNvPr id="15" name="표 14"/>
          <p:cNvGraphicFramePr>
            <a:graphicFrameLocks noGrp="1"/>
          </p:cNvGraphicFramePr>
          <p:nvPr>
            <p:extLst>
              <p:ext uri="{D42A27DB-BD31-4B8C-83A1-F6EECF244321}">
                <p14:modId xmlns:p14="http://schemas.microsoft.com/office/powerpoint/2010/main" val="2744280268"/>
              </p:ext>
            </p:extLst>
          </p:nvPr>
        </p:nvGraphicFramePr>
        <p:xfrm>
          <a:off x="302952" y="1130530"/>
          <a:ext cx="11426308" cy="731520"/>
        </p:xfrm>
        <a:graphic>
          <a:graphicData uri="http://schemas.openxmlformats.org/drawingml/2006/table">
            <a:tbl>
              <a:tblPr firstRow="1" bandRow="1">
                <a:tableStyleId>{5C22544A-7EE6-4342-B048-85BDC9FD1C3A}</a:tableStyleId>
              </a:tblPr>
              <a:tblGrid>
                <a:gridCol w="1782764">
                  <a:extLst>
                    <a:ext uri="{9D8B030D-6E8A-4147-A177-3AD203B41FA5}">
                      <a16:colId xmlns:a16="http://schemas.microsoft.com/office/drawing/2014/main" val="837638667"/>
                    </a:ext>
                  </a:extLst>
                </a:gridCol>
                <a:gridCol w="9643544">
                  <a:extLst>
                    <a:ext uri="{9D8B030D-6E8A-4147-A177-3AD203B41FA5}">
                      <a16:colId xmlns:a16="http://schemas.microsoft.com/office/drawing/2014/main" val="2364043552"/>
                    </a:ext>
                  </a:extLst>
                </a:gridCol>
              </a:tblGrid>
              <a:tr h="236913">
                <a:tc>
                  <a:txBody>
                    <a:bodyPr/>
                    <a:lstStyle/>
                    <a:p>
                      <a:pPr algn="ctr" latinLnBrk="1"/>
                      <a:r>
                        <a:rPr lang="ko-KR" altLang="en-US" b="1" dirty="0" smtClean="0">
                          <a:solidFill>
                            <a:schemeClr val="bg1"/>
                          </a:solidFill>
                        </a:rPr>
                        <a:t>핵심 기능3</a:t>
                      </a:r>
                      <a:r>
                        <a:rPr lang="en-US" altLang="ko-KR" b="1" dirty="0" smtClean="0">
                          <a:solidFill>
                            <a:schemeClr val="bg1"/>
                          </a:solidFill>
                        </a:rPr>
                        <a:t>핵심 기능3</a:t>
                      </a:r>
                      <a:endParaRPr lang="ko-KR" altLang="en-US" b="1" dirty="0">
                        <a:solidFill>
                          <a:schemeClr val="bg1"/>
                        </a:solidFill>
                      </a:endParaRP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rgbClr val="FFA401"/>
                    </a:solidFill>
                  </a:tcPr>
                </a:tc>
                <a:tc>
                  <a:txBody>
                    <a:bodyPr/>
                    <a:lstStyle/>
                    <a:p>
                      <a:pPr latinLnBrk="1" algn="l"/>
                      <a:r>
                        <a:rPr sz="1600"/>
                        <a:t>내 주변 관광지 탐색</a:t>
                      </a:r>
                      <a:endParaRPr lang="ko-KR" altLang="en-US" b="0" dirty="0">
                        <a:solidFill>
                          <a:schemeClr val="tx1"/>
                        </a:solidFill>
                      </a:endParaRP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1576143207"/>
                  </a:ext>
                </a:extLst>
              </a:tr>
              <a:tr h="236913">
                <a:tc>
                  <a:txBody>
                    <a:bodyPr/>
                    <a:lstStyle/>
                    <a:p>
                      <a:pPr algn="ctr" latinLnBrk="1"/>
                      <a:r>
                        <a:rPr lang="ko-KR" altLang="en-US" b="1" dirty="0" smtClean="0">
                          <a:solidFill>
                            <a:schemeClr val="bg1"/>
                          </a:solidFill>
                        </a:rPr>
                        <a:t>기능 설명</a:t>
                      </a:r>
                      <a:endParaRPr lang="ko-KR" altLang="en-US" b="1" dirty="0">
                        <a:solidFill>
                          <a:schemeClr val="bg1"/>
                        </a:solidFill>
                      </a:endParaRP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rgbClr val="FFA401"/>
                    </a:solidFill>
                  </a:tcPr>
                </a:tc>
                <a:tc>
                  <a:txBody>
                    <a:bodyPr/>
                    <a:lstStyle/>
                    <a:p>
                      <a:pPr marL="0" marR="0" lvl="0" indent="0" algn="just" defTabSz="914400" rtl="0" eaLnBrk="1" fontAlgn="auto" latinLnBrk="1" hangingPunct="1">
                        <a:lnSpc>
                          <a:spcPct val="100000"/>
                        </a:lnSpc>
                        <a:spcBef>
                          <a:spcPts val="0"/>
                        </a:spcBef>
                        <a:spcAft>
                          <a:spcPts val="0"/>
                        </a:spcAft>
                        <a:buClrTx/>
                        <a:buSzTx/>
                        <a:buFontTx/>
                        <a:buNone/>
                        <a:tabLst/>
                        <a:defRPr/>
                      </a:pPr>
                      <a:r>
                        <a:rPr sz="1500"/>
                        <a:t>현재 위치를 기준으로 주변 관광지와 로컬 추천 스팟을 탐색할 수 있는 기능입니다.</a:t>
                      </a:r>
                      <a:endParaRPr lang="ko-KR" altLang="en-US" b="0" dirty="0" smtClean="0">
                        <a:solidFill>
                          <a:schemeClr val="tx1"/>
                        </a:solidFill>
                      </a:endParaRP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2502682219"/>
                  </a:ext>
                </a:extLst>
              </a:tr>
            </a:tbl>
          </a:graphicData>
        </a:graphic>
      </p:graphicFrame>
      <p:pic>
        <p:nvPicPr>
          <p:cNvPr id="20" name="Picture 19" descr="image.png"/>
          <p:cNvPicPr>
            <a:picLocks noChangeAspect="1"/>
          </p:cNvPicPr>
          <p:nvPr/>
        </p:nvPicPr>
        <p:blipFill>
          <a:blip r:embed="rId2"/>
          <a:stretch>
            <a:fillRect/>
          </a:stretch>
        </p:blipFill>
        <p:spPr>
          <a:xfrm>
            <a:off x="1162983" y="2400781"/>
            <a:ext cx="1136514" cy="2525588"/>
          </a:xfrm>
          <a:prstGeom prst="rect">
            <a:avLst/>
          </a:prstGeom>
        </p:spPr>
      </p:pic>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graphicFrame>
        <p:nvGraphicFramePr>
          <p:cNvPr id="8" name="표 7"/>
          <p:cNvGraphicFramePr>
            <a:graphicFrameLocks noGrp="1"/>
          </p:cNvGraphicFramePr>
          <p:nvPr>
            <p:extLst>
              <p:ext uri="{D42A27DB-BD31-4B8C-83A1-F6EECF244321}">
                <p14:modId xmlns:p14="http://schemas.microsoft.com/office/powerpoint/2010/main" val="2957004574"/>
              </p:ext>
            </p:extLst>
          </p:nvPr>
        </p:nvGraphicFramePr>
        <p:xfrm>
          <a:off x="302952" y="1933326"/>
          <a:ext cx="11426308" cy="4605842"/>
        </p:xfrm>
        <a:graphic>
          <a:graphicData uri="http://schemas.openxmlformats.org/drawingml/2006/table">
            <a:tbl>
              <a:tblPr firstRow="1" bandRow="1">
                <a:tableStyleId>{5C22544A-7EE6-4342-B048-85BDC9FD1C3A}</a:tableStyleId>
              </a:tblPr>
              <a:tblGrid>
                <a:gridCol w="2856577">
                  <a:extLst>
                    <a:ext uri="{9D8B030D-6E8A-4147-A177-3AD203B41FA5}">
                      <a16:colId xmlns:a16="http://schemas.microsoft.com/office/drawing/2014/main" val="956832101"/>
                    </a:ext>
                  </a:extLst>
                </a:gridCol>
                <a:gridCol w="2856577">
                  <a:extLst>
                    <a:ext uri="{9D8B030D-6E8A-4147-A177-3AD203B41FA5}">
                      <a16:colId xmlns:a16="http://schemas.microsoft.com/office/drawing/2014/main" val="2325135401"/>
                    </a:ext>
                  </a:extLst>
                </a:gridCol>
                <a:gridCol w="2856577">
                  <a:extLst>
                    <a:ext uri="{9D8B030D-6E8A-4147-A177-3AD203B41FA5}">
                      <a16:colId xmlns:a16="http://schemas.microsoft.com/office/drawing/2014/main" val="1669866357"/>
                    </a:ext>
                  </a:extLst>
                </a:gridCol>
                <a:gridCol w="2856577">
                  <a:extLst>
                    <a:ext uri="{9D8B030D-6E8A-4147-A177-3AD203B41FA5}">
                      <a16:colId xmlns:a16="http://schemas.microsoft.com/office/drawing/2014/main" val="1337599892"/>
                    </a:ext>
                  </a:extLst>
                </a:gridCol>
              </a:tblGrid>
              <a:tr h="327145">
                <a:tc gridSpan="4">
                  <a:txBody>
                    <a:bodyPr/>
                    <a:lstStyle/>
                    <a:p>
                      <a:pPr algn="ctr" latinLnBrk="1"/>
                      <a:r>
                        <a:rPr lang="ko-KR" altLang="en-US" dirty="0" smtClean="0">
                          <a:solidFill>
                            <a:schemeClr val="bg1"/>
                          </a:solidFill>
                        </a:rPr>
                        <a:t>기능</a:t>
                      </a:r>
                      <a:r>
                        <a:rPr lang="ko-KR" altLang="en-US" baseline="0" dirty="0" smtClean="0">
                          <a:solidFill>
                            <a:schemeClr val="bg1"/>
                          </a:solidFill>
                        </a:rPr>
                        <a:t> </a:t>
                      </a:r>
                      <a:r>
                        <a:rPr lang="ko-KR" altLang="en-US" dirty="0" smtClean="0">
                          <a:solidFill>
                            <a:schemeClr val="bg1"/>
                          </a:solidFill>
                        </a:rPr>
                        <a:t>흐름도</a:t>
                      </a:r>
                      <a:endParaRPr lang="ko-KR" altLang="en-US" dirty="0">
                        <a:solidFill>
                          <a:schemeClr val="bg1"/>
                        </a:solidFill>
                      </a:endParaRP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rgbClr val="FF6F00"/>
                    </a:solidFill>
                  </a:tcPr>
                </a:tc>
                <a:tc hMerge="1">
                  <a:txBody>
                    <a:bodyPr/>
                    <a:lstStyle/>
                    <a:p>
                      <a:pPr algn="ctr" latinLnBrk="1"/>
                      <a:endParaRPr lang="ko-KR" altLang="en-US" dirty="0">
                        <a:solidFill>
                          <a:schemeClr val="bg1"/>
                        </a:solidFill>
                      </a:endParaRP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rgbClr val="FF6F00"/>
                    </a:solidFill>
                  </a:tcPr>
                </a:tc>
                <a:tc hMerge="1">
                  <a:txBody>
                    <a:bodyPr/>
                    <a:lstStyle/>
                    <a:p>
                      <a:pPr algn="ctr" latinLnBrk="1"/>
                      <a:endParaRPr lang="ko-KR" altLang="en-US" dirty="0">
                        <a:solidFill>
                          <a:schemeClr val="bg1"/>
                        </a:solidFill>
                      </a:endParaRP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rgbClr val="FF6F00"/>
                    </a:solidFill>
                  </a:tcPr>
                </a:tc>
                <a:tc hMerge="1">
                  <a:txBody>
                    <a:bodyPr/>
                    <a:lstStyle/>
                    <a:p>
                      <a:pPr algn="ctr" latinLnBrk="1"/>
                      <a:endParaRPr lang="ko-KR" altLang="en-US" dirty="0">
                        <a:solidFill>
                          <a:schemeClr val="bg1"/>
                        </a:solidFill>
                      </a:endParaRP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rgbClr val="FF6F00"/>
                    </a:solidFill>
                  </a:tcPr>
                </a:tc>
                <a:extLst>
                  <a:ext uri="{0D108BD9-81ED-4DB2-BD59-A6C34878D82A}">
                    <a16:rowId xmlns:a16="http://schemas.microsoft.com/office/drawing/2014/main" val="1032358826"/>
                  </a:ext>
                </a:extLst>
              </a:tr>
              <a:tr h="2806208">
                <a:tc>
                  <a:txBody>
                    <a:bodyPr/>
                    <a:lstStyle/>
                    <a:p>
                      <a:pPr marL="0" marR="0" lvl="0" indent="0" algn="just" defTabSz="914400" rtl="0" eaLnBrk="1" fontAlgn="auto" latinLnBrk="1" hangingPunct="1">
                        <a:lnSpc>
                          <a:spcPct val="100000"/>
                        </a:lnSpc>
                        <a:spcBef>
                          <a:spcPts val="0"/>
                        </a:spcBef>
                        <a:spcAft>
                          <a:spcPts val="0"/>
                        </a:spcAft>
                        <a:buClrTx/>
                        <a:buSzTx/>
                        <a:buFontTx/>
                        <a:buNone/>
                        <a:tabLst/>
                        <a:defRPr/>
                      </a:pPr>
                      <a:r>
                        <a:rPr sz="100"/>
                        <a:t/>
                      </a:r>
                      <a:endParaRPr lang="en-US" altLang="ko-KR" sz="1800" b="0" dirty="0" smtClean="0">
                        <a:solidFill>
                          <a:srgbClr val="FF0000"/>
                        </a:solidFill>
                        <a:latin typeface="+mn-lt"/>
                      </a:endParaRP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tc>
                  <a:txBody>
                    <a:bodyPr/>
                    <a:lstStyle/>
                    <a:p>
                      <a:pPr marL="0" marR="0" lvl="0" indent="0" algn="just" defTabSz="914400" rtl="0" eaLnBrk="1" fontAlgn="auto" latinLnBrk="1" hangingPunct="1">
                        <a:lnSpc>
                          <a:spcPct val="100000"/>
                        </a:lnSpc>
                        <a:spcBef>
                          <a:spcPts val="0"/>
                        </a:spcBef>
                        <a:spcAft>
                          <a:spcPts val="0"/>
                        </a:spcAft>
                        <a:buClrTx/>
                        <a:buSzTx/>
                        <a:buFontTx/>
                        <a:buNone/>
                        <a:tabLst/>
                        <a:defRPr/>
                      </a:pPr>
                      <a:r>
                        <a:rPr sz="100"/>
                        <a:t/>
                      </a:r>
                      <a:endParaRPr lang="ko-KR" altLang="en-US" b="0" dirty="0" smtClean="0">
                        <a:solidFill>
                          <a:schemeClr val="tx1"/>
                        </a:solidFill>
                      </a:endParaRP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tc>
                  <a:txBody>
                    <a:bodyPr/>
                    <a:lstStyle/>
                    <a:p>
                      <a:pPr marL="0" marR="0" lvl="0" indent="0" algn="just" defTabSz="914400" rtl="0" eaLnBrk="1" fontAlgn="auto" latinLnBrk="1" hangingPunct="1">
                        <a:lnSpc>
                          <a:spcPct val="100000"/>
                        </a:lnSpc>
                        <a:spcBef>
                          <a:spcPts val="0"/>
                        </a:spcBef>
                        <a:spcAft>
                          <a:spcPts val="0"/>
                        </a:spcAft>
                        <a:buClrTx/>
                        <a:buSzTx/>
                        <a:buFontTx/>
                        <a:buNone/>
                        <a:tabLst/>
                        <a:defRPr/>
                      </a:pPr>
                      <a:r>
                        <a:rPr sz="100"/>
                        <a:t/>
                      </a:r>
                      <a:endParaRPr lang="ko-KR" altLang="en-US" b="0" dirty="0" smtClean="0">
                        <a:solidFill>
                          <a:schemeClr val="tx1"/>
                        </a:solidFill>
                      </a:endParaRP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tc>
                  <a:txBody>
                    <a:bodyPr/>
                    <a:lstStyle/>
                    <a:p>
                      <a:pPr marL="0" marR="0" lvl="0" indent="0" algn="just" defTabSz="914400" rtl="0" eaLnBrk="1" fontAlgn="auto" latinLnBrk="1" hangingPunct="1">
                        <a:lnSpc>
                          <a:spcPct val="100000"/>
                        </a:lnSpc>
                        <a:spcBef>
                          <a:spcPts val="0"/>
                        </a:spcBef>
                        <a:spcAft>
                          <a:spcPts val="0"/>
                        </a:spcAft>
                        <a:buClrTx/>
                        <a:buSzTx/>
                        <a:buFontTx/>
                        <a:buNone/>
                        <a:tabLst/>
                        <a:defRPr/>
                      </a:pPr>
                      <a:r>
                        <a:rPr sz="100"/>
                        <a:t/>
                      </a:r>
                      <a:endParaRPr lang="ko-KR" altLang="en-US" b="0" dirty="0" smtClean="0">
                        <a:solidFill>
                          <a:schemeClr val="tx1"/>
                        </a:solidFill>
                      </a:endParaRP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3357600838"/>
                  </a:ext>
                </a:extLst>
              </a:tr>
              <a:tr h="1433874">
                <a:tc>
                  <a:txBody>
                    <a:bodyPr/>
                    <a:lstStyle/>
                    <a:p>
                      <a:pPr marL="0" marR="0" lvl="0" indent="0" algn="just" defTabSz="914400" rtl="0" eaLnBrk="1" fontAlgn="auto" latinLnBrk="1" hangingPunct="1">
                        <a:lnSpc>
                          <a:spcPct val="100000"/>
                        </a:lnSpc>
                        <a:spcBef>
                          <a:spcPts val="0"/>
                        </a:spcBef>
                        <a:spcAft>
                          <a:spcPts val="0"/>
                        </a:spcAft>
                        <a:buClrTx/>
                        <a:buSzTx/>
                        <a:buFontTx/>
                        <a:buNone/>
                        <a:tabLst/>
                        <a:defRPr/>
                      </a:pPr>
                      <a:r>
                        <a:rPr sz="1400"/>
                        <a:t>찜한 코스와 스팟을 마이페이지에서 모아본다.</a:t>
                      </a:r>
                      <a:endParaRPr lang="en-US" altLang="ko-KR" b="0" dirty="0" smtClean="0">
                        <a:solidFill>
                          <a:schemeClr val="tx1"/>
                        </a:solidFill>
                      </a:endParaRP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tc>
                  <a:txBody>
                    <a:bodyPr/>
                    <a:lstStyle/>
                    <a:p>
                      <a:pPr algn="just" latinLnBrk="1"/>
                      <a:r>
                        <a:rPr sz="100"/>
                        <a:t/>
                      </a:r>
                      <a:endParaRPr lang="ko-KR" altLang="en-US" b="0" dirty="0">
                        <a:solidFill>
                          <a:schemeClr val="tx1"/>
                        </a:solidFill>
                      </a:endParaRP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tc>
                  <a:txBody>
                    <a:bodyPr/>
                    <a:lstStyle/>
                    <a:p>
                      <a:pPr algn="just" latinLnBrk="1"/>
                      <a:r>
                        <a:rPr sz="100"/>
                        <a:t/>
                      </a:r>
                      <a:endParaRPr lang="ko-KR" altLang="en-US" b="0" dirty="0">
                        <a:solidFill>
                          <a:schemeClr val="tx1"/>
                        </a:solidFill>
                      </a:endParaRP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tc>
                  <a:txBody>
                    <a:bodyPr/>
                    <a:lstStyle/>
                    <a:p>
                      <a:pPr algn="just" latinLnBrk="1"/>
                      <a:r>
                        <a:rPr sz="100"/>
                        <a:t/>
                      </a:r>
                      <a:endParaRPr lang="ko-KR" altLang="en-US" b="0" dirty="0">
                        <a:solidFill>
                          <a:schemeClr val="tx1"/>
                        </a:solidFill>
                      </a:endParaRP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4293083417"/>
                  </a:ext>
                </a:extLst>
              </a:tr>
            </a:tbl>
          </a:graphicData>
        </a:graphic>
      </p:graphicFrame>
      <p:graphicFrame>
        <p:nvGraphicFramePr>
          <p:cNvPr id="15" name="표 14"/>
          <p:cNvGraphicFramePr>
            <a:graphicFrameLocks noGrp="1"/>
          </p:cNvGraphicFramePr>
          <p:nvPr>
            <p:extLst>
              <p:ext uri="{D42A27DB-BD31-4B8C-83A1-F6EECF244321}">
                <p14:modId xmlns:p14="http://schemas.microsoft.com/office/powerpoint/2010/main" val="2744280268"/>
              </p:ext>
            </p:extLst>
          </p:nvPr>
        </p:nvGraphicFramePr>
        <p:xfrm>
          <a:off x="302952" y="1130530"/>
          <a:ext cx="11426308" cy="731520"/>
        </p:xfrm>
        <a:graphic>
          <a:graphicData uri="http://schemas.openxmlformats.org/drawingml/2006/table">
            <a:tbl>
              <a:tblPr firstRow="1" bandRow="1">
                <a:tableStyleId>{5C22544A-7EE6-4342-B048-85BDC9FD1C3A}</a:tableStyleId>
              </a:tblPr>
              <a:tblGrid>
                <a:gridCol w="1782764">
                  <a:extLst>
                    <a:ext uri="{9D8B030D-6E8A-4147-A177-3AD203B41FA5}">
                      <a16:colId xmlns:a16="http://schemas.microsoft.com/office/drawing/2014/main" val="837638667"/>
                    </a:ext>
                  </a:extLst>
                </a:gridCol>
                <a:gridCol w="9643544">
                  <a:extLst>
                    <a:ext uri="{9D8B030D-6E8A-4147-A177-3AD203B41FA5}">
                      <a16:colId xmlns:a16="http://schemas.microsoft.com/office/drawing/2014/main" val="2364043552"/>
                    </a:ext>
                  </a:extLst>
                </a:gridCol>
              </a:tblGrid>
              <a:tr h="236913">
                <a:tc>
                  <a:txBody>
                    <a:bodyPr/>
                    <a:lstStyle/>
                    <a:p>
                      <a:pPr algn="ctr" latinLnBrk="1"/>
                      <a:r>
                        <a:rPr lang="ko-KR" altLang="en-US" b="1" dirty="0" smtClean="0">
                          <a:solidFill>
                            <a:schemeClr val="bg1"/>
                          </a:solidFill>
                        </a:rPr>
                        <a:t>핵심 기능4</a:t>
                      </a:r>
                      <a:r>
                        <a:rPr lang="en-US" altLang="ko-KR" b="1" dirty="0" smtClean="0">
                          <a:solidFill>
                            <a:schemeClr val="bg1"/>
                          </a:solidFill>
                        </a:rPr>
                        <a:t>핵심 기능4</a:t>
                      </a:r>
                      <a:endParaRPr lang="ko-KR" altLang="en-US" b="1" dirty="0">
                        <a:solidFill>
                          <a:schemeClr val="bg1"/>
                        </a:solidFill>
                      </a:endParaRP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rgbClr val="FFA401"/>
                    </a:solidFill>
                  </a:tcPr>
                </a:tc>
                <a:tc>
                  <a:txBody>
                    <a:bodyPr/>
                    <a:lstStyle/>
                    <a:p>
                      <a:pPr latinLnBrk="1" algn="l"/>
                      <a:r>
                        <a:rPr sz="1600"/>
                        <a:t>찜(즐겨찾기) 관리</a:t>
                      </a:r>
                      <a:endParaRPr lang="ko-KR" altLang="en-US" b="0" dirty="0">
                        <a:solidFill>
                          <a:schemeClr val="tx1"/>
                        </a:solidFill>
                      </a:endParaRP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1576143207"/>
                  </a:ext>
                </a:extLst>
              </a:tr>
              <a:tr h="236913">
                <a:tc>
                  <a:txBody>
                    <a:bodyPr/>
                    <a:lstStyle/>
                    <a:p>
                      <a:pPr algn="ctr" latinLnBrk="1"/>
                      <a:r>
                        <a:rPr lang="ko-KR" altLang="en-US" b="1" dirty="0" smtClean="0">
                          <a:solidFill>
                            <a:schemeClr val="bg1"/>
                          </a:solidFill>
                        </a:rPr>
                        <a:t>기능 설명</a:t>
                      </a:r>
                      <a:endParaRPr lang="ko-KR" altLang="en-US" b="1" dirty="0">
                        <a:solidFill>
                          <a:schemeClr val="bg1"/>
                        </a:solidFill>
                      </a:endParaRP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rgbClr val="FFA401"/>
                    </a:solidFill>
                  </a:tcPr>
                </a:tc>
                <a:tc>
                  <a:txBody>
                    <a:bodyPr/>
                    <a:lstStyle/>
                    <a:p>
                      <a:pPr marL="0" marR="0" lvl="0" indent="0" algn="just" defTabSz="914400" rtl="0" eaLnBrk="1" fontAlgn="auto" latinLnBrk="1" hangingPunct="1">
                        <a:lnSpc>
                          <a:spcPct val="100000"/>
                        </a:lnSpc>
                        <a:spcBef>
                          <a:spcPts val="0"/>
                        </a:spcBef>
                        <a:spcAft>
                          <a:spcPts val="0"/>
                        </a:spcAft>
                        <a:buClrTx/>
                        <a:buSzTx/>
                        <a:buFontTx/>
                        <a:buNone/>
                        <a:tabLst/>
                        <a:defRPr/>
                      </a:pPr>
                      <a:r>
                        <a:rPr sz="1500"/>
                        <a:t>관심 있는 코스와 스팟을 찜하여 마이페이지에서 모아볼 수 있는 기능입니다.</a:t>
                      </a:r>
                      <a:endParaRPr lang="ko-KR" altLang="en-US" b="0" dirty="0" smtClean="0">
                        <a:solidFill>
                          <a:schemeClr val="tx1"/>
                        </a:solidFill>
                      </a:endParaRP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2502682219"/>
                  </a:ext>
                </a:extLst>
              </a:tr>
            </a:tbl>
          </a:graphicData>
        </a:graphic>
      </p:graphicFrame>
      <p:pic>
        <p:nvPicPr>
          <p:cNvPr id="20" name="Picture 19" descr="image.png"/>
          <p:cNvPicPr>
            <a:picLocks noChangeAspect="1"/>
          </p:cNvPicPr>
          <p:nvPr/>
        </p:nvPicPr>
        <p:blipFill>
          <a:blip r:embed="rId2"/>
          <a:stretch>
            <a:fillRect/>
          </a:stretch>
        </p:blipFill>
        <p:spPr>
          <a:xfrm>
            <a:off x="1162983" y="2400781"/>
            <a:ext cx="1136514" cy="2525588"/>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174567" y="1101012"/>
            <a:ext cx="4770658" cy="307777"/>
          </a:xfrm>
          <a:prstGeom prst="rect">
            <a:avLst/>
          </a:prstGeom>
          <a:solidFill>
            <a:srgbClr val="FF6F00"/>
          </a:solidFill>
        </p:spPr>
        <p:txBody>
          <a:bodyPr wrap="square" rtlCol="0">
            <a:spAutoFit/>
          </a:bodyPr>
          <a:lstStyle/>
          <a:p>
            <a:pPr algn="ctr"/>
            <a:r>
              <a:rPr lang="ko-KR" altLang="en-US" sz="1400" b="1" dirty="0" smtClean="0">
                <a:solidFill>
                  <a:schemeClr val="bg1"/>
                </a:solidFill>
              </a:rPr>
              <a:t>서비스 개발에 활용한 한국관광공사 </a:t>
            </a:r>
            <a:r>
              <a:rPr lang="en-US" altLang="ko-KR" sz="1400" b="1" dirty="0" smtClean="0">
                <a:solidFill>
                  <a:schemeClr val="bg1"/>
                </a:solidFill>
              </a:rPr>
              <a:t>OpenAPI </a:t>
            </a:r>
            <a:r>
              <a:rPr lang="ko-KR" altLang="en-US" sz="1400" b="1" dirty="0" smtClean="0">
                <a:solidFill>
                  <a:schemeClr val="bg1"/>
                </a:solidFill>
              </a:rPr>
              <a:t>리스트</a:t>
            </a:r>
            <a:endParaRPr lang="ko-KR" altLang="en-US" sz="1400" b="1" dirty="0">
              <a:solidFill>
                <a:schemeClr val="bg1"/>
              </a:solidFill>
            </a:endParaRPr>
          </a:p>
        </p:txBody>
      </p:sp>
      <p:graphicFrame>
        <p:nvGraphicFramePr>
          <p:cNvPr id="7" name="표 6"/>
          <p:cNvGraphicFramePr>
            <a:graphicFrameLocks noGrp="1"/>
          </p:cNvGraphicFramePr>
          <p:nvPr>
            <p:extLst>
              <p:ext uri="{D42A27DB-BD31-4B8C-83A1-F6EECF244321}">
                <p14:modId xmlns:p14="http://schemas.microsoft.com/office/powerpoint/2010/main" val="1226638178"/>
              </p:ext>
            </p:extLst>
          </p:nvPr>
        </p:nvGraphicFramePr>
        <p:xfrm>
          <a:off x="174566" y="1646098"/>
          <a:ext cx="11628657" cy="3789680"/>
        </p:xfrm>
        <a:graphic>
          <a:graphicData uri="http://schemas.openxmlformats.org/drawingml/2006/table">
            <a:tbl>
              <a:tblPr firstRow="1" bandRow="1">
                <a:tableStyleId>{5C22544A-7EE6-4342-B048-85BDC9FD1C3A}</a:tableStyleId>
              </a:tblPr>
              <a:tblGrid>
                <a:gridCol w="821150">
                  <a:extLst>
                    <a:ext uri="{9D8B030D-6E8A-4147-A177-3AD203B41FA5}">
                      <a16:colId xmlns:a16="http://schemas.microsoft.com/office/drawing/2014/main" val="842166946"/>
                    </a:ext>
                  </a:extLst>
                </a:gridCol>
                <a:gridCol w="1816388">
                  <a:extLst>
                    <a:ext uri="{9D8B030D-6E8A-4147-A177-3AD203B41FA5}">
                      <a16:colId xmlns:a16="http://schemas.microsoft.com/office/drawing/2014/main" val="3903607114"/>
                    </a:ext>
                  </a:extLst>
                </a:gridCol>
                <a:gridCol w="8991119">
                  <a:extLst>
                    <a:ext uri="{9D8B030D-6E8A-4147-A177-3AD203B41FA5}">
                      <a16:colId xmlns:a16="http://schemas.microsoft.com/office/drawing/2014/main" val="2519424337"/>
                    </a:ext>
                  </a:extLst>
                </a:gridCol>
              </a:tblGrid>
              <a:tr h="370840">
                <a:tc rowSpan="2">
                  <a:txBody>
                    <a:bodyPr/>
                    <a:lstStyle/>
                    <a:p>
                      <a:pPr algn="ctr" latinLnBrk="1"/>
                      <a:r>
                        <a:rPr lang="en-US" altLang="ko-KR" sz="3200" b="1" dirty="0" smtClean="0">
                          <a:solidFill>
                            <a:schemeClr val="tx1"/>
                          </a:solidFill>
                        </a:rPr>
                        <a:t>1</a:t>
                      </a:r>
                      <a:endParaRPr lang="ko-KR" altLang="en-US" sz="3200" b="1" dirty="0">
                        <a:solidFill>
                          <a:schemeClr val="tx1"/>
                        </a:solidFill>
                      </a:endParaRPr>
                    </a:p>
                  </a:txBody>
                  <a:tcPr anchor="ctr">
                    <a:lnL w="12700" cap="flat" cmpd="sng" algn="ctr">
                      <a:no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noFill/>
                  </a:tcPr>
                </a:tc>
                <a:tc>
                  <a:txBody>
                    <a:bodyPr/>
                    <a:lstStyle/>
                    <a:p>
                      <a:pPr algn="ctr" latinLnBrk="1"/>
                      <a:r>
                        <a:rPr lang="en-US" altLang="ko-KR" b="1" dirty="0" smtClean="0">
                          <a:solidFill>
                            <a:schemeClr val="bg1"/>
                          </a:solidFill>
                        </a:rPr>
                        <a:t>API</a:t>
                      </a:r>
                      <a:r>
                        <a:rPr lang="ko-KR" altLang="en-US" b="1" dirty="0" smtClean="0">
                          <a:solidFill>
                            <a:schemeClr val="bg1"/>
                          </a:solidFill>
                        </a:rPr>
                        <a:t>명</a:t>
                      </a:r>
                      <a:endParaRPr lang="ko-KR" altLang="en-US" b="1" dirty="0">
                        <a:solidFill>
                          <a:schemeClr val="bg1"/>
                        </a:solidFill>
                      </a:endParaRP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rgbClr val="FFA401"/>
                    </a:solid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sz="1300"/>
                        <a:t>한국관광공사 국문 관광정보 서비스 (지역기반·위치기반 관광정보 조회)</a:t>
                      </a: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1377720883"/>
                  </a:ext>
                </a:extLst>
              </a:tr>
              <a:tr h="370840">
                <a:tc vMerge="1">
                  <a:txBody>
                    <a:bodyPr/>
                    <a:lstStyle/>
                    <a:p>
                      <a:pPr latinLnBrk="1"/>
                      <a:endParaRPr lang="ko-KR" altLang="en-US" dirty="0"/>
                    </a:p>
                  </a:txBody>
                  <a:tcPr/>
                </a:tc>
                <a:tc>
                  <a:txBody>
                    <a:bodyPr/>
                    <a:lstStyle/>
                    <a:p>
                      <a:pPr algn="ctr" latinLnBrk="1"/>
                      <a:r>
                        <a:rPr lang="ko-KR" altLang="en-US" b="1" dirty="0" smtClean="0">
                          <a:solidFill>
                            <a:schemeClr val="bg1"/>
                          </a:solidFill>
                        </a:rPr>
                        <a:t>상세설명</a:t>
                      </a:r>
                      <a:endParaRPr lang="ko-KR" altLang="en-US" b="1" dirty="0">
                        <a:solidFill>
                          <a:schemeClr val="bg1"/>
                        </a:solidFill>
                      </a:endParaRP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rgbClr val="FFA401"/>
                    </a:solidFill>
                  </a:tcPr>
                </a:tc>
                <a:tc>
                  <a:txBody>
                    <a:bodyPr/>
                    <a:lstStyle/>
                    <a:p>
                      <a:pPr marL="0" marR="0" lvl="0" indent="0" algn="just" defTabSz="914400" rtl="0" eaLnBrk="1" fontAlgn="auto" latinLnBrk="1" hangingPunct="1">
                        <a:lnSpc>
                          <a:spcPct val="100000"/>
                        </a:lnSpc>
                        <a:spcBef>
                          <a:spcPts val="0"/>
                        </a:spcBef>
                        <a:spcAft>
                          <a:spcPts val="0"/>
                        </a:spcAft>
                        <a:buClrTx/>
                        <a:buSzTx/>
                        <a:buFontTx/>
                        <a:buNone/>
                        <a:tabLst/>
                        <a:defRPr/>
                      </a:pPr>
                      <a:r>
                        <a:rPr sz="1200"/>
                        <a:t>수원화성 일대 관광지 목록을 지역/위치 기반으로 조회하여 서비스 핵심 장소 DB를 구성하는 데 활용</a:t>
                      </a: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47522436"/>
                  </a:ext>
                </a:extLst>
              </a:tr>
              <a:tr h="381000">
                <a:tc rowSpan="2">
                  <a:txBody>
                    <a:bodyPr/>
                    <a:lstStyle/>
                    <a:p>
                      <a:pPr algn="ctr" latinLnBrk="1"/>
                      <a:r>
                        <a:rPr lang="en-US" altLang="ko-KR" sz="3200" b="1" dirty="0" smtClean="0">
                          <a:solidFill>
                            <a:schemeClr val="tx1"/>
                          </a:solidFill>
                        </a:rPr>
                        <a:t>2</a:t>
                      </a:r>
                      <a:endParaRPr lang="ko-KR" altLang="en-US" sz="3200" b="1" dirty="0">
                        <a:solidFill>
                          <a:schemeClr val="tx1"/>
                        </a:solidFill>
                      </a:endParaRPr>
                    </a:p>
                  </a:txBody>
                  <a:tcPr anchor="ctr">
                    <a:lnL w="12700" cap="flat" cmpd="sng" algn="ctr">
                      <a:no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noFill/>
                  </a:tcPr>
                </a:tc>
                <a:tc>
                  <a:txBody>
                    <a:bodyPr/>
                    <a:lstStyle/>
                    <a:p>
                      <a:pPr algn="ctr" latinLnBrk="1"/>
                      <a:r>
                        <a:rPr lang="en-US" altLang="ko-KR" b="1" dirty="0" smtClean="0">
                          <a:solidFill>
                            <a:schemeClr val="bg1"/>
                          </a:solidFill>
                        </a:rPr>
                        <a:t>API</a:t>
                      </a:r>
                      <a:r>
                        <a:rPr lang="ko-KR" altLang="en-US" b="1" dirty="0" smtClean="0">
                          <a:solidFill>
                            <a:schemeClr val="bg1"/>
                          </a:solidFill>
                        </a:rPr>
                        <a:t>명</a:t>
                      </a:r>
                      <a:endParaRPr lang="ko-KR" altLang="en-US" b="1" dirty="0">
                        <a:solidFill>
                          <a:schemeClr val="bg1"/>
                        </a:solidFill>
                      </a:endParaRP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rgbClr val="FFA401"/>
                    </a:solidFill>
                  </a:tcPr>
                </a:tc>
                <a:tc>
                  <a:txBody>
                    <a:bodyPr/>
                    <a:lstStyle/>
                    <a:p>
                      <a:pPr algn="l" latinLnBrk="1"/>
                      <a:r>
                        <a:rPr sz="1300"/>
                        <a:t>한국관광공사 국문 관광정보 서비스 (공통정보·소개정보·이미지정보 조회)</a:t>
                      </a:r>
                      <a:endParaRPr lang="ko-KR" altLang="en-US" b="0" dirty="0">
                        <a:solidFill>
                          <a:schemeClr val="tx1"/>
                        </a:solidFill>
                      </a:endParaRP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2858026807"/>
                  </a:ext>
                </a:extLst>
              </a:tr>
              <a:tr h="381000">
                <a:tc vMerge="1">
                  <a:txBody>
                    <a:bodyPr/>
                    <a:lstStyle/>
                    <a:p>
                      <a:pPr latinLnBrk="1"/>
                      <a:endParaRPr lang="ko-KR" altLang="en-US"/>
                    </a:p>
                  </a:txBody>
                  <a:tcPr/>
                </a:tc>
                <a:tc>
                  <a:txBody>
                    <a:bodyPr/>
                    <a:lstStyle/>
                    <a:p>
                      <a:pPr algn="ctr" latinLnBrk="1"/>
                      <a:r>
                        <a:rPr lang="ko-KR" altLang="en-US" b="1" dirty="0" smtClean="0">
                          <a:solidFill>
                            <a:schemeClr val="bg1"/>
                          </a:solidFill>
                        </a:rPr>
                        <a:t>상세설명</a:t>
                      </a:r>
                      <a:endParaRPr lang="ko-KR" altLang="en-US" b="1" dirty="0">
                        <a:solidFill>
                          <a:schemeClr val="bg1"/>
                        </a:solidFill>
                      </a:endParaRP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rgbClr val="FFA401"/>
                    </a:solidFill>
                  </a:tcPr>
                </a:tc>
                <a:tc>
                  <a:txBody>
                    <a:bodyPr/>
                    <a:lstStyle/>
                    <a:p>
                      <a:pPr algn="just" latinLnBrk="1"/>
                      <a:r>
                        <a:rPr sz="1200"/>
                        <a:t>관광지별 상세 설명, 대표 이미지, 위치정보를 코스 상세·스팟 상세 화면에 제공하는 데 활용</a:t>
                      </a:r>
                      <a:endParaRPr lang="ko-KR" altLang="en-US" b="0" dirty="0">
                        <a:solidFill>
                          <a:schemeClr val="tx1"/>
                        </a:solidFill>
                      </a:endParaRP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333851369"/>
                  </a:ext>
                </a:extLst>
              </a:tr>
              <a:tr h="381000">
                <a:tc rowSpan="2">
                  <a:txBody>
                    <a:bodyPr/>
                    <a:lstStyle/>
                    <a:p>
                      <a:pPr algn="ctr" latinLnBrk="1"/>
                      <a:r>
                        <a:rPr lang="en-US" altLang="ko-KR" sz="3200" b="1" dirty="0" smtClean="0">
                          <a:solidFill>
                            <a:schemeClr val="tx1"/>
                          </a:solidFill>
                        </a:rPr>
                        <a:t>3</a:t>
                      </a:r>
                      <a:endParaRPr lang="ko-KR" altLang="en-US" sz="3200" b="1" dirty="0">
                        <a:solidFill>
                          <a:schemeClr val="tx1"/>
                        </a:solidFill>
                      </a:endParaRPr>
                    </a:p>
                  </a:txBody>
                  <a:tcPr anchor="ctr">
                    <a:lnL w="12700" cap="flat" cmpd="sng" algn="ctr">
                      <a:no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noFill/>
                  </a:tcPr>
                </a:tc>
                <a:tc>
                  <a:txBody>
                    <a:bodyPr/>
                    <a:lstStyle/>
                    <a:p>
                      <a:pPr algn="ctr" latinLnBrk="1"/>
                      <a:r>
                        <a:rPr lang="en-US" altLang="ko-KR" b="1" dirty="0" smtClean="0">
                          <a:solidFill>
                            <a:schemeClr val="bg1"/>
                          </a:solidFill>
                        </a:rPr>
                        <a:t>API</a:t>
                      </a:r>
                      <a:r>
                        <a:rPr lang="ko-KR" altLang="en-US" b="1" dirty="0" smtClean="0">
                          <a:solidFill>
                            <a:schemeClr val="bg1"/>
                          </a:solidFill>
                        </a:rPr>
                        <a:t>명</a:t>
                      </a:r>
                      <a:endParaRPr lang="ko-KR" altLang="en-US" b="1" dirty="0">
                        <a:solidFill>
                          <a:schemeClr val="bg1"/>
                        </a:solidFill>
                      </a:endParaRP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rgbClr val="FFA401"/>
                    </a:solidFill>
                  </a:tcPr>
                </a:tc>
                <a:tc>
                  <a:txBody>
                    <a:bodyPr/>
                    <a:lstStyle/>
                    <a:p>
                      <a:pPr algn="l" latinLnBrk="1"/>
                      <a:r>
                        <a:rPr sz="1300"/>
                        <a:t>한국관광공사 국문 관광정보 서비스 (행사정보 조회)</a:t>
                      </a:r>
                      <a:endParaRPr lang="ko-KR" altLang="en-US" b="0" dirty="0">
                        <a:solidFill>
                          <a:schemeClr val="tx1"/>
                        </a:solidFill>
                      </a:endParaRP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3087554315"/>
                  </a:ext>
                </a:extLst>
              </a:tr>
              <a:tr h="381000">
                <a:tc vMerge="1">
                  <a:txBody>
                    <a:bodyPr/>
                    <a:lstStyle/>
                    <a:p>
                      <a:pPr algn="ctr" latinLnBrk="1"/>
                      <a:endParaRPr lang="ko-KR" altLang="en-US" sz="3200" b="1" dirty="0">
                        <a:solidFill>
                          <a:schemeClr val="bg1"/>
                        </a:solidFill>
                      </a:endParaRP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tx1"/>
                    </a:solidFill>
                  </a:tcPr>
                </a:tc>
                <a:tc>
                  <a:txBody>
                    <a:bodyPr/>
                    <a:lstStyle/>
                    <a:p>
                      <a:pPr algn="ctr" latinLnBrk="1"/>
                      <a:r>
                        <a:rPr lang="ko-KR" altLang="en-US" b="1" dirty="0" smtClean="0">
                          <a:solidFill>
                            <a:schemeClr val="bg1"/>
                          </a:solidFill>
                        </a:rPr>
                        <a:t>상세설명</a:t>
                      </a:r>
                      <a:endParaRPr lang="ko-KR" altLang="en-US" b="1" dirty="0">
                        <a:solidFill>
                          <a:schemeClr val="bg1"/>
                        </a:solidFill>
                      </a:endParaRP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rgbClr val="FFA401"/>
                    </a:solidFill>
                  </a:tcPr>
                </a:tc>
                <a:tc>
                  <a:txBody>
                    <a:bodyPr/>
                    <a:lstStyle/>
                    <a:p>
                      <a:pPr algn="just" latinLnBrk="1"/>
                      <a:r>
                        <a:rPr sz="1200"/>
                        <a:t>야간개장, 축제 등 시기별 행사 정보를 연계하여 계절성 콘텐츠를 제공하는 데 활용</a:t>
                      </a:r>
                      <a:endParaRPr lang="ko-KR" altLang="en-US" b="0" dirty="0">
                        <a:solidFill>
                          <a:schemeClr val="tx1"/>
                        </a:solidFill>
                      </a:endParaRP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3090228473"/>
                  </a:ext>
                </a:extLst>
              </a:tr>
              <a:tr h="381000">
                <a:tc rowSpan="2">
                  <a:txBody>
                    <a:bodyPr/>
                    <a:lstStyle/>
                    <a:p>
                      <a:pPr algn="ctr" latinLnBrk="1"/>
                      <a:r>
                        <a:rPr lang="en-US" altLang="ko-KR" sz="3200" b="1" dirty="0" smtClean="0">
                          <a:solidFill>
                            <a:schemeClr val="tx1"/>
                          </a:solidFill>
                        </a:rPr>
                        <a:t>4</a:t>
                      </a:r>
                      <a:endParaRPr lang="ko-KR" altLang="en-US" sz="3200" b="1" dirty="0">
                        <a:solidFill>
                          <a:schemeClr val="tx1"/>
                        </a:solidFill>
                      </a:endParaRPr>
                    </a:p>
                  </a:txBody>
                  <a:tcPr anchor="ctr">
                    <a:lnL w="12700" cap="flat" cmpd="sng" algn="ctr">
                      <a:no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noFill/>
                  </a:tcPr>
                </a:tc>
                <a:tc>
                  <a:txBody>
                    <a:bodyPr/>
                    <a:lstStyle/>
                    <a:p>
                      <a:pPr algn="ctr" latinLnBrk="1"/>
                      <a:r>
                        <a:rPr lang="en-US" altLang="ko-KR" b="1" dirty="0" smtClean="0">
                          <a:solidFill>
                            <a:schemeClr val="bg1"/>
                          </a:solidFill>
                        </a:rPr>
                        <a:t>API</a:t>
                      </a:r>
                      <a:r>
                        <a:rPr lang="ko-KR" altLang="en-US" b="1" dirty="0" smtClean="0">
                          <a:solidFill>
                            <a:schemeClr val="bg1"/>
                          </a:solidFill>
                        </a:rPr>
                        <a:t>명</a:t>
                      </a:r>
                      <a:endParaRPr lang="ko-KR" altLang="en-US" b="1" dirty="0">
                        <a:solidFill>
                          <a:schemeClr val="bg1"/>
                        </a:solidFill>
                      </a:endParaRP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rgbClr val="FFA401"/>
                    </a:solidFill>
                  </a:tcPr>
                </a:tc>
                <a:tc>
                  <a:txBody>
                    <a:bodyPr/>
                    <a:lstStyle/>
                    <a:p>
                      <a:pPr algn="l" latinLnBrk="1"/>
                      <a:r>
                        <a:rPr sz="1300"/>
                        <a:t>한국관광공사 관광지 집중률(방문자 추이 예측) 정보</a:t>
                      </a:r>
                      <a:endParaRPr lang="ko-KR" altLang="en-US" b="0" dirty="0">
                        <a:solidFill>
                          <a:schemeClr val="tx1"/>
                        </a:solidFill>
                      </a:endParaRP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529229970"/>
                  </a:ext>
                </a:extLst>
              </a:tr>
              <a:tr h="381000">
                <a:tc vMerge="1">
                  <a:txBody>
                    <a:bodyPr/>
                    <a:lstStyle/>
                    <a:p>
                      <a:pPr algn="ctr" latinLnBrk="1"/>
                      <a:endParaRPr lang="ko-KR" altLang="en-US" sz="3200" b="1" dirty="0">
                        <a:solidFill>
                          <a:schemeClr val="bg1"/>
                        </a:solidFill>
                      </a:endParaRP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tx1"/>
                    </a:solidFill>
                  </a:tcPr>
                </a:tc>
                <a:tc>
                  <a:txBody>
                    <a:bodyPr/>
                    <a:lstStyle/>
                    <a:p>
                      <a:pPr algn="ctr" latinLnBrk="1"/>
                      <a:r>
                        <a:rPr lang="ko-KR" altLang="en-US" b="1" dirty="0" smtClean="0">
                          <a:solidFill>
                            <a:schemeClr val="bg1"/>
                          </a:solidFill>
                        </a:rPr>
                        <a:t>상세설명</a:t>
                      </a:r>
                      <a:endParaRPr lang="ko-KR" altLang="en-US" b="1" dirty="0">
                        <a:solidFill>
                          <a:schemeClr val="bg1"/>
                        </a:solidFill>
                      </a:endParaRP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rgbClr val="FFA401"/>
                    </a:solidFill>
                  </a:tcPr>
                </a:tc>
                <a:tc>
                  <a:txBody>
                    <a:bodyPr/>
                    <a:lstStyle/>
                    <a:p>
                      <a:pPr algn="just" latinLnBrk="1"/>
                      <a:r>
                        <a:rPr sz="1200"/>
                        <a:t>시간대별 혼잡도를 예측하여 혼잡 스팟 대신 대체 미션 스팟을 추천하는 넛지 기능에 활용</a:t>
                      </a:r>
                      <a:endParaRPr lang="ko-KR" altLang="en-US" b="0" dirty="0">
                        <a:solidFill>
                          <a:schemeClr val="tx1"/>
                        </a:solidFill>
                      </a:endParaRP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1167204627"/>
                  </a:ext>
                </a:extLst>
              </a:tr>
              <a:tr h="381000">
                <a:tc rowSpan="2">
                  <a:txBody>
                    <a:bodyPr/>
                    <a:lstStyle/>
                    <a:p>
                      <a:pPr algn="ctr" latinLnBrk="1"/>
                      <a:r>
                        <a:rPr lang="en-US" altLang="ko-KR" sz="3200" b="1" dirty="0" smtClean="0">
                          <a:solidFill>
                            <a:schemeClr val="tx1"/>
                          </a:solidFill>
                        </a:rPr>
                        <a:t>5</a:t>
                      </a:r>
                      <a:endParaRPr lang="ko-KR" altLang="en-US" sz="3200" b="1" dirty="0">
                        <a:solidFill>
                          <a:schemeClr val="tx1"/>
                        </a:solidFill>
                      </a:endParaRPr>
                    </a:p>
                  </a:txBody>
                  <a:tcPr anchor="ctr">
                    <a:lnL w="12700" cap="flat" cmpd="sng" algn="ctr">
                      <a:no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noFill/>
                  </a:tcPr>
                </a:tc>
                <a:tc>
                  <a:txBody>
                    <a:bodyPr/>
                    <a:lstStyle/>
                    <a:p>
                      <a:pPr algn="ctr" latinLnBrk="1"/>
                      <a:r>
                        <a:rPr lang="en-US" altLang="ko-KR" b="1" dirty="0" smtClean="0">
                          <a:solidFill>
                            <a:schemeClr val="bg1"/>
                          </a:solidFill>
                        </a:rPr>
                        <a:t>API</a:t>
                      </a:r>
                      <a:r>
                        <a:rPr lang="ko-KR" altLang="en-US" b="1" dirty="0" smtClean="0">
                          <a:solidFill>
                            <a:schemeClr val="bg1"/>
                          </a:solidFill>
                        </a:rPr>
                        <a:t>명</a:t>
                      </a:r>
                      <a:endParaRPr lang="ko-KR" altLang="en-US" b="1" dirty="0">
                        <a:solidFill>
                          <a:schemeClr val="bg1"/>
                        </a:solidFill>
                      </a:endParaRP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rgbClr val="FFA401"/>
                    </a:solidFill>
                  </a:tcPr>
                </a:tc>
                <a:tc>
                  <a:txBody>
                    <a:bodyPr/>
                    <a:lstStyle/>
                    <a:p>
                      <a:pPr algn="l" latinLnBrk="1"/>
                      <a:r>
                        <a:rPr sz="1300"/>
                        <a:t>한국관광공사 반려동물 동반여행 서비스</a:t>
                      </a:r>
                      <a:endParaRPr lang="ko-KR" altLang="en-US" b="0" dirty="0">
                        <a:solidFill>
                          <a:schemeClr val="tx1"/>
                        </a:solidFill>
                      </a:endParaRP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3638013552"/>
                  </a:ext>
                </a:extLst>
              </a:tr>
              <a:tr h="381000">
                <a:tc vMerge="1">
                  <a:txBody>
                    <a:bodyPr/>
                    <a:lstStyle/>
                    <a:p>
                      <a:pPr algn="ctr" latinLnBrk="1"/>
                      <a:endParaRPr lang="ko-KR" altLang="en-US" sz="3200" b="1" dirty="0">
                        <a:solidFill>
                          <a:schemeClr val="tx1"/>
                        </a:solidFill>
                      </a:endParaRPr>
                    </a:p>
                  </a:txBody>
                  <a:tcPr anchor="ctr">
                    <a:lnL w="12700" cap="flat" cmpd="sng" algn="ctr">
                      <a:no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noFill/>
                  </a:tcPr>
                </a:tc>
                <a:tc>
                  <a:txBody>
                    <a:bodyPr/>
                    <a:lstStyle/>
                    <a:p>
                      <a:pPr algn="ctr" latinLnBrk="1"/>
                      <a:r>
                        <a:rPr lang="ko-KR" altLang="en-US" b="1" dirty="0" smtClean="0">
                          <a:solidFill>
                            <a:schemeClr val="bg1"/>
                          </a:solidFill>
                        </a:rPr>
                        <a:t>상세설명</a:t>
                      </a:r>
                      <a:endParaRPr lang="ko-KR" altLang="en-US" b="1" dirty="0">
                        <a:solidFill>
                          <a:schemeClr val="bg1"/>
                        </a:solidFill>
                      </a:endParaRP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rgbClr val="FFA401"/>
                    </a:solidFill>
                  </a:tcPr>
                </a:tc>
                <a:tc>
                  <a:txBody>
                    <a:bodyPr/>
                    <a:lstStyle/>
                    <a:p>
                      <a:pPr algn="just" latinLnBrk="1"/>
                      <a:r>
                        <a:rPr sz="1200"/>
                        <a:t>반려동물 동반 가능 관광지·휴식공간 정보를 제공하여 반려동반 서브코스를 구성하는 데 활용</a:t>
                      </a:r>
                      <a:endParaRPr lang="ko-KR" altLang="en-US" b="0" dirty="0">
                        <a:solidFill>
                          <a:schemeClr val="tx1"/>
                        </a:solidFill>
                      </a:endParaRP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2993688541"/>
                  </a:ext>
                </a:extLst>
              </a:tr>
            </a:tbl>
          </a:graphicData>
        </a:graphic>
      </p:graphicFrame>
    </p:spTree>
    <p:extLst>
      <p:ext uri="{BB962C8B-B14F-4D97-AF65-F5344CB8AC3E}">
        <p14:creationId xmlns:p14="http://schemas.microsoft.com/office/powerpoint/2010/main" val="2222947038"/>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표 2"/>
          <p:cNvGraphicFramePr>
            <a:graphicFrameLocks noGrp="1"/>
          </p:cNvGraphicFramePr>
          <p:nvPr>
            <p:extLst>
              <p:ext uri="{D42A27DB-BD31-4B8C-83A1-F6EECF244321}">
                <p14:modId xmlns:p14="http://schemas.microsoft.com/office/powerpoint/2010/main" val="2048382877"/>
              </p:ext>
            </p:extLst>
          </p:nvPr>
        </p:nvGraphicFramePr>
        <p:xfrm>
          <a:off x="287250" y="1218429"/>
          <a:ext cx="11649825" cy="5074306"/>
        </p:xfrm>
        <a:graphic>
          <a:graphicData uri="http://schemas.openxmlformats.org/drawingml/2006/table">
            <a:tbl>
              <a:tblPr firstRow="1" bandRow="1">
                <a:tableStyleId>{5C22544A-7EE6-4342-B048-85BDC9FD1C3A}</a:tableStyleId>
              </a:tblPr>
              <a:tblGrid>
                <a:gridCol w="1955222">
                  <a:extLst>
                    <a:ext uri="{9D8B030D-6E8A-4147-A177-3AD203B41FA5}">
                      <a16:colId xmlns:a16="http://schemas.microsoft.com/office/drawing/2014/main" val="1299753452"/>
                    </a:ext>
                  </a:extLst>
                </a:gridCol>
                <a:gridCol w="9694603">
                  <a:extLst>
                    <a:ext uri="{9D8B030D-6E8A-4147-A177-3AD203B41FA5}">
                      <a16:colId xmlns:a16="http://schemas.microsoft.com/office/drawing/2014/main" val="3999346814"/>
                    </a:ext>
                  </a:extLst>
                </a:gridCol>
              </a:tblGrid>
              <a:tr h="2466075">
                <a:tc>
                  <a:txBody>
                    <a:bodyPr/>
                    <a:lstStyle/>
                    <a:p>
                      <a:pPr algn="ctr" latinLnBrk="1"/>
                      <a:r>
                        <a:rPr lang="ko-KR" altLang="en-US" b="1" dirty="0" smtClean="0">
                          <a:solidFill>
                            <a:schemeClr val="bg1"/>
                          </a:solidFill>
                        </a:rPr>
                        <a:t>차별성</a:t>
                      </a:r>
                      <a:endParaRPr lang="en-US" altLang="ko-KR" b="1" dirty="0" smtClean="0">
                        <a:solidFill>
                          <a:schemeClr val="bg1"/>
                        </a:solidFill>
                      </a:endParaRP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rgbClr val="FF6F00"/>
                    </a:solidFill>
                  </a:tcPr>
                </a:tc>
                <a:tc>
                  <a:txBody>
                    <a:bodyPr/>
                    <a:lstStyle/>
                    <a:p>
                      <a:pPr marL="0" lvl="0" indent="0" algn="just" rtl="0">
                        <a:spcBef>
                          <a:spcPts val="0"/>
                        </a:spcBef>
                        <a:spcAft>
                          <a:spcPts val="0"/>
                        </a:spcAft>
                        <a:buNone/>
                      </a:pPr>
                      <a:r>
                        <a:rPr sz="1500"/>
                        <a:t>공공데이터(한국관광공사 OpenAPI)에 정조 스토리 기반 미션·체크포인트, 로컬 스팟 추천이라는 자체 기획 콘텐츠를 결합해, 단순 정보 제공형 서비스가 아닌 몰입형 미션 투어로 차별화했습니다. 관광지 집중률 예측 데이터를 활용해 혼잡도를 분산하는 넛지 추천을 제공하고, 반려동물 동반여행 데이터로 반려동반 서브코스를 지원하는 등 공공데이터를 실제 사용자 경험으로 전환한 점이 특징입니다.</a:t>
                      </a:r>
                      <a:endParaRPr lang="en-US" altLang="ko-KR" sz="1800" b="0" dirty="0" smtClean="0">
                        <a:solidFill>
                          <a:srgbClr val="FF0000"/>
                        </a:solidFill>
                        <a:latin typeface="+mn-lt"/>
                      </a:endParaRP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2903409156"/>
                  </a:ext>
                </a:extLst>
              </a:tr>
              <a:tr h="2608231">
                <a:tc>
                  <a:txBody>
                    <a:bodyPr/>
                    <a:lstStyle/>
                    <a:p>
                      <a:pPr algn="ctr" latinLnBrk="1"/>
                      <a:r>
                        <a:rPr lang="ko-KR" altLang="en-US" b="1" dirty="0" smtClean="0">
                          <a:solidFill>
                            <a:schemeClr val="bg1"/>
                          </a:solidFill>
                        </a:rPr>
                        <a:t>발전계획</a:t>
                      </a:r>
                      <a:endParaRPr lang="ko-KR" altLang="en-US" b="1" dirty="0">
                        <a:solidFill>
                          <a:schemeClr val="bg1"/>
                        </a:solidFill>
                      </a:endParaRP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rgbClr val="FF6F00"/>
                    </a:solidFill>
                  </a:tcPr>
                </a:tc>
                <a:tc>
                  <a:txBody>
                    <a:bodyPr/>
                    <a:lstStyle/>
                    <a:p>
                      <a:pPr marL="0" marR="0" lvl="0" indent="0" algn="just" defTabSz="914400" rtl="0" eaLnBrk="1" fontAlgn="auto" latinLnBrk="1" hangingPunct="1">
                        <a:lnSpc>
                          <a:spcPct val="100000"/>
                        </a:lnSpc>
                        <a:spcBef>
                          <a:spcPts val="0"/>
                        </a:spcBef>
                        <a:spcAft>
                          <a:spcPts val="0"/>
                        </a:spcAft>
                        <a:buClrTx/>
                        <a:buSzTx/>
                        <a:buFontTx/>
                        <a:buNone/>
                        <a:tabLst/>
                        <a:defRPr/>
                      </a:pPr>
                      <a:r>
                        <a:rPr sz="1500"/>
                        <a:t>① 미션 유형을 체크형·스토리형에서 퀴즈형·스탬프형·방문인증형으로 고도화하고, ② 지역 상점·체험처와 제휴하여 할인 쿠폰·로컬패스·리워드 프로그램으로 확장하며, ③ 이동 패턴·선호 유형·시간대를 반영한 개인화 코스 추천(가족형, 커플형, 역사탐방형 등)을 도입하고, ④ 수원 외 타 역사문화·야간관광 특화 지역으로 서비스 구조를 확장할 계획입니다. 장기적으로는 미션 완료 이용자 대상 제휴 리워드 제공과 광고·중개 수수료 기반 수익모델을 구축할 예정입니다.</a:t>
                      </a: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317412154"/>
                  </a:ext>
                </a:extLst>
              </a:tr>
            </a:tbl>
          </a:graphicData>
        </a:graphic>
      </p:graphicFrame>
    </p:spTree>
    <p:extLst>
      <p:ext uri="{BB962C8B-B14F-4D97-AF65-F5344CB8AC3E}">
        <p14:creationId xmlns:p14="http://schemas.microsoft.com/office/powerpoint/2010/main" val="3988568962"/>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테마">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맑은 고딕"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맑은 고딕"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테마">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맑은 고딕"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맑은 고딕"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408</TotalTime>
  <Words>549</Words>
  <Application>Microsoft Office PowerPoint</Application>
  <PresentationFormat>와이드스크린</PresentationFormat>
  <Paragraphs>95</Paragraphs>
  <Slides>9</Slides>
  <Notes>0</Notes>
  <HiddenSlides>0</HiddenSlides>
  <MMClips>0</MMClips>
  <ScaleCrop>false</ScaleCrop>
  <HeadingPairs>
    <vt:vector size="6" baseType="variant">
      <vt:variant>
        <vt:lpstr>사용한 글꼴</vt:lpstr>
      </vt:variant>
      <vt:variant>
        <vt:i4>3</vt:i4>
      </vt:variant>
      <vt:variant>
        <vt:lpstr>테마</vt:lpstr>
      </vt:variant>
      <vt:variant>
        <vt:i4>1</vt:i4>
      </vt:variant>
      <vt:variant>
        <vt:lpstr>슬라이드 제목</vt:lpstr>
      </vt:variant>
      <vt:variant>
        <vt:i4>9</vt:i4>
      </vt:variant>
    </vt:vector>
  </HeadingPairs>
  <TitlesOfParts>
    <vt:vector size="13" baseType="lpstr">
      <vt:lpstr>Noto Sans KR Medium</vt:lpstr>
      <vt:lpstr>맑은 고딕</vt:lpstr>
      <vt:lpstr>Arial</vt:lpstr>
      <vt:lpstr>Office 테마</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프레젠테이션</dc:title>
  <dc:creator>KTO</dc:creator>
  <cp:lastModifiedBy>USER</cp:lastModifiedBy>
  <cp:revision>64</cp:revision>
  <dcterms:created xsi:type="dcterms:W3CDTF">2026-07-07T05:25:59Z</dcterms:created>
  <dcterms:modified xsi:type="dcterms:W3CDTF">2026-07-29T05:45:18Z</dcterms:modified>
</cp:coreProperties>
</file>