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1735cc30d74218" /><Relationship Type="http://schemas.openxmlformats.org/officeDocument/2006/relationships/extended-properties" Target="/docProps/app.xml" Id="R8c13bd4deaf14230" /><Relationship Type="http://schemas.openxmlformats.org/officeDocument/2006/relationships/officeDocument" Target="/ppt/presentation.xml" Id="Rc23c9c5945e049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bb896f7b0ed44ba"/>
  </p:sldMasterIdLst>
  <p:notesMasterIdLst>
    <p:notesMasterId xmlns:r="http://schemas.openxmlformats.org/officeDocument/2006/relationships" r:id="R1f176fa70e4a490b"/>
  </p:notesMasterIdLst>
  <p:sldIdLst>
    <p:sldId xmlns:r="http://schemas.openxmlformats.org/officeDocument/2006/relationships" id="256" r:id="Rda3eb53131be4b22"/>
    <p:sldId xmlns:r="http://schemas.openxmlformats.org/officeDocument/2006/relationships" id="257" r:id="R1390baf1b4304bab"/>
    <p:sldId xmlns:r="http://schemas.openxmlformats.org/officeDocument/2006/relationships" id="258" r:id="R4c21eff2fe924ba3"/>
    <p:sldId xmlns:r="http://schemas.openxmlformats.org/officeDocument/2006/relationships" id="259" r:id="Rd7b1b810f83c4be1"/>
    <p:sldId xmlns:r="http://schemas.openxmlformats.org/officeDocument/2006/relationships" id="260" r:id="R91e2feb68c714eff"/>
    <p:sldId xmlns:r="http://schemas.openxmlformats.org/officeDocument/2006/relationships" id="261" r:id="Rc2cb3d30f79a495b"/>
    <p:sldId xmlns:r="http://schemas.openxmlformats.org/officeDocument/2006/relationships" id="262" r:id="R33e78ef32bba45ad"/>
    <p:sldId xmlns:r="http://schemas.openxmlformats.org/officeDocument/2006/relationships" id="263" r:id="R72057dc0715a4cc1"/>
    <p:sldId xmlns:r="http://schemas.openxmlformats.org/officeDocument/2006/relationships" id="264" r:id="R1d3903c87ed94762"/>
    <p:sldId xmlns:r="http://schemas.openxmlformats.org/officeDocument/2006/relationships" id="265" r:id="R4894941eb2a84e67"/>
    <p:sldId xmlns:r="http://schemas.openxmlformats.org/officeDocument/2006/relationships" id="266" r:id="Rb8286721e5024b93"/>
    <p:sldId xmlns:r="http://schemas.openxmlformats.org/officeDocument/2006/relationships" id="267" r:id="R0d075f1b107a48a1"/>
    <p:sldId xmlns:r="http://schemas.openxmlformats.org/officeDocument/2006/relationships" id="268" r:id="Rcc27d18b7dcf48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b4488abef54b2d" /><Relationship Type="http://schemas.openxmlformats.org/officeDocument/2006/relationships/slideMaster" Target="/ppt/slideMasters/slideMaster1.xml" Id="R6bb896f7b0ed44ba" /><Relationship Type="http://schemas.openxmlformats.org/officeDocument/2006/relationships/notesMaster" Target="/ppt/notesMasters/notesMaster1.xml" Id="R1f176fa70e4a490b" /><Relationship Type="http://schemas.openxmlformats.org/officeDocument/2006/relationships/presProps" Target="/ppt/presProps.xml" Id="Rf1bb651b730843e5" /><Relationship Type="http://schemas.openxmlformats.org/officeDocument/2006/relationships/viewProps" Target="/ppt/viewProps.xml" Id="Rc06b38da64404892" /><Relationship Type="http://schemas.openxmlformats.org/officeDocument/2006/relationships/tableStyles" Target="/ppt/tableStyles.xml" Id="R51d984a7b85c4eaa" /><Relationship Type="http://schemas.openxmlformats.org/officeDocument/2006/relationships/slide" Target="/ppt/slides/slide1.xml" Id="Rda3eb53131be4b22" /><Relationship Type="http://schemas.openxmlformats.org/officeDocument/2006/relationships/slide" Target="/ppt/slides/slide2.xml" Id="R1390baf1b4304bab" /><Relationship Type="http://schemas.openxmlformats.org/officeDocument/2006/relationships/slide" Target="/ppt/slides/slide3.xml" Id="R4c21eff2fe924ba3" /><Relationship Type="http://schemas.openxmlformats.org/officeDocument/2006/relationships/slide" Target="/ppt/slides/slide4.xml" Id="Rd7b1b810f83c4be1" /><Relationship Type="http://schemas.openxmlformats.org/officeDocument/2006/relationships/slide" Target="/ppt/slides/slide5.xml" Id="R91e2feb68c714eff" /><Relationship Type="http://schemas.openxmlformats.org/officeDocument/2006/relationships/slide" Target="/ppt/slides/slide6.xml" Id="Rc2cb3d30f79a495b" /><Relationship Type="http://schemas.openxmlformats.org/officeDocument/2006/relationships/slide" Target="/ppt/slides/slide7.xml" Id="R33e78ef32bba45ad" /><Relationship Type="http://schemas.openxmlformats.org/officeDocument/2006/relationships/slide" Target="/ppt/slides/slide8.xml" Id="R72057dc0715a4cc1" /><Relationship Type="http://schemas.openxmlformats.org/officeDocument/2006/relationships/slide" Target="/ppt/slides/slide9.xml" Id="R1d3903c87ed94762" /><Relationship Type="http://schemas.openxmlformats.org/officeDocument/2006/relationships/slide" Target="/ppt/slides/slide10.xml" Id="R4894941eb2a84e67" /><Relationship Type="http://schemas.openxmlformats.org/officeDocument/2006/relationships/slide" Target="/ppt/slides/slide11.xml" Id="Rb8286721e5024b93" /><Relationship Type="http://schemas.openxmlformats.org/officeDocument/2006/relationships/slide" Target="/ppt/slides/slide12.xml" Id="R0d075f1b107a48a1" /><Relationship Type="http://schemas.openxmlformats.org/officeDocument/2006/relationships/slide" Target="/ppt/slides/slide13.xml" Id="Rcc27d18b7dcf48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3a8d1a2fa1b4e7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787f3616c34f4c" /><Relationship Type="http://schemas.openxmlformats.org/officeDocument/2006/relationships/notesMaster" Target="/ppt/notesMasters/notesMaster1.xml" Id="Rf306dec504124d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14531b883ed436f" /><Relationship Type="http://schemas.openxmlformats.org/officeDocument/2006/relationships/notesMaster" Target="/ppt/notesMasters/notesMaster1.xml" Id="R947c84b96db941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5ac5d32d8144b9" /><Relationship Type="http://schemas.openxmlformats.org/officeDocument/2006/relationships/notesMaster" Target="/ppt/notesMasters/notesMaster1.xml" Id="Rd38cf885d76b47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5f6b4d5e6d9448f" /><Relationship Type="http://schemas.openxmlformats.org/officeDocument/2006/relationships/notesMaster" Target="/ppt/notesMasters/notesMaster1.xml" Id="Ra88ada71416845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7fc1a0cdb794ebd" /><Relationship Type="http://schemas.openxmlformats.org/officeDocument/2006/relationships/notesMaster" Target="/ppt/notesMasters/notesMaster1.xml" Id="Rea91ad35c8fc4a9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f795269d3ec44a0" /><Relationship Type="http://schemas.openxmlformats.org/officeDocument/2006/relationships/notesMaster" Target="/ppt/notesMasters/notesMaster1.xml" Id="R0c1904b955a141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b6e7b1fc5114d39" /><Relationship Type="http://schemas.openxmlformats.org/officeDocument/2006/relationships/notesMaster" Target="/ppt/notesMasters/notesMaster1.xml" Id="R78351aa0db7b4a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6d5bb562e0744df" /><Relationship Type="http://schemas.openxmlformats.org/officeDocument/2006/relationships/notesMaster" Target="/ppt/notesMasters/notesMaster1.xml" Id="R67834dcb0b40421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cacb425557945ce" /><Relationship Type="http://schemas.openxmlformats.org/officeDocument/2006/relationships/notesMaster" Target="/ppt/notesMasters/notesMaster1.xml" Id="R9232b39b2aee4a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01875c8b64342c9" /><Relationship Type="http://schemas.openxmlformats.org/officeDocument/2006/relationships/notesMaster" Target="/ppt/notesMasters/notesMaster1.xml" Id="R22ab92fc043b42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f5a8628ea54396" /><Relationship Type="http://schemas.openxmlformats.org/officeDocument/2006/relationships/notesMaster" Target="/ppt/notesMasters/notesMaster1.xml" Id="R13c79988395a47d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56ba6ef6ece459d" /><Relationship Type="http://schemas.openxmlformats.org/officeDocument/2006/relationships/notesMaster" Target="/ppt/notesMasters/notesMaster1.xml" Id="R2aa519f6b3e1490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71d52821bca4d5e" /><Relationship Type="http://schemas.openxmlformats.org/officeDocument/2006/relationships/notesMaster" Target="/ppt/notesMasters/notesMaster1.xml" Id="R04831ef9d595477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달빛수원 제출자료 최신화. 공개 웹·관리자 데이터는 현재 저장소 기준이며, 모바일 앱은 친구가 계속 개발 중입니다.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달빛수원 제출자료 최신화. 공개 웹·관리자 데이터는 현재 저장소 기준이며, 모바일 앱은 친구가 계속 개발 중입니다.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달빛수원 제출자료 최신화. 공개 웹·관리자 데이터는 현재 저장소 기준이며, 모바일 앱은 친구가 계속 개발 중입니다.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달빛수원 제출자료 최신화. 공개 웹·관리자 데이터는 현재 저장소 기준이며, 모바일 앱은 친구가 계속 개발 중입니다.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달빛수원 제출자료 최신화. 공개 웹·관리자 데이터는 현재 저장소 기준이며, 모바일 앱은 친구가 계속 개발 중입니다.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달빛수원 제출자료 최신화. 공개 웹·관리자 데이터는 현재 저장소 기준이며, 모바일 앱은 친구가 계속 개발 중입니다.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달빛수원 제출자료 최신화. 공개 웹·관리자 데이터는 현재 저장소 기준이며, 모바일 앱은 친구가 계속 개발 중입니다.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달빛수원 제출자료 최신화. 공개 웹·관리자 데이터는 현재 저장소 기준이며, 모바일 앱은 친구가 계속 개발 중입니다.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달빛수원 제출자료 최신화. 공개 웹·관리자 데이터는 현재 저장소 기준이며, 모바일 앱은 친구가 계속 개발 중입니다.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달빛수원 제출자료 최신화. 공개 웹·관리자 데이터는 현재 저장소 기준이며, 모바일 앱은 친구가 계속 개발 중입니다.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달빛수원 제출자료 최신화. 공개 웹·관리자 데이터는 현재 저장소 기준이며, 모바일 앱은 친구가 계속 개발 중입니다.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달빛수원 제출자료 최신화. 공개 웹·관리자 데이터는 현재 저장소 기준이며, 모바일 앱은 친구가 계속 개발 중입니다.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달빛수원 제출자료 최신화. 공개 웹·관리자 데이터는 현재 저장소 기준이며, 모바일 앱은 친구가 계속 개발 중입니다.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a470a78d2e4e9b" /><Relationship Type="http://schemas.openxmlformats.org/officeDocument/2006/relationships/image" Target="/ppt/media/image.png" Id="Rc480d40e3bbd4ca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84ebca64d24528" /><Relationship Type="http://schemas.openxmlformats.org/officeDocument/2006/relationships/image" Target="/ppt/media/image2.png" Id="Rdf819d19119147b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f2a3ed7c5f4a04" /><Relationship Type="http://schemas.openxmlformats.org/officeDocument/2006/relationships/image" Target="/ppt/media/image3.png" Id="R8578215c857344a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ae552f61d346a6" /><Relationship Type="http://schemas.openxmlformats.org/officeDocument/2006/relationships/image" Target="/ppt/media/image4.png" Id="R38a2d32332c34b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058c729b344695" /><Relationship Type="http://schemas.openxmlformats.org/officeDocument/2006/relationships/image" Target="/ppt/media/image5.png" Id="R5cee920a3b504db1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ca923b1c8848e8" /><Relationship Type="http://schemas.openxmlformats.org/officeDocument/2006/relationships/image" Target="/ppt/media/image6.png" Id="R3ca3f3f3281e426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25b646639644c1" /><Relationship Type="http://schemas.openxmlformats.org/officeDocument/2006/relationships/image" Target="/ppt/media/image7.png" Id="R294a08424b57435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e490a6ea744dba" /></Relationships>
</file>

<file path=ppt/slideLayouts/slideLayout1.xml><?xml version="1.0" encoding="utf-8"?>
<p:sldLayout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0d40e3bbd4c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type="blank" preserve="1">
  <p:cSld name="서비스 소개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19d19119147b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799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type="blank" preserve="1">
  <p:cSld name="지역 특화 서비스 구현 세부내용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78215c857344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4083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4.xml><?xml version="1.0" encoding="utf-8"?>
<p:sldLayout xmlns:p="http://schemas.openxmlformats.org/presentationml/2006/main" type="blank" preserve="1">
  <p:cSld name="서비스 핵심 기능별 흐름도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a2d32332c34b1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438" y="18574"/>
            <a:ext cx="12165123" cy="6839426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5.xml><?xml version="1.0" encoding="utf-8"?>
<p:sldLayout xmlns:p="http://schemas.openxmlformats.org/presentationml/2006/main" type="blank" preserve="1">
  <p:cSld name="데이터 활용(한국관광공사 OpenAPI)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ee920a3b504d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2" y="13811"/>
            <a:ext cx="12184175" cy="683037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6.xml><?xml version="1.0" encoding="utf-8"?>
<p:sldLayout xmlns:p="http://schemas.openxmlformats.org/presentationml/2006/main" type="blank" preserve="1">
  <p:cSld name="데이터 활용(기타)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a3f3f3281e426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675" y="9047"/>
            <a:ext cx="12174649" cy="6839905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blank" preserve="1">
  <p:cSld name="서비스 차별성&amp;발전계획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그림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a08424b574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912" y="4284"/>
            <a:ext cx="12184175" cy="6849431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8.xml><?xml version="1.0" encoding="utf-8"?>
<p:sldLayout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날짜 개체 틀 1">
            <a:extLst xmlns:a="http://schemas.openxmlformats.org/drawingml/2006/main">
              <a:ext uri="{FF2B5EF4-FFF2-40B4-BE49-F238E27FC236}">
                <a16:creationId xmlns:a16="http://schemas.microsoft.com/office/drawing/2014/main" id="{16BD3187-20A0-48FC-A822-9F2532C42A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A38FB6A-844E-4645-B6B8-D2945F9927BB}" type="datetimeFigureOut">
              <a:t>2026-07-29</a:t>
            </a:fld>
            <a:endParaRPr/>
          </a:p>
        </p:txBody>
      </p:sp>
      <p:sp>
        <p:nvSpPr>
          <p:cNvPr id="3" name="바닥글 개체 틀 2">
            <a:extLst xmlns:a="http://schemas.openxmlformats.org/drawingml/2006/main">
              <a:ext uri="{FF2B5EF4-FFF2-40B4-BE49-F238E27FC236}">
                <a16:creationId xmlns:a16="http://schemas.microsoft.com/office/drawing/2014/main" id="{0831E2DC-9026-4B20-8197-3BDC1ED49F4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슬라이드 번호 개체 틀 3">
            <a:extLst xmlns:a="http://schemas.openxmlformats.org/drawingml/2006/main">
              <a:ext uri="{FF2B5EF4-FFF2-40B4-BE49-F238E27FC236}">
                <a16:creationId xmlns:a16="http://schemas.microsoft.com/office/drawing/2014/main" id="{32E5127F-6744-4279-81ED-48F6E11C914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32701-68F9-4777-ABB9-C14E97591467}" type="slidenum">
              <a:t>‹#›</a:t>
            </a:fld>
            <a:endParaRPr/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F8032D8B-F79C-42FC-AA85-DA1F07D2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61715" y="256797"/>
            <a:ext cx="2419001" cy="340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F0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solidFill>
                  <a:schemeClr val="bg1"/>
                </a:solidFill>
                <a:latin typeface="Noto Sans KR Medium"/>
                <a:ea typeface="Noto Sans KR Medium"/>
                <a:cs typeface="Noto Sans KR Medium"/>
              </a:rPr>
              <a:t>2026 </a:t>
            </a:r>
            <a:r>
              <a:rPr sz="1400">
                <a:solidFill>
                  <a:schemeClr val="bg1"/>
                </a:solidFill>
                <a:latin typeface="Noto Sans KR Medium"/>
                <a:ea typeface="Noto Sans KR Medium"/>
                <a:cs typeface="Noto Sans KR Medium"/>
              </a:rPr>
              <a:t>관광데이터 활용 공모전</a:t>
            </a:r>
            <a:endParaRPr sz="1400">
              <a:solidFill>
                <a:schemeClr val="bg1"/>
              </a:solidFill>
              <a:latin typeface="Noto Sans KR Medium"/>
              <a:ea typeface="Noto Sans KR Medium"/>
              <a:cs typeface="Noto Sans KR Medium"/>
            </a:endParaR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DDA5F16F-5217-4AC4-9132-E1682DEC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674929" y="256797"/>
            <a:ext cx="1327264" cy="340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DE7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>
                <a:latin typeface="Noto Sans KR Medium"/>
                <a:ea typeface="Noto Sans KR Medium"/>
                <a:cs typeface="Noto Sans KR Medium"/>
              </a:rPr>
              <a:t>웹〮앱 개발 부문</a:t>
            </a:r>
            <a:endParaRPr sz="1400">
              <a:latin typeface="Noto Sans KR Medium"/>
              <a:ea typeface="Noto Sans KR Medium"/>
              <a:cs typeface="Noto Sans KR Medium"/>
            </a:endParaRPr>
          </a:p>
        </p:txBody>
      </p:sp>
      <p:sp>
        <p:nvSpPr>
          <p:cNvPr id="11" name="직사각형 10">
            <a:extLst xmlns:a="http://schemas.openxmlformats.org/drawingml/2006/main">
              <a:ext uri="{FF2B5EF4-FFF2-40B4-BE49-F238E27FC236}">
                <a16:creationId xmlns:a16="http://schemas.microsoft.com/office/drawing/2014/main" id="{37470A31-7B3B-451F-960E-C433BBEE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807" y="791993"/>
            <a:ext cx="11812386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ca892c57c34423" /><Relationship Type="http://schemas.openxmlformats.org/officeDocument/2006/relationships/slideLayout" Target="/ppt/slideLayouts/slideLayout1.xml" Id="Rae9fec828b8440f8" /><Relationship Type="http://schemas.openxmlformats.org/officeDocument/2006/relationships/slideLayout" Target="/ppt/slideLayouts/slideLayout2.xml" Id="Rf245449ab80745ac" /><Relationship Type="http://schemas.openxmlformats.org/officeDocument/2006/relationships/slideLayout" Target="/ppt/slideLayouts/slideLayout3.xml" Id="Rf627dfa143da4b2e" /><Relationship Type="http://schemas.openxmlformats.org/officeDocument/2006/relationships/slideLayout" Target="/ppt/slideLayouts/slideLayout4.xml" Id="Rf3e6bdd48e3e481e" /><Relationship Type="http://schemas.openxmlformats.org/officeDocument/2006/relationships/slideLayout" Target="/ppt/slideLayouts/slideLayout5.xml" Id="R49a1cedd9157404f" /><Relationship Type="http://schemas.openxmlformats.org/officeDocument/2006/relationships/slideLayout" Target="/ppt/slideLayouts/slideLayout6.xml" Id="Rc74d666480c442a1" /><Relationship Type="http://schemas.openxmlformats.org/officeDocument/2006/relationships/slideLayout" Target="/ppt/slideLayouts/slideLayout7.xml" Id="R6be4be9160b24e79" /><Relationship Type="http://schemas.openxmlformats.org/officeDocument/2006/relationships/slideLayout" Target="/ppt/slideLayouts/slideLayout8.xml" Id="R5ec8c7edc43a4a6b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개체 틀 1">
            <a:extLst xmlns:a="http://schemas.openxmlformats.org/drawingml/2006/main">
              <a:ext uri="{FF2B5EF4-FFF2-40B4-BE49-F238E27FC236}">
                <a16:creationId xmlns:a16="http://schemas.microsoft.com/office/drawing/2014/main" id="{6141887C-7160-4FC1-9C45-355D29FDE0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153208DA-8D34-471E-ABCC-20AA434960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  <p:sp>
        <p:nvSpPr>
          <p:cNvPr id="4" name="날짜 개체 틀 3">
            <a:extLst xmlns:a="http://schemas.openxmlformats.org/drawingml/2006/main">
              <a:ext uri="{FF2B5EF4-FFF2-40B4-BE49-F238E27FC236}">
                <a16:creationId xmlns:a16="http://schemas.microsoft.com/office/drawing/2014/main" id="{BAD16553-4A15-45E5-BA41-332EB2BCDBB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4A38FB6A-844E-4645-B6B8-D2945F9927BB}" type="datetimeFigureOut">
              <a:t>2026-07-29</a:t>
            </a:fld>
            <a:endParaRPr/>
          </a:p>
        </p:txBody>
      </p:sp>
      <p:sp>
        <p:nvSpPr>
          <p:cNvPr id="5" name="바닥글 개체 틀 4">
            <a:extLst xmlns:a="http://schemas.openxmlformats.org/drawingml/2006/main">
              <a:ext uri="{FF2B5EF4-FFF2-40B4-BE49-F238E27FC236}">
                <a16:creationId xmlns:a16="http://schemas.microsoft.com/office/drawing/2014/main" id="{F00BC951-2D44-4DD9-9D5D-1DEB745222B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슬라이드 번호 개체 틀 5">
            <a:extLst xmlns:a="http://schemas.openxmlformats.org/drawingml/2006/main">
              <a:ext uri="{FF2B5EF4-FFF2-40B4-BE49-F238E27FC236}">
                <a16:creationId xmlns:a16="http://schemas.microsoft.com/office/drawing/2014/main" id="{67E5B974-2584-445B-8176-6C9921A4731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8832701-68F9-4777-ABB9-C14E9759146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9fec828b8440f8"/>
    <p:sldLayoutId xmlns:r="http://schemas.openxmlformats.org/officeDocument/2006/relationships" id="2147483650" r:id="Rf245449ab80745ac"/>
    <p:sldLayoutId xmlns:r="http://schemas.openxmlformats.org/officeDocument/2006/relationships" id="2147483651" r:id="Rf627dfa143da4b2e"/>
    <p:sldLayoutId xmlns:r="http://schemas.openxmlformats.org/officeDocument/2006/relationships" id="2147483652" r:id="Rf3e6bdd48e3e481e"/>
    <p:sldLayoutId xmlns:r="http://schemas.openxmlformats.org/officeDocument/2006/relationships" id="2147483653" r:id="R49a1cedd9157404f"/>
    <p:sldLayoutId xmlns:r="http://schemas.openxmlformats.org/officeDocument/2006/relationships" id="2147483654" r:id="Rc74d666480c442a1"/>
    <p:sldLayoutId xmlns:r="http://schemas.openxmlformats.org/officeDocument/2006/relationships" id="2147483655" r:id="R6be4be9160b24e79"/>
    <p:sldLayoutId xmlns:r="http://schemas.openxmlformats.org/officeDocument/2006/relationships" id="2147483656" r:id="R5ec8c7edc43a4a6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57e0ef2b30435f" /><Relationship Type="http://schemas.openxmlformats.org/officeDocument/2006/relationships/notesSlide" Target="/ppt/notesSlides/notesSlide1.xml" Id="R232cd78ed319458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fb9e15543241fa" /><Relationship Type="http://schemas.openxmlformats.org/officeDocument/2006/relationships/notesSlide" Target="/ppt/notesSlides/notesSlide2.xml" Id="Rc4f59868b766499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6b777bb65f4061" /><Relationship Type="http://schemas.openxmlformats.org/officeDocument/2006/relationships/notesSlide" Target="/ppt/notesSlides/notesSlide3.xml" Id="Rcf13940239b640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df14c3b51a4bac" /><Relationship Type="http://schemas.openxmlformats.org/officeDocument/2006/relationships/image" Target="/ppt/media/image8.png" Id="R6f597988cd234af4" /><Relationship Type="http://schemas.openxmlformats.org/officeDocument/2006/relationships/image" Target="/ppt/media/image9.png" Id="R58e1579aa21a411c" /><Relationship Type="http://schemas.openxmlformats.org/officeDocument/2006/relationships/image" Target="/ppt/media/image10.png" Id="Rcb13be1d65fb491f" /><Relationship Type="http://schemas.openxmlformats.org/officeDocument/2006/relationships/image" Target="/ppt/media/image11.png" Id="Rd7459674616e4c73" /><Relationship Type="http://schemas.openxmlformats.org/officeDocument/2006/relationships/image" Target="/ppt/media/image12.png" Id="R5f460f4091c040b6" /><Relationship Type="http://schemas.openxmlformats.org/officeDocument/2006/relationships/notesSlide" Target="/ppt/notesSlides/notesSlide4.xml" Id="Rda31affa061f4e6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3d813c50f3c49c2" /><Relationship Type="http://schemas.openxmlformats.org/officeDocument/2006/relationships/notesSlide" Target="/ppt/notesSlides/notesSlide5.xml" Id="Rfd43ae3a829a4f5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1879e0aff1c4fe2" /><Relationship Type="http://schemas.openxmlformats.org/officeDocument/2006/relationships/image" Target="/ppt/media/image13.png" Id="R82165d6009c6418a" /><Relationship Type="http://schemas.openxmlformats.org/officeDocument/2006/relationships/notesSlide" Target="/ppt/notesSlides/notesSlide6.xml" Id="Rceef575b08a94e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5ea68bdf5de44e9" /><Relationship Type="http://schemas.openxmlformats.org/officeDocument/2006/relationships/image" Target="/ppt/media/image14.png" Id="R9c619d160a37490b" /><Relationship Type="http://schemas.openxmlformats.org/officeDocument/2006/relationships/notesSlide" Target="/ppt/notesSlides/notesSlide7.xml" Id="Racc633cfd149437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8494b04b83fa4878" /><Relationship Type="http://schemas.openxmlformats.org/officeDocument/2006/relationships/image" Target="/ppt/media/image15.png" Id="R33899096301049d5" /><Relationship Type="http://schemas.openxmlformats.org/officeDocument/2006/relationships/notesSlide" Target="/ppt/notesSlides/notesSlide8.xml" Id="R03190b184a0447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260091cac6841d1" /><Relationship Type="http://schemas.openxmlformats.org/officeDocument/2006/relationships/image" Target="/ppt/media/image16.png" Id="R3ded16516abd4ba3" /><Relationship Type="http://schemas.openxmlformats.org/officeDocument/2006/relationships/notesSlide" Target="/ppt/notesSlides/notesSlide9.xml" Id="Rf5ddf9900dd444c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1ecd22ac4b34b9f" /><Relationship Type="http://schemas.openxmlformats.org/officeDocument/2006/relationships/image" Target="/ppt/media/image17.png" Id="Rc17bf24619204c59" /><Relationship Type="http://schemas.openxmlformats.org/officeDocument/2006/relationships/notesSlide" Target="/ppt/notesSlides/notesSlide10.xml" Id="R1479aa5e52aa45c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53a99195edc42f7" /><Relationship Type="http://schemas.openxmlformats.org/officeDocument/2006/relationships/notesSlide" Target="/ppt/notesSlides/notesSlide11.xml" Id="R7679ea51a3cb474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3052a937813466a" /><Relationship Type="http://schemas.openxmlformats.org/officeDocument/2006/relationships/notesSlide" Target="/ppt/notesSlides/notesSlide12.xml" Id="Ra7b145e59ae44d6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d59e7b8dabd4681" /><Relationship Type="http://schemas.openxmlformats.org/officeDocument/2006/relationships/notesSlide" Target="/ppt/notesSlides/notesSlide13.xml" Id="R6a7cee90aba8474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표 5"/>
          <p:cNvGraphicFramePr/>
          <p:nvPr/>
        </p:nvGraphicFramePr>
        <p:xfrm>
          <a:off xmlns:a="http://schemas.openxmlformats.org/drawingml/2006/main" x="527397" y="4563687"/>
          <a:ext xmlns:a="http://schemas.openxmlformats.org/drawingml/2006/main" cx="6712988" cy="111221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1569"/>
                <a:gridCol w="4821419"/>
              </a:tblGrid>
              <a:tr h="54779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chemeClr val="bg1"/>
                          </a:solidFill>
                        </a:rPr>
                        <a:t>팀 명</a:t>
                      </a:r>
                      <a:endParaRPr sz="24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sz="1650">
                          <a:solidFill>
                            <a:srgbClr val="222222"/>
                          </a:solidFill>
                        </a:rPr>
                        <a:t>최강</a:t>
                      </a:r>
                      <a:endParaRPr sz="2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FDE7"/>
                    </a:solidFill>
                  </a:tcPr>
                </a:tc>
              </a:tr>
              <a:tr h="56441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2400" b="1">
                          <a:solidFill>
                            <a:schemeClr val="bg1"/>
                          </a:solidFill>
                        </a:rPr>
                        <a:t>서비스</a:t>
                      </a:r>
                      <a:r>
                        <a:rPr sz="2400" b="1"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 sz="2400" b="1">
                          <a:solidFill>
                            <a:schemeClr val="bg1"/>
                          </a:solidFill>
                        </a:rPr>
                        <a:t>명</a:t>
                      </a:r>
                      <a:endParaRPr sz="24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sz="1650">
                          <a:solidFill>
                            <a:srgbClr val="222222"/>
                          </a:solidFill>
                        </a:rPr>
                        <a:t>달빛수원</a:t>
                      </a:r>
                      <a:endParaRPr sz="2400"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solidFill>
                      <a:srgbClr val="FFFD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344982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표 16"/>
          <p:cNvGraphicFramePr/>
          <p:nvPr/>
        </p:nvGraphicFramePr>
        <p:xfrm>
          <a:off xmlns:a="http://schemas.openxmlformats.org/drawingml/2006/main" x="287250" y="1218429"/>
          <a:ext xmlns:a="http://schemas.openxmlformats.org/drawingml/2006/main" cx="11649825" cy="4750109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/>
                <a:gridCol w="9694603"/>
              </a:tblGrid>
              <a:tr h="5472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500">
                          <a:solidFill>
                            <a:srgbClr val="222222"/>
                          </a:solidFill>
                        </a:rPr>
                        <a:t>달빛수원</a:t>
                      </a:r>
                      <a:endParaRPr sz="1800" b="0" baseline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7310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 유형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+mn-lt"/>
                          <a:ea typeface="+mn-lt"/>
                          <a:cs typeface="+mn-lt"/>
                        </a:rPr>
                        <a:t>앱 서비스 (공개 웹·관리자 보조 채널)</a:t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03024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 개요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00">
                          <a:solidFill>
                            <a:srgbClr val="222222"/>
                          </a:solidFill>
                          <a:latin typeface="+mn-lt"/>
                          <a:ea typeface="+mn-lt"/>
                          <a:cs typeface="+mn-lt"/>
                        </a:rPr>
                        <a:t>수원화성 야간관광을 위한 위치 기반 미션형 체험 서비스입니다. 모바일 앱과 공개 웹에서 시간대별 코스, 장소, 행사와 방문 예측을 확인할 수 있습니다.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44159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주제 선정 이유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25" b="0">
                          <a:solidFill>
                            <a:srgbClr val="222222"/>
                          </a:solidFill>
                          <a:latin typeface="+mn-lt"/>
                          <a:ea typeface="+mn-lt"/>
                          <a:cs typeface="+mn-lt"/>
                        </a:rPr>
                        <a:t>수원화성·화성행궁·행리단길의 야간 관광정보가 여러 곳에 흩어져 방문 순서를 고르기 어려운 문제에서 출발했습니다. 한국관광공사 관광정보에 정조 스토리와 미션형 코스를 결합해 방문 전 선택과 현장 체험을 연결합니다.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600099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표 16"/>
          <p:cNvGraphicFramePr/>
          <p:nvPr/>
        </p:nvGraphicFramePr>
        <p:xfrm>
          <a:off xmlns:a="http://schemas.openxmlformats.org/drawingml/2006/main" x="287250" y="1218429"/>
          <a:ext xmlns:a="http://schemas.openxmlformats.org/drawingml/2006/main" cx="11649826" cy="473348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/>
                <a:gridCol w="9694604"/>
              </a:tblGrid>
              <a:tr h="4733484"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 핵심기능</a:t>
                      </a:r>
                    </a:p>
                    <a:p>
                      <a:pPr algn="ctr">
                        <a:buNone/>
                      </a:pP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r>
                        <a:rPr sz="1350">
                          <a:solidFill>
                            <a:srgbClr val="222222"/>
                          </a:solidFill>
                        </a:rPr>
                        <a:t>시간대별 야간관광 추천 코스</a:t>
                      </a:r>
                    </a:p>
                    <a:p>
                      <a:r>
                        <a:rPr sz="1350">
                          <a:solidFill>
                            <a:srgbClr val="222222"/>
                          </a:solidFill>
                        </a:rPr>
                        <a:t>도착 체크와 코스 완료 기록</a:t>
                      </a:r>
                    </a:p>
                    <a:p>
                      <a:r>
                        <a:rPr sz="1350">
                          <a:solidFill>
                            <a:srgbClr val="222222"/>
                          </a:solidFill>
                        </a:rPr>
                        <a:t>내 주변 관광지·로컬 스팟 탐색</a:t>
                      </a:r>
                    </a:p>
                    <a:p>
                      <a:r>
                        <a:rPr sz="1350">
                          <a:solidFill>
                            <a:srgbClr val="222222"/>
                          </a:solidFill>
                        </a:rPr>
                        <a:t>찜·완료 기록과 이미지 공유</a:t>
                      </a:r>
                    </a:p>
                    <a:p>
                      <a:r>
                        <a:rPr sz="1350">
                          <a:solidFill>
                            <a:srgbClr val="222222"/>
                          </a:solidFill>
                        </a:rPr>
                        <a:t>공개 웹 미리보기와 관리자 데이터 운영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9868818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7" name="표 16"/>
          <p:cNvGraphicFramePr/>
          <p:nvPr/>
        </p:nvGraphicFramePr>
        <p:xfrm>
          <a:off xmlns:a="http://schemas.openxmlformats.org/drawingml/2006/main" x="287250" y="1218429"/>
          <a:ext xmlns:a="http://schemas.openxmlformats.org/drawingml/2006/main" cx="11649826" cy="499117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/>
                <a:gridCol w="9694604"/>
              </a:tblGrid>
              <a:tr h="18476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대표 이미지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(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썸네일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)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434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서비스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상세 이미지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597988cd234af4"/>
          <a:stretch xmlns:a="http://schemas.openxmlformats.org/drawingml/2006/main"/>
        </p:blipFill>
        <p:spPr>
          <a:xfrm xmlns:a="http://schemas.openxmlformats.org/drawingml/2006/main">
            <a:off x="3500438" y="1476375"/>
            <a:ext cx="1619250" cy="161925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e1579aa21a411c"/>
          <a:stretch xmlns:a="http://schemas.openxmlformats.org/drawingml/2006/main"/>
        </p:blipFill>
        <p:spPr>
          <a:xfrm xmlns:a="http://schemas.openxmlformats.org/drawingml/2006/main">
            <a:off x="2804296" y="3257550"/>
            <a:ext cx="1249409" cy="2714625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13be1d65fb491f"/>
          <a:stretch xmlns:a="http://schemas.openxmlformats.org/drawingml/2006/main"/>
        </p:blipFill>
        <p:spPr>
          <a:xfrm xmlns:a="http://schemas.openxmlformats.org/drawingml/2006/main">
            <a:off x="4899796" y="3257550"/>
            <a:ext cx="1249409" cy="2714625"/>
          </a:xfrm>
          <a:prstGeom xmlns:a="http://schemas.openxmlformats.org/drawingml/2006/main" prst="rect">
            <a:avLst/>
          </a:prstGeom>
        </p:spPr>
      </p:pic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459674616e4c73"/>
          <a:stretch xmlns:a="http://schemas.openxmlformats.org/drawingml/2006/main"/>
        </p:blipFill>
        <p:spPr>
          <a:xfrm xmlns:a="http://schemas.openxmlformats.org/drawingml/2006/main">
            <a:off x="6995296" y="3257550"/>
            <a:ext cx="1249409" cy="2714625"/>
          </a:xfrm>
          <a:prstGeom xmlns:a="http://schemas.openxmlformats.org/drawingml/2006/main" prst="rect">
            <a:avLst/>
          </a:prstGeom>
        </p:spPr>
      </p:pic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60f4091c040b6"/>
          <a:stretch xmlns:a="http://schemas.openxmlformats.org/drawingml/2006/main"/>
        </p:blipFill>
        <p:spPr>
          <a:xfrm xmlns:a="http://schemas.openxmlformats.org/drawingml/2006/main">
            <a:off x="9104709" y="3257550"/>
            <a:ext cx="1221581" cy="2714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6920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7" name="표 2"/>
          <p:cNvGraphicFramePr/>
          <p:nvPr/>
        </p:nvGraphicFramePr>
        <p:xfrm>
          <a:off xmlns:a="http://schemas.openxmlformats.org/drawingml/2006/main" x="287250" y="1218429"/>
          <a:ext xmlns:a="http://schemas.openxmlformats.org/drawingml/2006/main" cx="11649825" cy="507973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/>
                <a:gridCol w="9694603"/>
              </a:tblGrid>
              <a:tr h="194440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특화 </a:t>
                      </a:r>
                      <a:r>
                        <a:rPr b="1">
                          <a:solidFill>
                            <a:schemeClr val="bg1"/>
                          </a:solidFill>
                        </a:rPr>
                        <a:t>지역명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  <a:p>
                      <a:pPr algn="ctr">
                        <a:buNone/>
                      </a:pPr>
                      <a:r>
                        <a:rPr sz="1600" b="1">
                          <a:solidFill>
                            <a:schemeClr val="bg1"/>
                          </a:solidFill>
                        </a:rPr>
                        <a:t>* </a:t>
                      </a:r>
                      <a:r>
                        <a:rPr sz="1600" b="1">
                          <a:solidFill>
                            <a:schemeClr val="bg1"/>
                          </a:solidFill>
                        </a:rPr>
                        <a:t>서울 제외</a:t>
                      </a:r>
                      <a:endParaRPr sz="16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350" b="0">
                          <a:solidFill>
                            <a:srgbClr val="222222"/>
                          </a:solidFill>
                          <a:latin typeface="+mn-lt"/>
                          <a:ea typeface="+mn-lt"/>
                          <a:cs typeface="+mn-lt"/>
                        </a:rPr>
                        <a:t>경기도 수원시 (수원화성 일대)</a:t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1353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구현 내용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+mn-lt"/>
                          <a:ea typeface="+mn-lt"/>
                          <a:cs typeface="+mn-lt"/>
                        </a:rPr>
                        <a:t>수원화성·화성행궁·행리단길을 중심으로 야간 관광 장소와 코스를 연결합니다.</a:t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+mn-lt"/>
                          <a:ea typeface="+mn-lt"/>
                          <a:cs typeface="+mn-lt"/>
                        </a:rPr>
                        <a:t>공개 장소 48곳, 공개 코스 7개, 예정 행사 8개를 운영 중입니다.</a:t>
                      </a:r>
                      <a:endParaRPr sz="1800" b="0" baseline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+mn-lt"/>
                          <a:ea typeface="+mn-lt"/>
                          <a:cs typeface="+mn-lt"/>
                        </a:rPr>
                        <a:t>정조 스토리와 야간 경관, 일 단위 혼잡 예측을 함께 제공해 방문 순서를 고를 수 있습니다.</a:t>
                      </a:r>
                      <a:endParaRPr sz="1800" b="0" baseline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200" b="0">
                          <a:solidFill>
                            <a:srgbClr val="222222"/>
                          </a:solidFill>
                          <a:latin typeface="+mn-lt"/>
                          <a:ea typeface="+mn-lt"/>
                          <a:cs typeface="+mn-lt"/>
                        </a:rPr>
                        <a:t>무장애·오디오 정보는 웹·관리자 데이터에 반영하고 모바일 앱 노출은 친구가 이어서 개발 중입니다.</a:t>
                      </a:r>
                      <a:endParaRPr sz="1800" b="0" baseline="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5260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3" name="표 7"/>
          <p:cNvGraphicFramePr/>
          <p:nvPr/>
        </p:nvGraphicFramePr>
        <p:xfrm>
          <a:off xmlns:a="http://schemas.openxmlformats.org/drawingml/2006/main" x="302952" y="1933326"/>
          <a:ext xmlns:a="http://schemas.openxmlformats.org/drawingml/2006/main" cx="11426308" cy="460584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/>
                <a:gridCol w="2856577"/>
                <a:gridCol w="2856577"/>
                <a:gridCol w="2856577"/>
              </a:tblGrid>
              <a:tr h="327145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흐름도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</a:tr>
              <a:tr h="2806208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433874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+mn-lt"/>
                          <a:ea typeface="+mn-lt"/>
                          <a:cs typeface="+mn-lt"/>
                        </a:rPr>
                        <a:t>홈 화면에서 시간대별 추천 코스를 선택하고 코스 상세로 이동한다.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표 14"/>
          <p:cNvGraphicFramePr/>
          <p:nvPr/>
        </p:nvGraphicFramePr>
        <p:xfrm>
          <a:off xmlns:a="http://schemas.openxmlformats.org/drawingml/2006/main" x="302952" y="1130530"/>
          <a:ext xmlns:a="http://schemas.openxmlformats.org/drawingml/2006/main" cx="11426308" cy="7315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/>
                <a:gridCol w="9643544"/>
              </a:tblGrid>
              <a:tr h="2369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chemeClr val="bg1"/>
                          </a:solidFill>
                        </a:rPr>
                        <a:t>핵심 기능1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야간관광 추천 코스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25" b="0">
                          <a:solidFill>
                            <a:srgbClr val="222222"/>
                          </a:solidFill>
                        </a:rPr>
                        <a:t>시간대별 추천 코스와 소요시간·거리·스팟 순서를 확인하고 코스를 시작합니다.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165d6009c6418a"/>
          <a:stretch xmlns:a="http://schemas.openxmlformats.org/drawingml/2006/main"/>
        </p:blipFill>
        <p:spPr>
          <a:xfrm xmlns:a="http://schemas.openxmlformats.org/drawingml/2006/main">
            <a:off x="5396530" y="2343150"/>
            <a:ext cx="122749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3" name="표 7"/>
          <p:cNvGraphicFramePr/>
          <p:nvPr/>
        </p:nvGraphicFramePr>
        <p:xfrm>
          <a:off xmlns:a="http://schemas.openxmlformats.org/drawingml/2006/main" x="302952" y="1933326"/>
          <a:ext xmlns:a="http://schemas.openxmlformats.org/drawingml/2006/main" cx="11426308" cy="460584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/>
                <a:gridCol w="2856577"/>
                <a:gridCol w="2856577"/>
                <a:gridCol w="2856577"/>
              </a:tblGrid>
              <a:tr h="327145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흐름도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</a:tr>
              <a:tr h="2806208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433874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+mn-lt"/>
                          <a:ea typeface="+mn-lt"/>
                          <a:cs typeface="+mn-lt"/>
                        </a:rPr>
                        <a:t>코스의 스팟에 도착해 체크한 뒤 완료 화면에서 결과를 확인한다.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표 14"/>
          <p:cNvGraphicFramePr/>
          <p:nvPr/>
        </p:nvGraphicFramePr>
        <p:xfrm>
          <a:off xmlns:a="http://schemas.openxmlformats.org/drawingml/2006/main" x="302952" y="1130530"/>
          <a:ext xmlns:a="http://schemas.openxmlformats.org/drawingml/2006/main" cx="11426308" cy="7315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/>
                <a:gridCol w="9643544"/>
              </a:tblGrid>
              <a:tr h="2369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chemeClr val="bg1"/>
                          </a:solidFill>
                        </a:rPr>
                        <a:t>핵심 기능2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도착 체크와 코스 완료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25" b="0">
                          <a:solidFill>
                            <a:srgbClr val="222222"/>
                          </a:solidFill>
                        </a:rPr>
                        <a:t>도착 체크 후 코스 완료 결과를 확인합니다. 자동 위치 판정은 앱 출시 빌드에서 최종 검증합니다.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619d160a37490b"/>
          <a:stretch xmlns:a="http://schemas.openxmlformats.org/drawingml/2006/main"/>
        </p:blipFill>
        <p:spPr>
          <a:xfrm xmlns:a="http://schemas.openxmlformats.org/drawingml/2006/main">
            <a:off x="5396530" y="2343150"/>
            <a:ext cx="122749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3" name="표 7"/>
          <p:cNvGraphicFramePr/>
          <p:nvPr/>
        </p:nvGraphicFramePr>
        <p:xfrm>
          <a:off xmlns:a="http://schemas.openxmlformats.org/drawingml/2006/main" x="302952" y="1933326"/>
          <a:ext xmlns:a="http://schemas.openxmlformats.org/drawingml/2006/main" cx="11426308" cy="460584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/>
                <a:gridCol w="2856577"/>
                <a:gridCol w="2856577"/>
                <a:gridCol w="2856577"/>
              </a:tblGrid>
              <a:tr h="327145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흐름도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</a:tr>
              <a:tr h="2806208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433874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+mn-lt"/>
                          <a:ea typeface="+mn-lt"/>
                          <a:cs typeface="+mn-lt"/>
                        </a:rPr>
                        <a:t>내 주변 탭에서 현재 위치 기준 관광지와 로컬 스팟을 탐색한다.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표 14"/>
          <p:cNvGraphicFramePr/>
          <p:nvPr/>
        </p:nvGraphicFramePr>
        <p:xfrm>
          <a:off xmlns:a="http://schemas.openxmlformats.org/drawingml/2006/main" x="302952" y="1130530"/>
          <a:ext xmlns:a="http://schemas.openxmlformats.org/drawingml/2006/main" cx="11426308" cy="7315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/>
                <a:gridCol w="9643544"/>
              </a:tblGrid>
              <a:tr h="2369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chemeClr val="bg1"/>
                          </a:solidFill>
                        </a:rPr>
                        <a:t>핵심 기능3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내 주변 관광지 탐색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25" b="0">
                          <a:solidFill>
                            <a:srgbClr val="222222"/>
                          </a:solidFill>
                        </a:rPr>
                        <a:t>현재 위치 기준 주변 관광지와 로컬 스팟을 지도·목록으로 탐색합니다.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99096301049d5"/>
          <a:stretch xmlns:a="http://schemas.openxmlformats.org/drawingml/2006/main"/>
        </p:blipFill>
        <p:spPr>
          <a:xfrm xmlns:a="http://schemas.openxmlformats.org/drawingml/2006/main">
            <a:off x="5410200" y="2343150"/>
            <a:ext cx="120015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3" name="표 7"/>
          <p:cNvGraphicFramePr/>
          <p:nvPr/>
        </p:nvGraphicFramePr>
        <p:xfrm>
          <a:off xmlns:a="http://schemas.openxmlformats.org/drawingml/2006/main" x="302952" y="1933326"/>
          <a:ext xmlns:a="http://schemas.openxmlformats.org/drawingml/2006/main" cx="11426308" cy="460584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/>
                <a:gridCol w="2856577"/>
                <a:gridCol w="2856577"/>
                <a:gridCol w="2856577"/>
              </a:tblGrid>
              <a:tr h="327145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흐름도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</a:tr>
              <a:tr h="2806208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433874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+mn-lt"/>
                          <a:ea typeface="+mn-lt"/>
                          <a:cs typeface="+mn-lt"/>
                        </a:rPr>
                        <a:t>찜 탭에서 저장한 코스·스팟을 확인하고 완료 결과를 공유한다.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표 14"/>
          <p:cNvGraphicFramePr/>
          <p:nvPr/>
        </p:nvGraphicFramePr>
        <p:xfrm>
          <a:off xmlns:a="http://schemas.openxmlformats.org/drawingml/2006/main" x="302952" y="1130530"/>
          <a:ext xmlns:a="http://schemas.openxmlformats.org/drawingml/2006/main" cx="11426308" cy="7315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/>
                <a:gridCol w="9643544"/>
              </a:tblGrid>
              <a:tr h="2369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chemeClr val="bg1"/>
                          </a:solidFill>
                        </a:rPr>
                        <a:t>핵심 기능4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찜·완료 기록 공유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25" b="0">
                          <a:solidFill>
                            <a:srgbClr val="222222"/>
                          </a:solidFill>
                        </a:rPr>
                        <a:t>찜한 코스와 스팟을 모아보고 코스 완료 결과를 이미지로 공유합니다. 앱 동기화는 출시 빌드에서 확인합니다.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d16516abd4ba3"/>
          <a:stretch xmlns:a="http://schemas.openxmlformats.org/drawingml/2006/main"/>
        </p:blipFill>
        <p:spPr>
          <a:xfrm xmlns:a="http://schemas.openxmlformats.org/drawingml/2006/main">
            <a:off x="5410200" y="2343150"/>
            <a:ext cx="1200150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3" name="표 7"/>
          <p:cNvGraphicFramePr/>
          <p:nvPr/>
        </p:nvGraphicFramePr>
        <p:xfrm>
          <a:off xmlns:a="http://schemas.openxmlformats.org/drawingml/2006/main" x="302952" y="1933326"/>
          <a:ext xmlns:a="http://schemas.openxmlformats.org/drawingml/2006/main" cx="11426308" cy="460584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6577"/>
                <a:gridCol w="2856577"/>
                <a:gridCol w="2856577"/>
                <a:gridCol w="2856577"/>
              </a:tblGrid>
              <a:tr h="327145">
                <a:tc gridSpan="4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solidFill>
                            <a:schemeClr val="bg1"/>
                          </a:solidFill>
                        </a:rPr>
                        <a:t>기능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 </a:t>
                      </a:r>
                      <a:r>
                        <a:rPr>
                          <a:solidFill>
                            <a:schemeClr val="bg1"/>
                          </a:solidFill>
                        </a:rPr>
                        <a:t>흐름도</a:t>
                      </a: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buNone/>
                      </a:pPr>
                      <a:endParaRPr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</a:tr>
              <a:tr h="2806208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800" b="0">
                          <a:solidFill>
                            <a:srgbClr val="FF0000"/>
                          </a:solidFill>
                          <a:latin typeface="+mn-lt"/>
                          <a:ea typeface="+mn-lt"/>
                          <a:cs typeface="+mn-lt"/>
                        </a:rPr>
                        <a:t/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433874"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  <a:latin typeface="+mn-lt"/>
                          <a:ea typeface="+mn-lt"/>
                          <a:cs typeface="+mn-lt"/>
                        </a:rPr>
                        <a:t>공개 웹에서 코스·장소·행사와 오늘 방문 예측을 미리 확인한다.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24" name="표 14"/>
          <p:cNvGraphicFramePr/>
          <p:nvPr/>
        </p:nvGraphicFramePr>
        <p:xfrm>
          <a:off xmlns:a="http://schemas.openxmlformats.org/drawingml/2006/main" x="302952" y="1130530"/>
          <a:ext xmlns:a="http://schemas.openxmlformats.org/drawingml/2006/main" cx="11426308" cy="73152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2764"/>
                <a:gridCol w="9643544"/>
              </a:tblGrid>
              <a:tr h="236913"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275" b="1">
                          <a:solidFill>
                            <a:schemeClr val="bg1"/>
                          </a:solidFill>
                        </a:rPr>
                        <a:t>핵심 기능5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>
                        <a:buNone/>
                      </a:pPr>
                      <a:r>
                        <a:rPr sz="1275" b="0">
                          <a:solidFill>
                            <a:srgbClr val="222222"/>
                          </a:solidFill>
                        </a:rPr>
                        <a:t>공개 웹·혼잡도 미리보기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3691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기능 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l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25" b="0">
                          <a:solidFill>
                            <a:srgbClr val="222222"/>
                          </a:solidFill>
                        </a:rPr>
                        <a:t>공개 웹에서 코스·장소·행사와 오늘 예측을 확인하고 운영 데이터 상태를 점검합니다.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7bf24619204c59"/>
          <a:stretch xmlns:a="http://schemas.openxmlformats.org/drawingml/2006/main"/>
        </p:blipFill>
        <p:spPr>
          <a:xfrm xmlns:a="http://schemas.openxmlformats.org/drawingml/2006/main">
            <a:off x="5394084" y="2343150"/>
            <a:ext cx="1232382" cy="2667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940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EE4D25C-ED4E-4AE1-9BEE-84886BD31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67" y="1101012"/>
            <a:ext cx="4770658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0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서비스 개발에 활용한 한국관광공사 </a:t>
            </a:r>
            <a:r>
              <a:rPr sz="1400" b="1">
                <a:solidFill>
                  <a:schemeClr val="bg1"/>
                </a:solidFill>
              </a:rPr>
              <a:t>OpenAPI </a:t>
            </a:r>
            <a:r>
              <a:rPr sz="1400" b="1">
                <a:solidFill>
                  <a:schemeClr val="bg1"/>
                </a:solidFill>
              </a:rPr>
              <a:t>리스트</a:t>
            </a:r>
            <a:endParaRPr sz="1400" b="1">
              <a:solidFill>
                <a:schemeClr val="bg1"/>
              </a:solidFill>
            </a:endParaRPr>
          </a:p>
        </p:txBody>
      </p:sp>
      <p:graphicFrame>
        <p:nvGraphicFramePr>
          <p:cNvPr id="6" name="표 6"/>
          <p:cNvGraphicFramePr/>
          <p:nvPr/>
        </p:nvGraphicFramePr>
        <p:xfrm>
          <a:off xmlns:a="http://schemas.openxmlformats.org/drawingml/2006/main" x="174566" y="1646098"/>
          <a:ext xmlns:a="http://schemas.openxmlformats.org/drawingml/2006/main" cx="11628657" cy="37896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/>
                <a:gridCol w="1816388"/>
                <a:gridCol w="8991119"/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API명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 b="0">
                          <a:solidFill>
                            <a:srgbClr val="222222"/>
                          </a:solidFill>
                        </a:rPr>
                        <a:t>국문 관광정보 서비스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75" b="0">
                          <a:solidFill>
                            <a:srgbClr val="222222"/>
                          </a:solidFill>
                        </a:rPr>
                        <a:t>areaBasedList2·detailCommon2·detailIntro2·detailImage2로 장소 목록·상세·운영정보·이미지를 수집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API명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just"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</a:rPr>
                        <a:t>행사정보 서비스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just">
                        <a:buNone/>
                      </a:pPr>
                      <a:r>
                        <a:rPr sz="975">
                          <a:solidFill>
                            <a:srgbClr val="222222"/>
                          </a:solidFill>
                        </a:rPr>
                        <a:t>searchFestival2로 수원 지역 행사·축제의 일정과 장소를 수집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API명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just"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</a:rPr>
                        <a:t>관광지 혼잡도·방문자 추이 예측 정보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2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just">
                        <a:buNone/>
                      </a:pPr>
                      <a:r>
                        <a:rPr sz="975">
                          <a:solidFill>
                            <a:srgbClr val="222222"/>
                          </a:solidFill>
                        </a:rPr>
                        <a:t>일 단위 예측을 공개 장소와 연결해 오늘 방문 판단을 돕습니다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4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API명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just"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</a:rPr>
                        <a:t>반려동물 동반여행 정보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2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just">
                        <a:buNone/>
                      </a:pPr>
                      <a:r>
                        <a:rPr sz="975">
                          <a:solidFill>
                            <a:srgbClr val="222222"/>
                          </a:solidFill>
                        </a:rPr>
                        <a:t>장소별 동반 가능 여부와 정책을 수집해 웹·관리자 데이터에 반영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5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API명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just"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</a:rPr>
                        <a:t>무장애 여행정보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just">
                        <a:buNone/>
                      </a:pPr>
                      <a:r>
                        <a:rPr sz="975">
                          <a:solidFill>
                            <a:srgbClr val="222222"/>
                          </a:solidFill>
                        </a:rPr>
                        <a:t>detailWithTour2로 접근성 정보를 수집해 웹 장소 상세와 관리자 검수에 연결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29470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Box 2">
            <a:extLst xmlns:a="http://schemas.openxmlformats.org/drawingml/2006/main">
              <a:ext uri="{FF2B5EF4-FFF2-40B4-BE49-F238E27FC236}">
                <a16:creationId xmlns:a16="http://schemas.microsoft.com/office/drawing/2014/main" id="{405F5A60-FEA1-4943-9AB4-80309C1B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67" y="1101012"/>
            <a:ext cx="3893580" cy="3077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F00"/>
          </a:solidFill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chemeClr val="bg1"/>
                </a:solidFill>
              </a:rPr>
              <a:t>서비스 개발에 활용한 기타 </a:t>
            </a:r>
            <a:r>
              <a:rPr sz="1400" b="1">
                <a:solidFill>
                  <a:schemeClr val="bg1"/>
                </a:solidFill>
              </a:rPr>
              <a:t>API, </a:t>
            </a:r>
            <a:r>
              <a:rPr sz="1400" b="1">
                <a:solidFill>
                  <a:schemeClr val="bg1"/>
                </a:solidFill>
              </a:rPr>
              <a:t>파일데이터</a:t>
            </a:r>
            <a:endParaRPr sz="1400" b="1">
              <a:solidFill>
                <a:schemeClr val="bg1"/>
              </a:solidFill>
            </a:endParaRPr>
          </a:p>
        </p:txBody>
      </p:sp>
      <p:graphicFrame>
        <p:nvGraphicFramePr>
          <p:cNvPr id="9" name="표 6"/>
          <p:cNvGraphicFramePr/>
          <p:nvPr/>
        </p:nvGraphicFramePr>
        <p:xfrm>
          <a:off xmlns:a="http://schemas.openxmlformats.org/drawingml/2006/main" x="174566" y="1646098"/>
          <a:ext xmlns:a="http://schemas.openxmlformats.org/drawingml/2006/main" cx="11628657" cy="226568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21150"/>
                <a:gridCol w="1816388"/>
                <a:gridCol w="8991119"/>
              </a:tblGrid>
              <a:tr h="37084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1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</a:rPr>
                        <a:t>오디(Odii) 관광지 오디오 해설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7084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75">
                          <a:solidFill>
                            <a:srgbClr val="222222"/>
                          </a:solidFill>
                        </a:rPr>
                        <a:t>장소별 오디오 스토리와 연결 정보를 웹·관리자 데이터에 반영합니다. 앱 노출은 친구가 개발 중입니다.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2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just"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</a:rPr>
                        <a:t>Supabase API·Postgres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pPr>
                        <a:buNone/>
                      </a:pPr>
                      <a:endParaRPr/>
                    </a:p>
                  </a:txBody>
                  <a:tcPr marL="91440" marR="91440" marT="45720" marB="45720"/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just">
                        <a:buNone/>
                      </a:pPr>
                      <a:r>
                        <a:rPr sz="975">
                          <a:solidFill>
                            <a:srgbClr val="222222"/>
                          </a:solidFill>
                        </a:rPr>
                        <a:t>장소·코스·행사·수집 상태를 저장하고 공개 웹과 관리자 콘솔에 제공합니다.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rowSpan="2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3200" b="1">
                          <a:solidFill>
                            <a:schemeClr val="tx1"/>
                          </a:solidFill>
                        </a:rPr>
                        <a:t>3</a:t>
                      </a:r>
                      <a:endParaRPr sz="3200" b="1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noFill/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데이터명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just">
                        <a:buNone/>
                      </a:pPr>
                      <a:r>
                        <a:rPr sz="1050">
                          <a:solidFill>
                            <a:srgbClr val="222222"/>
                          </a:solidFill>
                        </a:rPr>
                        <a:t>카카오맵 링크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381000">
                <a:tc vMerge="1">
                  <a:txBody>
                    <a:bodyPr/>
                    <a:lstStyle/>
                    <a:p>
                      <a:pPr algn="ctr">
                        <a:buNone/>
                      </a:pPr>
                      <a:endParaRPr sz="3200"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>
                        <a:buNone/>
                      </a:pPr>
                      <a:r>
                        <a:rPr sz="1050" b="1">
                          <a:solidFill>
                            <a:schemeClr val="bg1"/>
                          </a:solidFill>
                        </a:rPr>
                        <a:t>상세설명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A401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just">
                        <a:buNone/>
                      </a:pPr>
                      <a:r>
                        <a:rPr sz="975">
                          <a:solidFill>
                            <a:srgbClr val="222222"/>
                          </a:solidFill>
                        </a:rPr>
                        <a:t>장소·행사 상세의 주소와 좌표를 지도 위치 확인 링크로 연결합니다.</a:t>
                      </a:r>
                      <a:endParaRPr b="0">
                        <a:solidFill>
                          <a:schemeClr val="tx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735648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2" name="표 2"/>
          <p:cNvGraphicFramePr/>
          <p:nvPr/>
        </p:nvGraphicFramePr>
        <p:xfrm>
          <a:off xmlns:a="http://schemas.openxmlformats.org/drawingml/2006/main" x="287250" y="1218429"/>
          <a:ext xmlns:a="http://schemas.openxmlformats.org/drawingml/2006/main" cx="11649825" cy="5074306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5222"/>
                <a:gridCol w="9694603"/>
              </a:tblGrid>
              <a:tr h="2466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차별성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1125" b="0">
                          <a:solidFill>
                            <a:srgbClr val="222222"/>
                          </a:solidFill>
                          <a:latin typeface="+mn-lt"/>
                          <a:ea typeface="+mn-lt"/>
                          <a:cs typeface="+mn-lt"/>
                        </a:rPr>
                        <a:t>수원화성 야간관광에 정조 스토리와 미션형 코스를 결합하고, 한국관광공사 관광정보·행사·혼잡 예측·무장애·반려동물 데이터를 장소 단위로 연결합니다. 앱을 설치하기 전에도 공개 웹에서 코스·장소·행사·오늘 예측을 확인하고, 운영자는 관리자에서 수집 상태와 공개 여부를 검수할 수 있습니다.</a:t>
                      </a:r>
                      <a:endParaRPr sz="1800" b="0">
                        <a:solidFill>
                          <a:srgbClr val="FF0000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260823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b="1">
                          <a:solidFill>
                            <a:schemeClr val="bg1"/>
                          </a:solidFill>
                        </a:rPr>
                        <a:t>발전계획</a:t>
                      </a:r>
                      <a:endParaRPr b="1">
                        <a:solidFill>
                          <a:schemeClr val="bg1"/>
                        </a:solidFill>
                      </a:endParaRP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solidFill>
                      <a:srgbClr val="FF6F00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marL="0" marR="0" lvl="0" indent="0" algn="just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1125">
                          <a:solidFill>
                            <a:srgbClr val="222222"/>
                          </a:solidFill>
                          <a:latin typeface="+mn-lt"/>
                          <a:ea typeface="+mn-lt"/>
                          <a:cs typeface="+mn-lt"/>
                        </a:rPr>
                        <a:t>앱 출시 빌드에 웹 데이터 계약을 연결하고 무장애·오디오 노출을 확대합니다. 이후 지역 상점·체험처와 로컬패스·쿠폰 제휴를 검토하고, 이용 데이터로 개인화 코스와 수원 외 역사문화·야간관광 지역 확장을 추진합니다. 수익화는 제휴 수수료·지역 패스·선택형 광고를 검토하며 현재 기능과 구분해 단계적으로 적용합니다.</a:t>
                      </a:r>
                    </a:p>
                  </a:txBody>
                  <a:tcPr marL="91440" marR="91440" marT="45720" marB="45720" anchor="ctr">
                    <a:lnL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L>
                    <a:lnR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R>
                    <a:lnT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T>
                    <a:lnB w="12700" cmpd="sng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88568962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2026-09-19T08:23:10.1850000Z</dcterms:created>
  <dcterms:modified xsi:type="dcterms:W3CDTF">2026-09-19T08:23:10.1850000Z</dcterms:modified>
</coreProperties>
</file>